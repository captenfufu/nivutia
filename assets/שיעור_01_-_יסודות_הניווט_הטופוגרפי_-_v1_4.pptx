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</p:sldIdLst>
  <p:sldSz cy="6858000" cx="12192000"/>
  <p:notesSz cx="6858000" cy="9144000"/>
  <p:embeddedFontLst>
    <p:embeddedFont>
      <p:font typeface="Assistant"/>
      <p:regular r:id="rId64"/>
      <p:bold r:id="rId65"/>
    </p:embeddedFont>
    <p:embeddedFont>
      <p:font typeface="Heebo ExtraBold"/>
      <p:bold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font" Target="fonts/Assistant-regular.fntdata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font" Target="fonts/HeeboExtraBold-bold.fntdata"/><Relationship Id="rId21" Type="http://schemas.openxmlformats.org/officeDocument/2006/relationships/slide" Target="slides/slide17.xml"/><Relationship Id="rId65" Type="http://schemas.openxmlformats.org/officeDocument/2006/relationships/font" Target="fonts/Assistant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פתיחה אנרגטית — אנחנו יוצאים למסע. לא להקריא את הפסוק, לתת לו רגע לבד על המסך.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לוודא שכולם עם מחברות. עוד לא מחלקים מפות — שיקשיבו.</a:t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לעבור מהר — לא להקריא. מטרת העל היא המשפט החשוב: לקרוא מפה ולזהות צורות שטח.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להגיד לחניכים: בסוף השיעור תבחנו את עצמכם מול הרשימה הזאת.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לעבור על הציפיות ולשאול: מה אתם מצפים מהניווטים? לתת ל-2-3 חניכים לענות לפני שמציגים את שלנו.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להדגיש: מקצועיות זה לא ציון — זה לצאת לשטח ולדעת לחזור.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מפת דרכים של כל הקורס: מבוא (היום), פרקטיקה, בניית צירים. לחזור אליה בכל שיעור.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שקופית חדשה (מהמצגת המורחבת). להתחיל משאלה לכיתה: מה זה בעצם ניווט? לתת 2-3 תשובות ואז להציג את ההגדרה.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להדגיש את המילה 'בחשאיות' — ניווט צבאי הוא לא רק להגיע, אלא להגיע בלי להתגלות.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לקצין: ניווט הוא שפה משותפת, כלי לתכנון טקטי ודרך לשלוט בכוח בשטח.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קודם לתת לו שם!!!! בחור חמוד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לשאול את הכיתה באמת — לחכות לתשובות. הרבה יגידו GPS. לזרום עם זה רגע ואז: ומה כשאין סוללה?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w-IL"/>
              <a:t>הפאנץ': ממפות. מעבר מהיר.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להחזיק מפה אמיתית ביד ולהראות אותה בזמן שמדברים.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שאלה לכיתה: למה בכלל מפה אם יש וויז? לחדד: הבנת שטח מראש ותכנון — לא רק ניווט חי.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המשפט החשוב: מפה שווה כמה שיודעים לקרוא אותה — זה השיעור כולו.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שלוש הסיבות המרכזיות. לעבור כרטיס-כרטיס (כל לחיצה מעלה כרטיס).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הקטנה מבוקרת — זה קנה המידה, נחזור אליו ברשת ישראל.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ייצוג דו-ממדי — העולם תלת-ממדי, המפה שטוחה; קווי הגובה הם הגשר.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תכנון מוקדם — לומדים את השטח לפני שדורכים עליו.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לא כל מפה מתאימה לניווט. מפה פיזית יפה לעין, מפה נושאית עונה על שאלה אחת — רק המפה הטופוגרפית מציגה גבהים מדויקים בקווי גובה, ולכן היא הכלי המבצעי.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לשאול: איזו מפה תלויה אצלכם בכיתה בבית הספר? (בדרך כלל פיזית).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לעצור על המספרים בצירים: להראות עם האצבע איך קוראים קו אורך וקו רוחב.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טעות נפוצה: להתבלבל בין הרשת החדשה (כחול) לישנה (שחור). לתרגל: כל אחד אומר את שם המשבצת שהוא יושב בה.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קנה מידה — להדגים: ס״מ אחד כאן = 500 מטר רגליים שלכם.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המשך ישיר לרשת ישראל. כל נקודה במפה מוגדרת על ידי שני מספרים — אחד לכל ציר.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= קווי האורך (אנכיים), הערך עולה ככל שנעים מזרחה (ימינה במפה).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= קווי הרוחב (אופקיים), הערך עולה ככל שנעים צפונה (למעלה במפה).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טעות נפוצה: לחשוב ש'קו אורך' הוא קו ארוך לרוחב המפה — להראות עם היד: אורך = אנכי.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המשפט שחייב להיכנס לראש: ימינה ולמעלה. קודם X ואחר כך Y — תמיד.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דיוק: נ"צ 6 ספרות = רמת ה-100 מטר; נ"צ 8 ספרות = רמת ה-10 מטר.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שימו לב: קריאת נ"צ מעמיקה בשיעור הבא (מד"קו, נ.צ ואזימוטים) — כאן רק העיקרון.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תרגול 01 מהמצגת המורחבת. לתת לחניכים דקה לבד עם המפה.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התשובה: ימינה — הקו 13 ועוד 4 עשיריות משבצת = 134; למעלה — הקו 44 ועוד 7 עשיריות = 447. נ"צ: 134447.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לבקש מחניך להסביר בקול: קודם X, אחר כך Y, ואיך העריך את העשיריות.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אתגר קליל מהמצגת המורחבת — אותו עיקרון של X ו-Y, הפעם על כדור הארץ כולו.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לתת לכיתה לנחש לפני הלחיצה. התשובה: בערך 31.5° צפון ו-35° מזרח — על חוף הים התיכון, בצומת של אסיה, אפריקה ואירופה.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להקרין את קטע המפה ולתת לכל חניך לומר את שם המשבצת שלו.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טעות נפוצה: לקרוא רוחב לפני אורך. קודם מזרחה, אחר כך צפונה.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שקף מעבר — לנשום. מכאן מתחילים לדבר על הממד השלישי של המפה.</a:t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להדגים עם היד: גובה מוחלט מהים, יחסי בין שתי נקודות.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שאלה: פסגה בגובה 400 — זה גבוה או נמוך? תשובה: תלוי מאיפה מטפסים. הרגליים מרגישות יחסי, לא מוחלט.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העיקרון החשוב בשיעור: קו גובה = כל הנקודות באותו גובה.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להדגים עם כף היד קמוצה: הקמטים סביב פרקי האצבעות הם קווי הגובה.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לעצור על ׳ספרות פונות לעלייה׳ — נשתמש בזה בתרגולים.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ההמחשה: חותכים את ההר בפרוסות אופקיות בגבהים קבועים, ומשליכים כל חתך למטה על המפה — זה קו גובה.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המשפט החשוב: הולכים לאורך קו גובה — לא עולים ולא יורדים.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להדגים שוב עם האגרוף: כל 'קמט' סביב פרק אצבע הוא קו גובה.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רווח אנכי — המרחק האנכי בין שני קווים סמוכים. במפות 1:50,000 — 10 מטר.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קו מעובה (קו אינדקס) — קו מודגש עם רישום גובה, כדי שלא נצטרך לספור כל קו מאפס.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לבדוק תמיד במקרא את הרווח האנכי ואת תדירות הקווים המעובים.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 לבדיקת המדריך: במצגת המקורית נכתב 'כל קו חמישי', ובשקופית 'תבליט' נכתב 'כל 100 מטר' — לוודא מול המפה שבה משתמשים ולאחד.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שלושה חוקים שלא נשברים לעולם.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קווים לא נחתכים — נקודה לא יכולה להיות בשני גבהים (חריג: מצוק חופף, שבו קווים נוגעים/חופפים).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כל קו נסגר — אם לא בתוך גיליון המפה, אז מחוצה לו.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צפיפות = תלילות. זה החוק שנשתמש בו הכי הרבה בשטח — ובתרגול הבא.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להראות במפה אמיתית 2-3 נקודות גובה. להדגיש: הנקודה לא קיימת בשטח — אין שלט על הקרקע.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השלמה לשקופית הקודמת: איך נקודת גובה נראית במפה ומה עוד עוזר להתמצא.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נ"ג — מספר עם נקודה קטנה לצידו; הנקודה היא המיקום, המספר הוא הגובה המדויק.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שמות — הר מירון, גבעת הסלעים... עוזרים להתמצא מהר, אבל לא כל כיפה זוכה לשם.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תכסית = מה שמכסה. משחק מהיר: אומרים עצם (באר, מסגד, גשר) והחניכים מחפשים במקרא.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המפה בנויה משני רבדים. ההבחנה ביניהם היא הבסיס לכל מה שנלמד מכאן.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תבליט = השלד, לא משתנה בטווח זמן אנושי — לכן הוא העוגן האמין ביותר לנווט.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תכסית = מה שמונח על השלד, דינמית ומשתנה (יער נשרף, כביש נסלל) — אסור להסתמך רק עליה.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בהמשך: כל רובד בנפרד — קודם תבליט, אחר כך תכסית.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לעבור צבע-צבע עם דוגמה במפה. טעות נפוצה: לחשוב שכחול זה רק מים — גם רשת ישראל החדשה.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לעבור צבע-צבע עם דוגמה במפה. טעות נפוצה: לחשוב שכחול זה רק מים — גם רשת ישראל החדשה.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מפה לבנה = מה שמנווטים איתו בפועל. להעביר בין הידיים דוגמה אם יש.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תרגול 02 — קריאת תלילות לפי חוק 'צפיפות = תלילות'.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לשאול: באיזה אזור הייתם מובילים כוח רגלי עם ציוד? למה?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אזור א' — קווים צפופים עד חפיפה: מצוק, עבירות קשה עד בלתי אפשרית. אזור ב' — קווים מרווחים: מישור מתון, תנועה מהירה.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סיכום ביניים — לשאול את הכיתה לפני שמראים: מה למדנו עד עכשיו? לתת להם למלא את הרשימה.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מעבר לצורות שטח — החלק החשוב של השיעור. מכאן והלאה הכל על התרשימים.</a:t>
            </a:r>
            <a:endParaRPr/>
          </a:p>
        </p:txBody>
      </p:sp>
      <p:sp>
        <p:nvSpPr>
          <p:cNvPr id="334" name="Google Shape;33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לפתוח את פרק צורות השטח מול נוף אמיתי, לא מול סכמה.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לתת לחניכים לזהות בתמונה: כמה כיפות אתם רואים? איפה האוכף ביניהן?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להצביע על המדרונות המדורגים — ולשאול: קעור או קמור?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המשפט לסיום: כל מה שנראה עכשיו במפה, אתם כבר ראיתם כאן בעיניים.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התרשים: כיפה עם שתי טבעות סגורות ונקודת גובה 273.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להראות: מכל כיוון שיוצאים — יורדים (חצים אדומים).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כלל הצבעים מהיום: כחול = עלייה, אדום = ירידה. לחזור עליו בכל שקופית.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להשוות מול הסכמה בשקופית הקודמת: אותן טבעות סגורות.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לתת לחניכים לחפש עוד כיפה בעצמם — יש כמה. ולשים לב: 949 לידה היא דווקא כיפה סמויה (אין לה קו סגור).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רכס = שרשרת של כיפות המחוברות באוכפים. הקו המקווקו האדום הוא קו הרכס.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היתרון: תנועה לאורך הרכס שומרת על גובה ולא מחייבת לרדת ולעלות שוב ושוב.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החיסרון הטקטי: מי שהולך על קו הרכס מתבלט על רקע השמיים (צללית) — נראה מכל העמק. לכן נעים מעט מתחת לקו הרכס.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לזהות יחד: החץ הכחול עולה על ציר השלוחה אל הפסגה, שלושה אדומים יורדים.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טעות נפוצה: לחשוב שכל בליטה בקו היא שלוחה — להראות שהשלוחה נמשכת לאורך כמה קווי גובה.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לשים לב לקודקודי ה-V: מצביעים הרחק מהפסגה.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ההיפוך של שלוחה: קודקוד ה-V מצביע אל הפסגה (במעלה).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שאלה: לאן זורמים המים בגיא? במורד — אל הנחל. כל הגאיות מתנקזים.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שלוש עליות, ירידה אחת — להראות עם החצים.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ההבחנה בשטח אמיתי: הנחל האכזב תמיד בקרקעית הגיא.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לשאול: איפה עוד גיא? (בכל מקום שיש נחל אכזב). ואיפה שלוחה? (הרכס שביניהם).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להזכיר: מים תמיד זורמים במורד — זה מה שמסמן את הגיא.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שקופית חזרה על אותו קטע — עכשיו החניכים מזהים לבד.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לכסות את התוויות ולשאול: מה זה? למה?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שקופית ההשוואה. לתת לחניכים לנסח את ההבדל במילים שלהם לפני שמסכמים: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שלוחה — V מתרחק מהפסגה; גיא — V מצביע אליה; גיא תמיד בין שתי שלוחות.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הכלי הכי שימושי להבדיל בין שלוחה לגיא במפה.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שלוחה — הקווים מעוגלים (U) ומצביעים החוצה מההר, אל כיוון הירידה. מנקודה על השלוחה: עלייה אחת (כחול), שלוש ירידות (אדום).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גיא — הקווים מחודדים (V) ומצביעים פנימה, אל הפסגה. בתחתית הגיא: שלוש עליות, ירידה אחת — במורד הנחל.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בשני התרשימים הפסגה נמצאת למעלה.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דגם התבליט של גבעת התחמושת — ההמחשה הכי טובה שיש למעבר מהמפה לשטח.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לתת לכיתה לזהות בדגם: איפה הכיפה? איפה שלוחה? איפה גיא?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להצביע על שכבה אחת ולהסביר: זה קו גובה. עכשיו תסתכלו עליו מלמעלה — זו המפה.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מי שהיה בגבעת התחמושת — שיספר. זה מקבע את המושג.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אוכף = שעון חול בין שתי כיפות. שני כחולים אל הכיפות, שני אדומים אל הגאיות.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להדגים עם שתי אגרופים והשקע ביניהם.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המשפט שיציל אותם בשטח: משני צידי אוכף תמיד יש כיפה — גם אם לא מסומנת.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להראות: אוכף = מעבר נמוך בין שני גבהים.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לחבר לשקופית הבאה: שני האוכפים האלה הם מה שמסמן את הכיפה הסמויה ביניהם.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השקופית הקשה של השיעור — להאט.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למעלה המפה: בין שני האוכפים אין אף קו סגור. למטה החתך: הכיפה הסמויה (258.5) לא מגיעה לקו ה-260.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לכן אין לה טבעת — היא ׳בולעת׳ בין קווי הגובה. מזהים אותה לפי האוכפים משני הצדדים.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השוואה ישירה: 967 יש לה קו גובה סגור (כיפה); 949 אין לה (כיפה סמויה) — למרות ששתיהן נקודות גובה.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הטבעת המקווקוות מסמנת בדיוק את זה: הכיפה קיימת, אבל אין סביבה קו סגור.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זה בדיוק המבנה מהסכמה — עכשיו בשטח אמיתי מגוש עציון.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סיכום טקטי של כל צורות השטח (מהמצגת המורחבת). כל צורה במפה = החלטה בשטח.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כיפה — שליטה ותצפית. רכס — גובה רציף אבל צללית. אוכף — המעבר הטבעי. שלוחה — ציר תנועה מועדף. גיא — מסתור, אבל קשה לתנועה.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כיפה סמויה — הסכנה: בלילה סופרים כיפות לפי המפה, והכיפה הסמויה 'מוסיפה' כיפה שלא ספרנו.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מעבר למדרונות — קצר.</a:t>
            </a:r>
            <a:endParaRPr/>
          </a:p>
        </p:txBody>
      </p:sp>
      <p:sp>
        <p:nvSpPr>
          <p:cNvPr id="504" name="Google Shape;504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תרגול 03 — איתור צורות שטח. לחלק לזוגות, דקה לכל זוג.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הכיפות: הטבעות הפנימיות הסגורות ביותר (מסומנות בכחול בפתרון). האוכף: האזור הצר והנמוך ביניהן — צורת ה-8 (X אדום).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לחבר לכלל: משני צידי אוכף תמיד יש כיפה.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מעבר למדרונות — קצר.</a:t>
            </a:r>
            <a:endParaRPr/>
          </a:p>
        </p:txBody>
      </p:sp>
      <p:sp>
        <p:nvSpPr>
          <p:cNvPr id="526" name="Google Shape;526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ארבעת הגרפים: מתון/תלול (קצוב) וקעור/קמור (משתנה).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לשים לב לפסים החומים מתחת לכל גרף — אלה קווי הגובה כפי שיוטלו על המפה. זה הגשר בין החתך למפה.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קצוב = מרווחים אחידים. מתון מרווח, תלול צפוף. פשוט.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משתנה = המרווחים משתנים. מכאן שתי המשפחות: קעור וקמור.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ההרחבה הטקטית של קעור/קמור.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קעור — תלול למעלה, מתון למטה. מהפסגה רואים את כל המדרון: אין שטח נסתר. מעולה לתצפית ולהגנה.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קמור — מתון למעלה, תלול למטה. מהפסגה לא רואים את תחתית המדרון — 'שטח מת' (מסומן באדום). אויב יכול להתקרב בלי להיראות, ואנחנו יכולים לנצל את זה בתנועה.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כתף: הפוגה בתוך מדרון. קבוצת קווים מרווחת בין שתי צפופות.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לא כיפה — אין ירידה לכל הכיוונים, ההמשך למעלה עולה.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ההבחנה: כיפה סמויה — אוכף משני הצדדים (יורדים ועולים). כתף — באמצע מדרון (ממשיכים לעלות).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להשוות את שני החתכים בתחתית התרשים.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פרק בונוס מהמצגת המורחבת: כלים מתקדמים שכל מפקד צריך להכיר — טריג, תצ"א ואורטופוטו, ומפת שליטה וקוד.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טריג = נקודה שנמדדה בדיוק הגבוה ביותר. ממנה מודדים את כל השאר.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במפה: משולש עם נקודה במרכזו ולידו הגובה המדויק.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בשטח: עמוד בטון בולט — בדרך כלל על פסגות שולטות. אם הגעתם לטריג — אתם יודעים בדיוק איפה אתם. נקודת איפוס מצוינת בניווט.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תצ"א (תצלום אוויר) מראה את השטח כפי שהוא היום — אבל המצלמה רואה בזווית, ולכן המרחקים מעוותים.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אורטופוטו = אותו תצלום אחרי יישור דיגיטלי. משלב את העדכניות של תמונה עם הדיוק של מפה — אפשר למדוד מרחקים ולהוציא נ"צ.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מפת שליטה = מפה רגילה + שכבת מידע טקטית למבצע: גזרות, צירים ויעדים עם שמות קוד.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הדוגמה: גבול גזרה (קו שחור), 'ציר ברבור' (כחול), 'יעד כפפה' (אדום).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התכלית: בקשר אומרים 'אני מגיע ליעד כפפה' — כולם בכוח מבינים, והאויב שמאזין לא מקבל נ"צ.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סיכום — לתת לכיתה לשחזר לפני שמראים. מה שלא זוכרים — לחזור אליו.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המשפט לסיום מהמצגת המורחבת. להקריא לאט, ולתת לו לשקוע.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לחבר לכל השיעור: תבליט, צורות שטח, מדרונות — הכל משרת שאלה אחת: האם הכוח יגיע ליעד בבטחה, בהיחבא ובכשירות מלאה.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הטעיה קטנה — כאילו סוף.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צחוק קצר — וממשיכים.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ההפתעה: יש אתר.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להקרין את האתר חי אם אפשר. לתת לכולם להיכנס עכשיו מהטלפון ולשמור.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להראות את הסימולציה של קווי הגובה ואת תרגולי הדקירה.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סיום. תזכורת: שיעור הבא — מד״קו, נ.צ. ואזימוטים. מי שרוצה להתקדם — הניווטיה.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פתיחה לשאלות. מי שלא שאל — לשאול אותו: מה הדבר אחד שהכי הפתיע אתכם היום?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ראשית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מימין">
  <p:cSld name="תוכן מימין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 amt="78000"/>
          </a:blip>
          <a:srcRect b="0" l="0" r="0" t="0"/>
          <a:stretch/>
        </p:blipFill>
        <p:spPr>
          <a:xfrm>
            <a:off x="83326" y="1915629"/>
            <a:ext cx="3791250" cy="37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>
  <p:cSld name="כותרת ותוכן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פרק מימין">
  <p:cSld name="כותרת פרק מימין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/>
          <p:nvPr>
            <p:ph type="ctrTitle"/>
          </p:nvPr>
        </p:nvSpPr>
        <p:spPr>
          <a:xfrm>
            <a:off x="4885188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b="1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4885188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491588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פרק משמאל">
  <p:cSld name="כותרת פרק משמאל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>
            <p:ph type="ctrTitle"/>
          </p:nvPr>
        </p:nvSpPr>
        <p:spPr>
          <a:xfrm>
            <a:off x="266699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b="1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266699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משמאל">
  <p:cSld name="תוכן משמאל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53996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4" name="Google Shape;44;p7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6.xml"/><Relationship Id="rId9" Type="http://schemas.openxmlformats.org/officeDocument/2006/relationships/slideLayout" Target="../slideLayouts/slideLayout5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 amt="25000"/>
          </a:blip>
          <a:srcRect b="0" l="0" r="0" t="0"/>
          <a:stretch/>
        </p:blipFill>
        <p:spPr>
          <a:xfrm>
            <a:off x="3519241" y="1108898"/>
            <a:ext cx="5167838" cy="46402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" y="-43772"/>
            <a:ext cx="12206318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" y="6336640"/>
            <a:ext cx="12191999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w-IL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						</a:t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 i="0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2800"/>
              <a:buFont typeface="Helvetica Neue"/>
              <a:buChar char="◊"/>
              <a:defRPr b="0" i="0" sz="2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2286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/>
        </p:nvSpPr>
        <p:spPr>
          <a:xfrm>
            <a:off x="5769962" y="76300"/>
            <a:ext cx="666396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w-IL" sz="10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בלמ"ס -</a:t>
            </a:r>
            <a:endParaRPr b="0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8610600" y="-29094"/>
            <a:ext cx="3342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"ממפה תראו וכך תנווטו" (לא משופטים ז', י"ז)</a:t>
            </a:r>
            <a:endParaRPr b="0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11569946" y="35961"/>
            <a:ext cx="420225" cy="59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120" y="166354"/>
            <a:ext cx="807777" cy="807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עיגול, צבעוני&#10;&#10;התיאור נוצר באופן אוטומטי" id="15" name="Google Shape;1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897" y="148645"/>
            <a:ext cx="1143356" cy="84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/>
        </p:nvSpPr>
        <p:spPr>
          <a:xfrm>
            <a:off x="442486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קורס קציני סייבר</a:t>
            </a:r>
            <a:endParaRPr b="1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01152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- בלמ״ס -</a:t>
            </a:r>
            <a:endParaRPr b="1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-228014" y="6336640"/>
            <a:ext cx="2132428" cy="420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‹#›</a:t>
            </a:fld>
            <a:endParaRPr b="1" i="0" sz="1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Relationship Id="rId7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35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41.png"/><Relationship Id="rId5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5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jp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43.png"/><Relationship Id="rId5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57.png"/><Relationship Id="rId10" Type="http://schemas.openxmlformats.org/officeDocument/2006/relationships/image" Target="../media/image10.png"/><Relationship Id="rId9" Type="http://schemas.openxmlformats.org/officeDocument/2006/relationships/image" Target="../media/image54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Relationship Id="rId7" Type="http://schemas.openxmlformats.org/officeDocument/2006/relationships/image" Target="../media/image52.png"/><Relationship Id="rId8" Type="http://schemas.openxmlformats.org/officeDocument/2006/relationships/image" Target="../media/image6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Relationship Id="rId6" Type="http://schemas.openxmlformats.org/officeDocument/2006/relationships/image" Target="../media/image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1.png"/><Relationship Id="rId6" Type="http://schemas.openxmlformats.org/officeDocument/2006/relationships/image" Target="../media/image56.png"/><Relationship Id="rId7" Type="http://schemas.openxmlformats.org/officeDocument/2006/relationships/image" Target="../media/image6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.png"/><Relationship Id="rId4" Type="http://schemas.openxmlformats.org/officeDocument/2006/relationships/image" Target="../media/image61.png"/><Relationship Id="rId5" Type="http://schemas.openxmlformats.org/officeDocument/2006/relationships/image" Target="../media/image65.png"/><Relationship Id="rId6" Type="http://schemas.openxmlformats.org/officeDocument/2006/relationships/image" Target="../media/image1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.png"/><Relationship Id="rId4" Type="http://schemas.openxmlformats.org/officeDocument/2006/relationships/image" Target="../media/image59.png"/><Relationship Id="rId5" Type="http://schemas.openxmlformats.org/officeDocument/2006/relationships/image" Target="../media/image56.png"/><Relationship Id="rId6" Type="http://schemas.openxmlformats.org/officeDocument/2006/relationships/image" Target="../media/image1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.png"/><Relationship Id="rId4" Type="http://schemas.openxmlformats.org/officeDocument/2006/relationships/image" Target="../media/image64.png"/><Relationship Id="rId5" Type="http://schemas.openxmlformats.org/officeDocument/2006/relationships/image" Target="../media/image1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hyperlink" Target="https://regaj.github.io/nivutia" TargetMode="External"/><Relationship Id="rId6" Type="http://schemas.openxmlformats.org/officeDocument/2006/relationships/image" Target="../media/image6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67843"/>
          </a:schemeClr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ctrTitle"/>
          </p:nvPr>
        </p:nvSpPr>
        <p:spPr>
          <a:xfrm>
            <a:off x="1524000" y="3049130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324"/>
              <a:buFont typeface="Assistant"/>
              <a:buNone/>
            </a:pPr>
            <a:r>
              <a:rPr lang="iw-IL" sz="7300">
                <a:latin typeface="Assistant"/>
                <a:ea typeface="Assistant"/>
                <a:cs typeface="Assistant"/>
                <a:sym typeface="Assistant"/>
              </a:rPr>
              <a:t>מבוא לניווטים</a:t>
            </a:r>
            <a:br>
              <a:rPr lang="iw-IL" sz="4800">
                <a:latin typeface="Assistant"/>
                <a:ea typeface="Assistant"/>
                <a:cs typeface="Assistant"/>
                <a:sym typeface="Assistant"/>
              </a:rPr>
            </a:br>
            <a:r>
              <a:rPr b="0" lang="iw-IL" sz="2200">
                <a:latin typeface="Assistant"/>
                <a:ea typeface="Assistant"/>
                <a:cs typeface="Assistant"/>
                <a:sym typeface="Assistant"/>
              </a:rPr>
              <a:t>״</a:t>
            </a:r>
            <a:r>
              <a:rPr b="0" lang="iw-IL" sz="2400">
                <a:latin typeface="Assistant"/>
                <a:ea typeface="Assistant"/>
                <a:cs typeface="Assistant"/>
                <a:sym typeface="Assistant"/>
              </a:rPr>
              <a:t>לך-לך מארצך וממולדתך ומבית אביך אל-הארץ אשר אראך</a:t>
            </a:r>
            <a:r>
              <a:rPr b="0" lang="iw-IL" sz="2200">
                <a:latin typeface="Assistant"/>
                <a:ea typeface="Assistant"/>
                <a:cs typeface="Assistant"/>
                <a:sym typeface="Assistant"/>
              </a:rPr>
              <a:t>״</a:t>
            </a:r>
            <a:endParaRPr b="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0" name="Google Shape;50;p8"/>
          <p:cNvSpPr txBox="1"/>
          <p:nvPr/>
        </p:nvSpPr>
        <p:spPr>
          <a:xfrm>
            <a:off x="1527048" y="43434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8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שיעור 01 · יסודות הניווט הטופוגרפי — קריאת מפה, הבנת השטח וניתוח צורות תבליט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מטרות השיעור</a:t>
            </a:r>
            <a:endParaRPr/>
          </a:p>
        </p:txBody>
      </p:sp>
      <p:grpSp>
        <p:nvGrpSpPr>
          <p:cNvPr id="56" name="Google Shape;56;p9"/>
          <p:cNvGrpSpPr/>
          <p:nvPr/>
        </p:nvGrpSpPr>
        <p:grpSpPr>
          <a:xfrm>
            <a:off x="1245184" y="1534890"/>
            <a:ext cx="10108615" cy="4407673"/>
            <a:chOff x="0" y="48989"/>
            <a:chExt cx="10108615" cy="4407673"/>
          </a:xfrm>
        </p:grpSpPr>
        <p:sp>
          <p:nvSpPr>
            <p:cNvPr id="57" name="Google Shape;57;p9"/>
            <p:cNvSpPr/>
            <p:nvPr/>
          </p:nvSpPr>
          <p:spPr>
            <a:xfrm>
              <a:off x="0" y="48989"/>
              <a:ext cx="10108615" cy="1010880"/>
            </a:xfrm>
            <a:prstGeom prst="roundRect">
              <a:avLst>
                <a:gd fmla="val 16667" name="adj"/>
              </a:avLst>
            </a:prstGeom>
            <a:solidFill>
              <a:srgbClr val="166020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 txBox="1"/>
            <p:nvPr/>
          </p:nvSpPr>
          <p:spPr>
            <a:xfrm>
              <a:off x="49347" y="98336"/>
              <a:ext cx="10009921" cy="912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iw-IL" sz="2800" u="none" cap="none" strike="noStrike">
                  <a:solidFill>
                    <a:schemeClr val="lt1"/>
                  </a:solidFill>
                  <a:latin typeface="Heebo ExtraBold"/>
                  <a:ea typeface="Heebo ExtraBold"/>
                  <a:cs typeface="Heebo ExtraBold"/>
                  <a:sym typeface="Heebo ExtraBold"/>
                </a:rPr>
                <a:t>מטרת העל</a:t>
              </a:r>
              <a:endParaRPr b="1" i="0" sz="2800" u="none" cap="none" strike="noStrike">
                <a:solidFill>
                  <a:schemeClr val="lt1"/>
                </a:solidFill>
                <a:latin typeface="Heebo ExtraBold"/>
                <a:ea typeface="Heebo ExtraBold"/>
                <a:cs typeface="Heebo ExtraBold"/>
                <a:sym typeface="Heebo ExtraBold"/>
              </a:endParaRPr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0" y="1026237"/>
              <a:ext cx="10108615" cy="894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 txBox="1"/>
            <p:nvPr/>
          </p:nvSpPr>
          <p:spPr>
            <a:xfrm>
              <a:off x="0" y="1026237"/>
              <a:ext cx="10108615" cy="894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320925" spcFirstLastPara="1" rIns="142225" wrap="square" tIns="25400">
              <a:noAutofit/>
            </a:bodyPr>
            <a:lstStyle/>
            <a:p>
              <a:pPr indent="-342900" lvl="1" marL="457200" marR="0" rtl="1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יקרא מפה טופוגרפית 1:50,000 ויזהה בה את צורות השטח המרכזיות</a:t>
              </a:r>
              <a:endParaRPr b="0" i="0" sz="20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>
              <a:off x="0" y="1795073"/>
              <a:ext cx="10108615" cy="1010880"/>
            </a:xfrm>
            <a:prstGeom prst="roundRect">
              <a:avLst>
                <a:gd fmla="val 16667" name="adj"/>
              </a:avLst>
            </a:prstGeom>
            <a:solidFill>
              <a:srgbClr val="96A896"/>
            </a:solidFill>
            <a:ln>
              <a:noFill/>
            </a:ln>
            <a:effectLst>
              <a:outerShdw blurRad="50800" rotWithShape="0" algn="t" dir="54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9"/>
            <p:cNvSpPr txBox="1"/>
            <p:nvPr/>
          </p:nvSpPr>
          <p:spPr>
            <a:xfrm>
              <a:off x="49347" y="1844420"/>
              <a:ext cx="10009921" cy="912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1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iw-IL" sz="2800" u="none" cap="none" strike="noStrike">
                  <a:solidFill>
                    <a:schemeClr val="lt1"/>
                  </a:solidFill>
                  <a:latin typeface="Heebo ExtraBold"/>
                  <a:ea typeface="Heebo ExtraBold"/>
                  <a:cs typeface="Heebo ExtraBold"/>
                  <a:sym typeface="Heebo ExtraBold"/>
                </a:rPr>
                <a:t>מטרות ביניים</a:t>
              </a:r>
              <a:endParaRPr b="1" i="0" sz="2800" u="none" cap="none" strike="noStrike">
                <a:solidFill>
                  <a:schemeClr val="lt1"/>
                </a:solidFill>
                <a:latin typeface="Heebo ExtraBold"/>
                <a:ea typeface="Heebo ExtraBold"/>
                <a:cs typeface="Heebo ExtraBold"/>
                <a:sym typeface="Heebo ExtraBold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0" y="2807908"/>
              <a:ext cx="10108615" cy="1648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9"/>
            <p:cNvSpPr txBox="1"/>
            <p:nvPr/>
          </p:nvSpPr>
          <p:spPr>
            <a:xfrm>
              <a:off x="0" y="2807908"/>
              <a:ext cx="10108615" cy="1648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320925" spcFirstLastPara="1" rIns="142225" wrap="square" tIns="25400">
              <a:noAutofit/>
            </a:bodyPr>
            <a:lstStyle/>
            <a:p>
              <a:pPr indent="-342900" lvl="1" marL="457200" marR="0" rtl="1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יבין מהי מפה לבנה ומה מרכיביה: רשת, תבליט ותכסית</a:t>
              </a:r>
              <a:endParaRPr b="0" i="0" sz="20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indent="-342900" lvl="1" marL="457200" marR="0" rtl="1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יבחין בין גבהים ויזהה במפה כיפה, שלוחה, גיא, אוכף וכיפה סמויה</a:t>
              </a:r>
              <a:endParaRPr/>
            </a:p>
            <a:p>
              <a:pPr indent="-342900" lvl="1" marL="457200" marR="0" rtl="1" algn="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AAD3AF"/>
                </a:buClr>
                <a:buSzPts val="1800"/>
                <a:buFont typeface="Helvetica Neue"/>
                <a:buChar char="◊"/>
              </a:pPr>
              <a:r>
                <a:rPr b="0" i="0" lang="iw-IL" sz="2000" u="none" cap="none" strike="noStrike">
                  <a:solidFill>
                    <a:srgbClr val="000000"/>
                  </a:solidFill>
                  <a:latin typeface="Assistant"/>
                  <a:ea typeface="Assistant"/>
                  <a:cs typeface="Assistant"/>
                  <a:sym typeface="Assistant"/>
                </a:rPr>
                <a:t>הצוער יסווג מדרונות לפי צפיפות קווי הגובה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iw-IL"/>
              <a:t>ציפיות לקראת הניווטים</a:t>
            </a:r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242888" y="2907506"/>
            <a:ext cx="3414712" cy="1042987"/>
          </a:xfrm>
          <a:prstGeom prst="roundRect">
            <a:avLst>
              <a:gd fmla="val 16667" name="adj"/>
            </a:avLst>
          </a:prstGeom>
          <a:solidFill>
            <a:srgbClr val="C8D8BD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0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מקצועיות</a:t>
            </a:r>
            <a:endParaRPr b="1" i="0" sz="4000" u="none" cap="none" strike="noStrike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4388644" y="2907505"/>
            <a:ext cx="3414712" cy="1042987"/>
          </a:xfrm>
          <a:prstGeom prst="roundRect">
            <a:avLst>
              <a:gd fmla="val 16667" name="adj"/>
            </a:avLst>
          </a:prstGeom>
          <a:solidFill>
            <a:srgbClr val="C8D8BD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0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משמעות</a:t>
            </a:r>
            <a:endParaRPr b="1" i="0" sz="4000" u="none" cap="none" strike="noStrike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8534400" y="2907504"/>
            <a:ext cx="3414712" cy="1042987"/>
          </a:xfrm>
          <a:prstGeom prst="roundRect">
            <a:avLst>
              <a:gd fmla="val 16667" name="adj"/>
            </a:avLst>
          </a:prstGeom>
          <a:solidFill>
            <a:srgbClr val="C8D8BD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0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rPr>
              <a:t>גיבוש והנאה</a:t>
            </a:r>
            <a:endParaRPr b="1" i="0" sz="4000" u="none" cap="none" strike="noStrike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מה מצפה לנו?</a:t>
            </a:r>
            <a:endParaRPr b="1" i="0" sz="4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Story pin image" id="78" name="Google Shape;78;p11"/>
          <p:cNvPicPr preferRelativeResize="0"/>
          <p:nvPr/>
        </p:nvPicPr>
        <p:blipFill rotWithShape="1">
          <a:blip r:embed="rId3">
            <a:alphaModFix/>
          </a:blip>
          <a:srcRect b="21148" l="0" r="0" t="21885"/>
          <a:stretch/>
        </p:blipFill>
        <p:spPr>
          <a:xfrm>
            <a:off x="303213" y="1895410"/>
            <a:ext cx="5974410" cy="340346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/>
          <p:nvPr/>
        </p:nvSpPr>
        <p:spPr>
          <a:xfrm>
            <a:off x="5861138" y="1690825"/>
            <a:ext cx="4603750" cy="3220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מבוא</a:t>
            </a:r>
            <a:endParaRPr/>
          </a:p>
          <a:p>
            <a:pPr indent="0" lvl="0" marL="0" marR="0" rtl="1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פרקטיקה</a:t>
            </a:r>
            <a:endParaRPr/>
          </a:p>
          <a:p>
            <a:pPr indent="0" lvl="0" marL="0" marR="0" rtl="1" algn="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מדריך לבניית צירים וסיפור דרך</a:t>
            </a:r>
            <a:endParaRPr b="0" i="0" sz="2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Red Location, Map Pin Icon PNG Transparent Background, Free Download #4226  - FreeIconsPNG" id="80" name="Google Shape;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4888" y="1854199"/>
            <a:ext cx="751605" cy="881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 Location, Map Pin Icon PNG Transparent Background, Free Download #4226  - FreeIconsPNG" id="81" name="Google Shape;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4887" y="2988058"/>
            <a:ext cx="751605" cy="881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d Location, Map Pin Icon PNG Transparent Background, Free Download #4226  - FreeIconsPNG" id="82" name="Google Shape;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4888" y="4121917"/>
            <a:ext cx="751605" cy="88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מהו ניווט?</a:t>
            </a:r>
            <a:endParaRPr/>
          </a:p>
        </p:txBody>
      </p:sp>
      <p:pic>
        <p:nvPicPr>
          <p:cNvPr descr="compass.png" id="89" name="Google Shape;8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453" y="1783080"/>
            <a:ext cx="3197093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2"/>
          <p:cNvSpPr/>
          <p:nvPr/>
        </p:nvSpPr>
        <p:spPr>
          <a:xfrm>
            <a:off x="4480560" y="1874519"/>
            <a:ext cx="6858000" cy="1325880"/>
          </a:xfrm>
          <a:prstGeom prst="roundRect">
            <a:avLst>
              <a:gd fmla="val 8275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74300" spcFirstLastPara="1" rIns="27430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היכולת להתמצא במרחב ולהגיע ליעד </a:t>
            </a:r>
            <a:r>
              <a:rPr b="1" i="0" lang="iw-IL" sz="2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ביעילות ובחשאיות</a:t>
            </a:r>
            <a:r>
              <a:rPr b="0" i="0" lang="iw-IL" sz="2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/>
          </a:p>
        </p:txBody>
      </p:sp>
      <p:sp>
        <p:nvSpPr>
          <p:cNvPr id="91" name="Google Shape;91;p12"/>
          <p:cNvSpPr txBox="1"/>
          <p:nvPr/>
        </p:nvSpPr>
        <p:spPr>
          <a:xfrm>
            <a:off x="4480560" y="3520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עבור הקצין, ניווט הוא:</a:t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9098280" y="4069080"/>
            <a:ext cx="2240280" cy="77724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שפה</a:t>
            </a:r>
            <a:endParaRPr/>
          </a:p>
        </p:txBody>
      </p:sp>
      <p:sp>
        <p:nvSpPr>
          <p:cNvPr id="93" name="Google Shape;93;p12"/>
          <p:cNvSpPr/>
          <p:nvPr/>
        </p:nvSpPr>
        <p:spPr>
          <a:xfrm>
            <a:off x="6629400" y="4069080"/>
            <a:ext cx="2240280" cy="77724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תכנון טקטי</a:t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4160520" y="4069080"/>
            <a:ext cx="2240280" cy="77724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שליטה בכוח</a:t>
            </a:r>
            <a:endParaRPr/>
          </a:p>
        </p:txBody>
      </p:sp>
      <p:pic>
        <p:nvPicPr>
          <p:cNvPr id="95" name="Google Shape;95;p12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7909560" y="551383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/>
        </p:nvSpPr>
        <p:spPr>
          <a:xfrm>
            <a:off x="-52578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מאיפה מתחילים?</a:t>
            </a:r>
            <a:endParaRPr b="1" i="0" sz="44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1" name="Google Shape;1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125095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/>
        </p:nvSpPr>
        <p:spPr>
          <a:xfrm>
            <a:off x="704843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b="1" i="0" lang="iw-IL" sz="4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מאיפה מתחילים?	</a:t>
            </a:r>
            <a:endParaRPr b="1" i="0" sz="4400" u="none" cap="none" strike="noStrike">
              <a:solidFill>
                <a:srgbClr val="73985A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286242" y="3044279"/>
            <a:ext cx="240387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ממפות!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750" y="5514975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מפה - בשביל מה?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8001000" y="1737360"/>
            <a:ext cx="3337560" cy="1463040"/>
          </a:xfrm>
          <a:prstGeom prst="roundRect">
            <a:avLst>
              <a:gd fmla="val 75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y_scal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2720" y="1874519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092440" y="1810512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9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הקטנה מבוקרת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הכנסת תא שטח לתוך נייר באמצעות קנה מידה.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434840" y="1737360"/>
            <a:ext cx="3337560" cy="1463040"/>
          </a:xfrm>
          <a:prstGeom prst="roundRect">
            <a:avLst>
              <a:gd fmla="val 75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y_2d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6559" y="1874519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4526279" y="1810512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9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ייצוג דו-ממדי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תרגום עולם תלת-ממדי למרחב שטוח וקריא.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868680" y="1737360"/>
            <a:ext cx="3337560" cy="1463040"/>
          </a:xfrm>
          <a:prstGeom prst="roundRect">
            <a:avLst>
              <a:gd fmla="val 75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y_plan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0400" y="1874519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60120" y="1810512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9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תכנון מוקדם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למידת השטח ותכנון צירים לפני הגעה פיזית.</a:t>
            </a:r>
            <a:endParaRPr/>
          </a:p>
        </p:txBody>
      </p:sp>
      <p:pic>
        <p:nvPicPr>
          <p:cNvPr descr="כיצד להדפיס מפה טופוגרפית בקנ&quot;מ מדויק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680" y="3429000"/>
            <a:ext cx="1234440" cy="174320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2331720" y="3429000"/>
            <a:ext cx="9006840" cy="1600200"/>
          </a:xfrm>
          <a:prstGeom prst="roundRect">
            <a:avLst>
              <a:gd fmla="val 6857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המפה מאפשרת לנו: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✓ להבין את השטח מראש, עוד לפני שדרכנו עליו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✓ לתכנן מסלול: מאיפה יוצאים, לאן מגיעים, ובאיזו דרך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✓ להתמצא ולנווט בזמן אמת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868680" y="5257800"/>
            <a:ext cx="6766560" cy="566928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אבל - מפה לא שווה כלום אם לא נדע לקרוא אותה!</a:t>
            </a:r>
            <a:endParaRPr/>
          </a:p>
        </p:txBody>
      </p:sp>
      <p:pic>
        <p:nvPicPr>
          <p:cNvPr id="129" name="Google Shape;129;p15"/>
          <p:cNvPicPr preferRelativeResize="0"/>
          <p:nvPr/>
        </p:nvPicPr>
        <p:blipFill rotWithShape="1">
          <a:blip r:embed="rId8">
            <a:alphaModFix amt="60000"/>
          </a:blip>
          <a:srcRect b="0" l="0" r="0" t="0"/>
          <a:stretch/>
        </p:blipFill>
        <p:spPr>
          <a:xfrm>
            <a:off x="7909560" y="551383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סוגי מפות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8001000" y="1783080"/>
            <a:ext cx="3337560" cy="3520440"/>
          </a:xfrm>
          <a:prstGeom prst="roundRect">
            <a:avLst>
              <a:gd fmla="val 3287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ype_physical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2520" y="1920240"/>
            <a:ext cx="1874519" cy="187451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138160" y="384048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מפה פיזית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מציגה פני שטח באמצעות צבעים גנריים (ירוק, חום).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4434840" y="1783080"/>
            <a:ext cx="3337560" cy="3520440"/>
          </a:xfrm>
          <a:prstGeom prst="roundRect">
            <a:avLst>
              <a:gd fmla="val 3287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ype_thematic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6359" y="1920240"/>
            <a:ext cx="1874519" cy="187451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4572000" y="384048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מפה נושאית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מתמקדת בנתון ספציפי (אקלים, אוכלוסין).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868680" y="1783080"/>
            <a:ext cx="3337560" cy="3520440"/>
          </a:xfrm>
          <a:prstGeom prst="roundRect">
            <a:avLst>
              <a:gd fmla="val 3287" name="adj"/>
            </a:avLst>
          </a:prstGeom>
          <a:solidFill>
            <a:srgbClr val="C8D8BD"/>
          </a:solidFill>
          <a:ln cap="flat" cmpd="sng" w="28575">
            <a:solidFill>
              <a:srgbClr val="2E5E1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ype_topo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0200" y="1920240"/>
            <a:ext cx="1874519" cy="187451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1005839" y="384048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מפה טופוגרפית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הכלי המבצעי. מציגה גבהים מדויקים בקווי גובה.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1600200" y="1554480"/>
            <a:ext cx="1874519" cy="4572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הכלי המבצעי</a:t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7">
            <a:alphaModFix amt="60000"/>
          </a:blip>
          <a:srcRect b="0" l="0" r="0" t="0"/>
          <a:stretch/>
        </p:blipFill>
        <p:spPr>
          <a:xfrm>
            <a:off x="7909560" y="551383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רשת ישראל - רשת הקואורדינטות</a:t>
            </a:r>
            <a:endParaRPr/>
          </a:p>
        </p:txBody>
      </p:sp>
      <p:pic>
        <p:nvPicPr>
          <p:cNvPr descr="grid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1828800"/>
            <a:ext cx="3931919" cy="380550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4526280" y="1783080"/>
            <a:ext cx="6812280" cy="914400"/>
          </a:xfrm>
          <a:prstGeom prst="roundRect">
            <a:avLst>
              <a:gd fmla="val 12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המפה חצויה בקווי אורך ורוחב - זו </a:t>
            </a: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רשת ישראל</a:t>
            </a: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: מערכת קווים שתי וערב להגדרת מיקום מדויק של כל נקודה בשפה משותפת.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8001000" y="2834640"/>
            <a:ext cx="3337560" cy="1051560"/>
          </a:xfrm>
          <a:prstGeom prst="roundRect">
            <a:avLst>
              <a:gd fmla="val 10434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10744200" y="3063240"/>
            <a:ext cx="548640" cy="54864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X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046720" y="2862072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קווי אורך (מזרח)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קווים אנכיים. הערך גדל בתנועה מזרחה.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4526280" y="2834640"/>
            <a:ext cx="3337560" cy="1051560"/>
          </a:xfrm>
          <a:prstGeom prst="roundRect">
            <a:avLst>
              <a:gd fmla="val 10434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269480" y="306324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Y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572000" y="2862072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קווי רוחב (צפון)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קווים אופקיים. הערך גדל בתנועה צפונה.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526280" y="3977639"/>
            <a:ext cx="6812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שתי רשתות: החדשה בכחול, הישנה בשחור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• כל נקודה מתוארת לפי המשבצת שבה היא יושבת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9052560" y="4709160"/>
            <a:ext cx="2286000" cy="777240"/>
          </a:xfrm>
          <a:prstGeom prst="roundRect">
            <a:avLst>
              <a:gd fmla="val 14117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1:50,000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קנה מידה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6675120" y="4709160"/>
            <a:ext cx="2240280" cy="777240"/>
          </a:xfrm>
          <a:prstGeom prst="roundRect">
            <a:avLst>
              <a:gd fmla="val 14117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1 ס״מ = 500 מ׳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ס״מ בודד ברשת, במציאות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4526280" y="4709160"/>
            <a:ext cx="2011680" cy="777240"/>
          </a:xfrm>
          <a:prstGeom prst="roundRect">
            <a:avLst>
              <a:gd fmla="val 14117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משבצת = 1 ק״מ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משבצת אחת = 2 ס״מ</a:t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292595" y="5546717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כלל הזהב: קריאת נ"צ</a:t>
            </a:r>
            <a:endParaRPr/>
          </a:p>
        </p:txBody>
      </p:sp>
      <p:pic>
        <p:nvPicPr>
          <p:cNvPr descr="nc_rule.png"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686" y="1737360"/>
            <a:ext cx="3809506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10652760" y="1874519"/>
            <a:ext cx="685800" cy="68580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4754880" y="1828800"/>
            <a:ext cx="5760720" cy="777240"/>
          </a:xfrm>
          <a:prstGeom prst="roundRect">
            <a:avLst>
              <a:gd fmla="val 14117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9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שלב 1: </a:t>
            </a:r>
            <a:r>
              <a:rPr b="0" i="0" lang="iw-IL" sz="19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קוראים את ציר ה-X (תנועה ימינה במפה).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10652760" y="278892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4754880" y="2743200"/>
            <a:ext cx="5760720" cy="777240"/>
          </a:xfrm>
          <a:prstGeom prst="roundRect">
            <a:avLst>
              <a:gd fmla="val 14117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9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שלב 2: </a:t>
            </a:r>
            <a:r>
              <a:rPr b="0" i="0" lang="iw-IL" sz="19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קוראים את ציר ה-Y (תנועה למעלה במפה).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8183879" y="3749039"/>
            <a:ext cx="3154680" cy="1143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6 ספרות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רמת ה-100 מטר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4754880" y="3749039"/>
            <a:ext cx="3154680" cy="1143000"/>
          </a:xfrm>
          <a:prstGeom prst="roundRect">
            <a:avLst>
              <a:gd fmla="val 9600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8 ספרות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רמת ה-10 מטר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8229600" y="5074920"/>
            <a:ext cx="3108960" cy="64008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זכרו: ימינה ולמעלה</a:t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7619737" y="5927140"/>
            <a:ext cx="1011326" cy="101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איתור נ"צ במפה</a:t>
            </a:r>
            <a:endParaRPr/>
          </a:p>
        </p:txBody>
      </p:sp>
      <p:pic>
        <p:nvPicPr>
          <p:cNvPr descr="prac01_q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394" y="1691640"/>
            <a:ext cx="444473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ac01_a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394" y="1691640"/>
            <a:ext cx="444473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/>
          <p:nvPr/>
        </p:nvSpPr>
        <p:spPr>
          <a:xfrm>
            <a:off x="8412480" y="1783080"/>
            <a:ext cx="2926080" cy="4572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- 01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303520" y="2331720"/>
            <a:ext cx="6035040" cy="868680"/>
          </a:xfrm>
          <a:prstGeom prst="roundRect">
            <a:avLst>
              <a:gd fmla="val 12631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מהו הנ"צ (6 ספרות) של המטרה המסומנת </a:t>
            </a:r>
            <a:r>
              <a:rPr b="1" i="0" lang="iw-IL" sz="18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בעיגול אדום</a:t>
            </a: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?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303520" y="3246120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💡 זכרו: </a:t>
            </a: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קודם ימינה (X), אחר כך למעלה (Y). העריכו את החלוקה העשרונית בתוך המשבצת.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303520" y="384048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הסבירו: למה זה הנ"צ?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303520" y="4251960"/>
            <a:ext cx="6035040" cy="502920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ימינה (X):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הקו 13 + 4/10 משבצת  ←  134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303520" y="4846320"/>
            <a:ext cx="6035040" cy="502920"/>
          </a:xfrm>
          <a:prstGeom prst="roundRect">
            <a:avLst>
              <a:gd fmla="val 21818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למעלה (Y):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הקו 44 + 7/10 משבצת  ←  447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303520" y="5468112"/>
            <a:ext cx="2651760" cy="548640"/>
          </a:xfrm>
          <a:prstGeom prst="roundRect">
            <a:avLst>
              <a:gd fmla="val 5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נ"צ: 134447</a:t>
            </a:r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8292595" y="5546717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אתגר קטן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8412480" y="1783080"/>
            <a:ext cx="2926080" cy="50292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- 01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120640" y="2377440"/>
            <a:ext cx="6217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54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איפה ישראל?</a:t>
            </a:r>
            <a:endParaRPr/>
          </a:p>
        </p:txBody>
      </p:sp>
      <p:pic>
        <p:nvPicPr>
          <p:cNvPr descr="world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292901"/>
            <a:ext cx="4572000" cy="236363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5120640" y="3794760"/>
            <a:ext cx="6217920" cy="1280160"/>
          </a:xfrm>
          <a:prstGeom prst="roundRect">
            <a:avLst>
              <a:gd fmla="val 8571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≈ 31.5° צפון, 35° מזרח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7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אותו כלל בדיוק: קודם קו האורך (X), אחר כך קו הרוחב (Y).</a:t>
            </a:r>
            <a:endParaRPr/>
          </a:p>
        </p:txBody>
      </p:sp>
      <p:pic>
        <p:nvPicPr>
          <p:cNvPr id="207" name="Google Shape;207;p20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7909560" y="551383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דוגמה מהשטח - כפר עציון וגבעת הסלעים</a:t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קטע אמיתי ממפת גוש עציון 1:50,000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לאתר את המשבצת שבה אנחנו יושבים ולקרוא את שמה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לוודא מול קנה המידה:2  ס"מ =  ק"מ אחד בשטח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גבעת הסלעים </a:t>
            </a:r>
            <a:r>
              <a:rPr lang="iw-IL" sz="2200"/>
              <a:t>(949)- כיפה; סביבה שלוחות וגאיות שנלמד</a:t>
            </a:r>
            <a:endParaRPr sz="2200"/>
          </a:p>
        </p:txBody>
      </p:sp>
      <p:pic>
        <p:nvPicPr>
          <p:cNvPr descr="map_grid_real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2112565"/>
            <a:ext cx="3794760" cy="3684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7905750" y="5514975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type="ctrTitle"/>
          </p:nvPr>
        </p:nvSpPr>
        <p:spPr>
          <a:xfrm>
            <a:off x="1524000" y="2276475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iw-IL" sz="7200">
                <a:latin typeface="Assistant"/>
                <a:ea typeface="Assistant"/>
                <a:cs typeface="Assistant"/>
                <a:sym typeface="Assistant"/>
              </a:rPr>
              <a:t>גבהים</a:t>
            </a:r>
            <a:endParaRPr b="0" sz="8800"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20200" y="5038725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220200" y="5038725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גובה מוחלט וגובה יחסי</a:t>
            </a:r>
            <a:endParaRPr/>
          </a:p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3781425" y="1816720"/>
            <a:ext cx="7572375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גובה מוחלט - נמדד ביחס לפני הים (גובה 0)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גובה יחסי - הפרש הגובה בין שתי נקודות בשטח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אותה פסגה יכולה להיות ״גבוהה״ או ״נמוכה״ - תלוי ממה מודדים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בניווט: הגובה היחסי הוא זה שהרגליים מרגישות</a:t>
            </a:r>
            <a:endParaRPr sz="2200"/>
          </a:p>
        </p:txBody>
      </p:sp>
      <p:pic>
        <p:nvPicPr>
          <p:cNvPr descr="heights.png" id="232" name="Google Shape;23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983705"/>
            <a:ext cx="3434994" cy="1942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11191164" y="2551368"/>
            <a:ext cx="1228039" cy="122803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תבליט</a:t>
            </a:r>
            <a:endParaRPr/>
          </a:p>
        </p:txBody>
      </p:sp>
      <p:sp>
        <p:nvSpPr>
          <p:cNvPr id="240" name="Google Shape;240;p24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700"/>
              <a:t>מהמילה ״</a:t>
            </a:r>
            <a:r>
              <a:rPr b="1" lang="iw-IL" sz="1700"/>
              <a:t>בליטה</a:t>
            </a:r>
            <a:r>
              <a:rPr lang="iw-IL" sz="1700"/>
              <a:t>״-  מה שבולט מפני השטח</a:t>
            </a:r>
            <a:endParaRPr sz="17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700"/>
              <a:t>צורת פני הקרקע הטבעית כפי שהיא נראית ממבט על - השלד של האדמה. כמעט אינו משתנה, ולכן הוא העוגן האמין ביותר לנווט</a:t>
            </a:r>
            <a:endParaRPr sz="17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700"/>
              <a:t>מתאר את השטח בתלת-ממד בעזרת קווי גובה: קווים דמיוניים המחברים נקודות בגובה שווה. הולכים לאורך קו גובה - לא עולים ולא יורדים</a:t>
            </a:r>
            <a:endParaRPr sz="17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700"/>
              <a:t>רווח אנכי - הפרש הגובה הקבוע בין קו לקו - הוא 10 מטר</a:t>
            </a:r>
            <a:endParaRPr sz="17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700"/>
              <a:t>כל 100 מטר מסומן בקו עבה (קו מעובה / קו אינדקס) עם רישום הגובה - מסייע בספירה</a:t>
            </a:r>
            <a:endParaRPr b="1" sz="17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700"/>
              <a:t>ספרות קווי הגובה פונות תמיד לכיוון העלייה</a:t>
            </a:r>
            <a:endParaRPr sz="1700"/>
          </a:p>
        </p:txBody>
      </p:sp>
      <p:pic>
        <p:nvPicPr>
          <p:cNvPr descr="contours.png" id="241" name="Google Shape;24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057400"/>
            <a:ext cx="3794759" cy="3794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חוקי קווי הגובה</a:t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8001000" y="1965960"/>
            <a:ext cx="3337560" cy="2971800"/>
          </a:xfrm>
          <a:prstGeom prst="roundRect">
            <a:avLst>
              <a:gd fmla="val 3692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9326880" y="1645920"/>
            <a:ext cx="685800" cy="68580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</a:t>
            </a:r>
            <a:endParaRPr/>
          </a:p>
        </p:txBody>
      </p:sp>
      <p:pic>
        <p:nvPicPr>
          <p:cNvPr descr="rule1.png" id="250" name="Google Shape;25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2377440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8138160" y="347472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לעולם לא נחתכים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נקודה לא יכולה להיות בשני גבהים שונים בו-זמנית (למעט מצוק חופף).</a:t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4434840" y="1965960"/>
            <a:ext cx="3337560" cy="2971800"/>
          </a:xfrm>
          <a:prstGeom prst="roundRect">
            <a:avLst>
              <a:gd fmla="val 3692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60720" y="1645920"/>
            <a:ext cx="685800" cy="68580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</a:t>
            </a:r>
            <a:endParaRPr/>
          </a:p>
        </p:txBody>
      </p:sp>
      <p:pic>
        <p:nvPicPr>
          <p:cNvPr descr="rule2.png" id="254" name="Google Shape;25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7840" y="2377440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4572000" y="347472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מעגלים סגורים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כל קו גובה חייב להיסגר בסופו של דבר, בתוך המפה או מחוצה לה.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868680" y="1965960"/>
            <a:ext cx="3337560" cy="2971800"/>
          </a:xfrm>
          <a:prstGeom prst="roundRect">
            <a:avLst>
              <a:gd fmla="val 3692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2194560" y="1645920"/>
            <a:ext cx="685800" cy="685800"/>
          </a:xfrm>
          <a:prstGeom prst="ellipse">
            <a:avLst/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</a:t>
            </a:r>
            <a:endParaRPr/>
          </a:p>
        </p:txBody>
      </p:sp>
      <p:pic>
        <p:nvPicPr>
          <p:cNvPr descr="rule3.png" id="258" name="Google Shape;25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1679" y="2377440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005839" y="347472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צפיפות = תלילות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קווים צפופים מסמנים שיפוע תלול. קווים מרווחים מסמנים שיפוע מתון.</a:t>
            </a:r>
            <a:endParaRPr/>
          </a:p>
        </p:txBody>
      </p:sp>
      <p:pic>
        <p:nvPicPr>
          <p:cNvPr id="260" name="Google Shape;260;p25"/>
          <p:cNvPicPr preferRelativeResize="0"/>
          <p:nvPr/>
        </p:nvPicPr>
        <p:blipFill rotWithShape="1">
          <a:blip r:embed="rId7">
            <a:alphaModFix amt="60000"/>
          </a:blip>
          <a:srcRect b="0" l="0" r="0" t="0"/>
          <a:stretch/>
        </p:blipFill>
        <p:spPr>
          <a:xfrm>
            <a:off x="9217152" y="5038344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238449" y="5745142"/>
            <a:ext cx="1228039" cy="122803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נקודות גובה</a:t>
            </a:r>
            <a:endParaRPr/>
          </a:p>
        </p:txBody>
      </p:sp>
      <p:sp>
        <p:nvSpPr>
          <p:cNvPr id="268" name="Google Shape;268;p26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900"/>
              <a:t>מציינות גובה מוחלט של בלט מקומי</a:t>
            </a:r>
            <a:endParaRPr sz="19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900"/>
              <a:t>הנקודה הגבוהה ביותר בסביבתה הקרובה</a:t>
            </a:r>
            <a:endParaRPr sz="19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900"/>
              <a:t>לרוב יופיעו על כיפות -  פסגת הר, למשל</a:t>
            </a:r>
            <a:endParaRPr sz="19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900"/>
              <a:t>הנקודה עצמה לא קיימת בשטח אלא רק סימון במפה: נקודה שחורה ומספר לצידה (למשל •452) - הנקודה היא המיקום, המספר הוא הגובה המדויק שנמדד</a:t>
            </a:r>
            <a:endParaRPr sz="19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900"/>
              <a:t>שמות: כיפות או רכסים בולטים זוכים לעיתים לשם רשמי במפה (למשל: הר מירון) - כלי עזר מצוין להתמצאות מהירה</a:t>
            </a:r>
            <a:endParaRPr sz="1900"/>
          </a:p>
        </p:txBody>
      </p:sp>
      <p:pic>
        <p:nvPicPr>
          <p:cNvPr descr="nekudot_gova.png" id="269" name="Google Shape;26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057400"/>
            <a:ext cx="3794759" cy="3794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תכסית</a:t>
            </a:r>
            <a:endParaRPr/>
          </a:p>
        </p:txBody>
      </p:sp>
      <p:sp>
        <p:nvSpPr>
          <p:cNvPr id="276" name="Google Shape;276;p27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קבוצת הסימנים שמתארת את כל מה שמכסה את השטח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יישובים, צמחייה, כבישים, מבנים, גדרות...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בתחתית המפה יש מקרא - שם מפוענח כל סימן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התבליט אומר לנו איך השטח נראה. התכסית אומרת מה יש עליו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התכסית דינמית ומשתנה (יער נשרף, כביש נסלל) - אין להסתמך עליה בלבד בניווט</a:t>
            </a:r>
            <a:endParaRPr sz="2000"/>
          </a:p>
        </p:txBody>
      </p:sp>
      <p:pic>
        <p:nvPicPr>
          <p:cNvPr descr="tichsit.png" id="277" name="Google Shape;27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2057400"/>
            <a:ext cx="3794759" cy="3794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7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461830" y="5442572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תכסית - צבעים</a:t>
            </a:r>
            <a:endParaRPr/>
          </a:p>
        </p:txBody>
      </p:sp>
      <p:sp>
        <p:nvSpPr>
          <p:cNvPr id="285" name="Google Shape;285;p28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663300"/>
                </a:solidFill>
              </a:rPr>
              <a:t>חום</a:t>
            </a:r>
            <a:r>
              <a:rPr lang="iw-IL" sz="2200"/>
              <a:t> -  קרקע, תבליט, קווי גובה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074E6A"/>
                </a:solidFill>
              </a:rPr>
              <a:t>כחול</a:t>
            </a:r>
            <a:r>
              <a:rPr lang="iw-IL" sz="2200"/>
              <a:t> -  מים (נחלים, ים) ורשת ישראל החדשה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שחור</a:t>
            </a:r>
            <a:r>
              <a:rPr lang="iw-IL" sz="2200"/>
              <a:t> -  מבנים, שמות, נקודות גובה, ורשת ישראל הישנה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C00000"/>
                </a:solidFill>
              </a:rPr>
              <a:t>אדום</a:t>
            </a:r>
            <a:r>
              <a:rPr b="1" lang="iw-IL" sz="2200">
                <a:solidFill>
                  <a:srgbClr val="FF0000"/>
                </a:solidFill>
              </a:rPr>
              <a:t> </a:t>
            </a:r>
            <a:r>
              <a:rPr lang="iw-IL" sz="2200"/>
              <a:t>- כבישים (ראשי: מסגרת שחורה במילוי אדום)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3A7D22"/>
                </a:solidFill>
              </a:rPr>
              <a:t>ירוק</a:t>
            </a:r>
            <a:r>
              <a:rPr lang="iw-IL" sz="2200"/>
              <a:t> - צמחייה</a:t>
            </a:r>
            <a:endParaRPr sz="2200"/>
          </a:p>
        </p:txBody>
      </p:sp>
      <p:pic>
        <p:nvPicPr>
          <p:cNvPr descr="tichsit_tzvaim.png" id="286" name="Google Shape;28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2057400"/>
            <a:ext cx="3794760" cy="379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791622" y="5234283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9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791622" y="5234283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תכסית - צבעים</a:t>
            </a:r>
            <a:endParaRPr/>
          </a:p>
        </p:txBody>
      </p:sp>
      <p:sp>
        <p:nvSpPr>
          <p:cNvPr id="295" name="Google Shape;295;p29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663300"/>
                </a:solidFill>
              </a:rPr>
              <a:t>חום</a:t>
            </a:r>
            <a:r>
              <a:rPr lang="iw-IL" sz="2200"/>
              <a:t> -  קרקע, תבליט, קווי גובה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074E6A"/>
                </a:solidFill>
              </a:rPr>
              <a:t>כחול</a:t>
            </a:r>
            <a:r>
              <a:rPr lang="iw-IL" sz="2200"/>
              <a:t> -  מים (נחלים, ים) ורשת ישראל החדשה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שחור</a:t>
            </a:r>
            <a:r>
              <a:rPr lang="iw-IL" sz="2200"/>
              <a:t> -  מבנים, שמות, נקודות גובה, ורשת ישראל הישנה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C00000"/>
                </a:solidFill>
              </a:rPr>
              <a:t>אדום</a:t>
            </a:r>
            <a:r>
              <a:rPr b="1" lang="iw-IL" sz="2200">
                <a:solidFill>
                  <a:srgbClr val="FF0000"/>
                </a:solidFill>
              </a:rPr>
              <a:t> </a:t>
            </a:r>
            <a:r>
              <a:rPr lang="iw-IL" sz="2200"/>
              <a:t>- כבישים (ראשי: מסגרת שחורה במילוי אדום)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>
                <a:solidFill>
                  <a:srgbClr val="3A7D22"/>
                </a:solidFill>
              </a:rPr>
              <a:t>ירוק</a:t>
            </a:r>
            <a:r>
              <a:rPr lang="iw-IL" sz="2200"/>
              <a:t> - צמחייה</a:t>
            </a:r>
            <a:endParaRPr sz="2200"/>
          </a:p>
        </p:txBody>
      </p:sp>
      <p:pic>
        <p:nvPicPr>
          <p:cNvPr descr="tichsit_tzvaim.png" id="296" name="Google Shape;29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057400"/>
            <a:ext cx="3794760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/>
          <p:nvPr/>
        </p:nvSpPr>
        <p:spPr>
          <a:xfrm>
            <a:off x="0" y="-65315"/>
            <a:ext cx="12192000" cy="6988629"/>
          </a:xfrm>
          <a:prstGeom prst="rect">
            <a:avLst/>
          </a:prstGeom>
          <a:solidFill>
            <a:srgbClr val="F2F2F2">
              <a:alpha val="92549"/>
            </a:srgbClr>
          </a:solidFill>
          <a:ln cap="flat" cmpd="sng" w="25400">
            <a:solidFill>
              <a:srgbClr val="F2F2F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-609600" y="2710543"/>
            <a:ext cx="13411200" cy="1681843"/>
          </a:xfrm>
          <a:prstGeom prst="roundRect">
            <a:avLst>
              <a:gd fmla="val 16667" name="adj"/>
            </a:avLst>
          </a:prstGeom>
          <a:solidFill>
            <a:srgbClr val="8DAE76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תזכרו תמיד לוודא מול המקרא!!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מפה לבנה</a:t>
            </a:r>
            <a:endParaRPr/>
          </a:p>
        </p:txBody>
      </p:sp>
      <p:sp>
        <p:nvSpPr>
          <p:cNvPr id="305" name="Google Shape;305;p30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כוללת תבליט, תכסית ורשת קואורדינטות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מיועדת לניווט בשטח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הרקע הלבן מבליט את קווי הגובה - התבליט נקרא בצורה הטובה ביותר</a:t>
            </a:r>
            <a:endParaRPr sz="2200"/>
          </a:p>
        </p:txBody>
      </p:sp>
      <p:pic>
        <p:nvPicPr>
          <p:cNvPr descr="mapa_levana.png" id="306" name="Google Shape;3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2057400"/>
            <a:ext cx="3794759" cy="3794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286750" y="421005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קריאת תלילות</a:t>
            </a:r>
            <a:endParaRPr/>
          </a:p>
        </p:txBody>
      </p:sp>
      <p:pic>
        <p:nvPicPr>
          <p:cNvPr descr="prac02.png" id="314" name="Google Shape;31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890084"/>
            <a:ext cx="4206240" cy="353503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1"/>
          <p:cNvSpPr/>
          <p:nvPr/>
        </p:nvSpPr>
        <p:spPr>
          <a:xfrm>
            <a:off x="8412480" y="1783080"/>
            <a:ext cx="2926080" cy="4572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- 02</a:t>
            </a: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4846320" y="2331720"/>
            <a:ext cx="6492240" cy="914400"/>
          </a:xfrm>
          <a:prstGeom prst="roundRect">
            <a:avLst>
              <a:gd fmla="val 1200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איזה אזור במפה נוח יותר למעבר רגלי לכוח, ואיזה אזור מסוכן ותלול במיוחד?</a:t>
            </a:r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4846320" y="3291840"/>
            <a:ext cx="6492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💡 בחנו את העיגולים המסומנים במפה.</a:t>
            </a:r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4846320" y="3703320"/>
            <a:ext cx="6492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תשובה: צפיפות הקווים</a:t>
            </a:r>
            <a:endParaRPr/>
          </a:p>
        </p:txBody>
      </p:sp>
      <p:sp>
        <p:nvSpPr>
          <p:cNvPr id="319" name="Google Shape;319;p31"/>
          <p:cNvSpPr/>
          <p:nvPr/>
        </p:nvSpPr>
        <p:spPr>
          <a:xfrm>
            <a:off x="8183879" y="4114800"/>
            <a:ext cx="3154680" cy="1417320"/>
          </a:xfrm>
          <a:prstGeom prst="roundRect">
            <a:avLst>
              <a:gd fmla="val 7741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אזור א' — מצוק: </a:t>
            </a: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קווי הגובה צפופים מאוד עד כדי חפיפה. עבירות קשה עד בלתי אפשרית לכוח רגלי. מסוכן.</a:t>
            </a:r>
            <a:endParaRPr/>
          </a:p>
        </p:txBody>
      </p:sp>
      <p:sp>
        <p:nvSpPr>
          <p:cNvPr id="320" name="Google Shape;320;p31"/>
          <p:cNvSpPr/>
          <p:nvPr/>
        </p:nvSpPr>
        <p:spPr>
          <a:xfrm>
            <a:off x="4846320" y="4114800"/>
            <a:ext cx="3154680" cy="1417320"/>
          </a:xfrm>
          <a:prstGeom prst="roundRect">
            <a:avLst>
              <a:gd fmla="val 7741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אזור ב' — מישור מתון: </a:t>
            </a: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מרווח גדול מאוד בין קו לקו. תנועה נוחה ומהירה.</a:t>
            </a:r>
            <a:endParaRPr/>
          </a:p>
        </p:txBody>
      </p:sp>
      <p:pic>
        <p:nvPicPr>
          <p:cNvPr id="321" name="Google Shape;321;p31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687349" y="5571567"/>
            <a:ext cx="1228039" cy="1228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2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286750" y="4210050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מה למדנו עד עכשיו?</a:t>
            </a:r>
            <a:endParaRPr/>
          </a:p>
        </p:txBody>
      </p:sp>
      <p:sp>
        <p:nvSpPr>
          <p:cNvPr id="329" name="Google Shape;329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70"/>
              <a:t>מהי מפה ומהי מפה לבנה</a:t>
            </a:r>
            <a:endParaRPr sz="187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70"/>
              <a:t>רשת קואורדינטות</a:t>
            </a:r>
            <a:endParaRPr sz="187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1530"/>
              <a:t>קווי אורך ורוחב, משבצות, קנה מידה</a:t>
            </a:r>
            <a:endParaRPr sz="153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1870"/>
              <a:t>גבהים</a:t>
            </a:r>
            <a:endParaRPr sz="187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1530"/>
              <a:t>גובה מוחלט  וגובה יחסי</a:t>
            </a:r>
            <a:endParaRPr sz="1530"/>
          </a:p>
        </p:txBody>
      </p:sp>
      <p:pic>
        <p:nvPicPr>
          <p:cNvPr descr="כיצד להדפיס מפה טופוגרפית בקנ&quot;מ מדויק" id="330" name="Google Shape;33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7343" y="1346130"/>
            <a:ext cx="3246730" cy="458483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2"/>
          <p:cNvSpPr txBox="1"/>
          <p:nvPr/>
        </p:nvSpPr>
        <p:spPr>
          <a:xfrm>
            <a:off x="-2937867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AAD3AF"/>
              </a:buClr>
              <a:buSzPts val="1800"/>
              <a:buFont typeface="Helvetica Neue"/>
              <a:buChar char="◊"/>
            </a:pPr>
            <a:r>
              <a:rPr b="0" i="0" lang="iw-IL" sz="187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תבליט</a:t>
            </a:r>
            <a:endParaRPr/>
          </a:p>
          <a:p>
            <a:pPr indent="-228600" lvl="1" marL="91440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iw-IL" sz="153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קווי גובה, קו אינדקס, נקודות גובה</a:t>
            </a:r>
            <a:endParaRPr/>
          </a:p>
          <a:p>
            <a:pPr indent="-342900" lvl="0" marL="457200" marR="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AAD3AF"/>
              </a:buClr>
              <a:buSzPts val="1800"/>
              <a:buFont typeface="Helvetica Neue"/>
              <a:buChar char="◊"/>
            </a:pPr>
            <a:r>
              <a:rPr b="0" i="0" lang="iw-IL" sz="187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תכסית </a:t>
            </a:r>
            <a:endParaRPr/>
          </a:p>
          <a:p>
            <a:pPr indent="-228600" lvl="1" marL="91440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iw-IL" sz="153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סימנים, מקרא וצבעים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 txBox="1"/>
          <p:nvPr>
            <p:ph type="ctrTitle"/>
          </p:nvPr>
        </p:nvSpPr>
        <p:spPr>
          <a:xfrm>
            <a:off x="1524000" y="2276475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iw-IL" sz="7200">
                <a:latin typeface="Assistant"/>
                <a:ea typeface="Assistant"/>
                <a:cs typeface="Assistant"/>
                <a:sym typeface="Assistant"/>
              </a:rPr>
              <a:t>צורות שטח</a:t>
            </a:r>
            <a:endParaRPr b="0" sz="8800"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337" name="Google Shape;3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4591" y="3665299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דוגמה חיה – שוב כפר עציון</a:t>
            </a:r>
            <a:endParaRPr/>
          </a:p>
        </p:txBody>
      </p:sp>
      <p:sp>
        <p:nvSpPr>
          <p:cNvPr id="344" name="Google Shape;344;p34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על קו הרקיע: כמה כיפות, וביניהן שקעים - אלה האוכפים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מהכיפות יורדות שלוחות, וביניהן גאיות שמתנקזים למטה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כל מה שנלמד עכשיו במפה - קיים בשטח הזה</a:t>
            </a:r>
            <a:endParaRPr sz="2200"/>
          </a:p>
        </p:txBody>
      </p:sp>
      <p:pic>
        <p:nvPicPr>
          <p:cNvPr descr="gush_view.jpg" id="345" name="Google Shape;34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639369"/>
            <a:ext cx="3794759" cy="2630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4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4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8982120" y="4574699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917463" y="4539984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כיפה</a:t>
            </a:r>
            <a:endParaRPr/>
          </a:p>
        </p:txBody>
      </p:sp>
      <p:sp>
        <p:nvSpPr>
          <p:cNvPr id="355" name="Google Shape;355;p35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מערכת קווי גובה סגורים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לא חייבת להיות עגולה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נקודת שיא גובה מקומית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אנחנו נרד מכל כיוון שנצא ממנה</a:t>
            </a:r>
            <a:endParaRPr sz="2200"/>
          </a:p>
        </p:txBody>
      </p:sp>
      <p:pic>
        <p:nvPicPr>
          <p:cNvPr descr="kipa.png" id="356" name="Google Shape;35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012971"/>
            <a:ext cx="3794759" cy="3883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917463" y="4539984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כיפה - במפה אמיתית</a:t>
            </a:r>
            <a:endParaRPr/>
          </a:p>
        </p:txBody>
      </p:sp>
      <p:sp>
        <p:nvSpPr>
          <p:cNvPr id="364" name="Google Shape;364;p36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כיפה 967  בגוש עציון - ליד גבעת הסלעים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קווי הגובה נסגרים בטבעות סביב נקודת הגובה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מכל כיוון שיוצאים ממנה - יורדים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אותה צורה בדיוק כמו בסכמה - רק בשטח אמיתי</a:t>
            </a:r>
            <a:endParaRPr sz="2200"/>
          </a:p>
        </p:txBody>
      </p:sp>
      <p:pic>
        <p:nvPicPr>
          <p:cNvPr descr="map_kipa_real.png" id="365" name="Google Shape;36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511121"/>
            <a:ext cx="3794759" cy="2887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3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רכס (Ridge)</a:t>
            </a:r>
            <a:endParaRPr/>
          </a:p>
        </p:txBody>
      </p:sp>
      <p:pic>
        <p:nvPicPr>
          <p:cNvPr descr="ridge.png" id="372" name="Google Shape;37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025059"/>
            <a:ext cx="4937760" cy="3082201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7"/>
          <p:cNvSpPr/>
          <p:nvPr/>
        </p:nvSpPr>
        <p:spPr>
          <a:xfrm>
            <a:off x="5577840" y="1828800"/>
            <a:ext cx="5760720" cy="1234440"/>
          </a:xfrm>
          <a:prstGeom prst="roundRect">
            <a:avLst>
              <a:gd fmla="val 8888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רצף מחובר של כיפות. </a:t>
            </a:r>
            <a:r>
              <a:rPr b="0" i="0" lang="iw-IL" sz="20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הקו הדמיוני המגשר ביניהן נקרא </a:t>
            </a:r>
            <a:r>
              <a:rPr b="1" i="0" lang="iw-IL" sz="20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"קו רכס"</a:t>
            </a:r>
            <a:r>
              <a:rPr b="0" i="0" lang="iw-IL" sz="20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/>
          </a:p>
        </p:txBody>
      </p:sp>
      <p:sp>
        <p:nvSpPr>
          <p:cNvPr id="374" name="Google Shape;374;p37"/>
          <p:cNvSpPr/>
          <p:nvPr/>
        </p:nvSpPr>
        <p:spPr>
          <a:xfrm>
            <a:off x="5577840" y="3291840"/>
            <a:ext cx="3566160" cy="1097280"/>
          </a:xfrm>
          <a:prstGeom prst="roundRect">
            <a:avLst>
              <a:gd fmla="val 10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✓ יתרון: </a:t>
            </a: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שמירה על יתרון גובה רציף וחיסכון בטיפוס מצטבר.</a:t>
            </a:r>
            <a:endParaRPr/>
          </a:p>
        </p:txBody>
      </p:sp>
      <p:sp>
        <p:nvSpPr>
          <p:cNvPr id="375" name="Google Shape;375;p37"/>
          <p:cNvSpPr/>
          <p:nvPr/>
        </p:nvSpPr>
        <p:spPr>
          <a:xfrm>
            <a:off x="5577840" y="4526280"/>
            <a:ext cx="3566160" cy="1097280"/>
          </a:xfrm>
          <a:prstGeom prst="roundRect">
            <a:avLst>
              <a:gd fmla="val 10000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✗ חיסרון: </a:t>
            </a: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מבליטה את צללית הכוח כלפי העמק.</a:t>
            </a:r>
            <a:endParaRPr/>
          </a:p>
        </p:txBody>
      </p:sp>
      <p:pic>
        <p:nvPicPr>
          <p:cNvPr id="376" name="Google Shape;376;p37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9381744" y="3666744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917463" y="4539984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שלוחה</a:t>
            </a:r>
            <a:endParaRPr/>
          </a:p>
        </p:txBody>
      </p:sp>
      <p:sp>
        <p:nvSpPr>
          <p:cNvPr id="384" name="Google Shape;384;p38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נשלחת מהכיפה - בלט מוארך היוצא ממנה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בראש שלוחה: כיוון עלייה אחד, שלושה כיווני ירידה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לעלות על שלוחה זוהי הדרך הבטוחה לטפס לכיפה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כל שלוחה יורדת אל פיצול נחלים</a:t>
            </a:r>
            <a:endParaRPr sz="2200"/>
          </a:p>
        </p:txBody>
      </p:sp>
      <p:pic>
        <p:nvPicPr>
          <p:cNvPr descr="shluha.png" id="385" name="Google Shape;38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931953"/>
            <a:ext cx="3794760" cy="4045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9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21414" y="4678844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גיא</a:t>
            </a:r>
            <a:endParaRPr/>
          </a:p>
        </p:txBody>
      </p:sp>
      <p:sp>
        <p:nvSpPr>
          <p:cNvPr id="393" name="Google Shape;393;p39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ההפך משלוחה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תמיד יימצא בין שתי שלוחות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בתחתיתו: שלושה כיווני עלייה, כיוון ירידה אחד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תמיד יוביל בקצה התחתון אל נחל - כל הגיאיות מתנקזים</a:t>
            </a:r>
            <a:endParaRPr sz="2200"/>
          </a:p>
        </p:txBody>
      </p:sp>
      <p:pic>
        <p:nvPicPr>
          <p:cNvPr descr="gia.png" id="394" name="Google Shape;39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986727"/>
            <a:ext cx="3794760" cy="3936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4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0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238449" y="5745142"/>
            <a:ext cx="1228039" cy="122803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שלוחה וגיא - זהו בעצמכם</a:t>
            </a:r>
            <a:endParaRPr/>
          </a:p>
        </p:txBody>
      </p:sp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לפניכם מדרון אמיתי בגוש עציון - זהו את הצורות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איפה הגיא? חפשו את הנחל האכזב (הכחול המקווקו) - הוא תמיד בקרקעית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איפה השלוחה? הקרקע הגבוהה שעולה בין הגיאיות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רמז: קודקוד קווי הגובה בגיא מצביע במעלה, בשלוחה - במורד</a:t>
            </a:r>
            <a:endParaRPr b="1" sz="2200"/>
          </a:p>
        </p:txBody>
      </p:sp>
      <p:pic>
        <p:nvPicPr>
          <p:cNvPr descr="map_shluha_gia_real.png" id="403" name="Google Shape;40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277906"/>
            <a:ext cx="3794760" cy="335374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0"/>
          <p:cNvSpPr/>
          <p:nvPr/>
        </p:nvSpPr>
        <p:spPr>
          <a:xfrm>
            <a:off x="2100264" y="2500313"/>
            <a:ext cx="1014412" cy="4000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8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0"/>
          <p:cNvSpPr/>
          <p:nvPr/>
        </p:nvSpPr>
        <p:spPr>
          <a:xfrm>
            <a:off x="330994" y="4310063"/>
            <a:ext cx="1014412" cy="4000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8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0"/>
          <p:cNvSpPr/>
          <p:nvPr/>
        </p:nvSpPr>
        <p:spPr>
          <a:xfrm>
            <a:off x="592934" y="2352676"/>
            <a:ext cx="1014412" cy="4000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8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238449" y="5745142"/>
            <a:ext cx="1228039" cy="122803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שלוחה וגיא - הפתרון</a:t>
            </a:r>
            <a:endParaRPr/>
          </a:p>
        </p:txBody>
      </p:sp>
      <p:sp>
        <p:nvSpPr>
          <p:cNvPr id="414" name="Google Shape;414;p41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הגיא -  לאורך הנחל האכזב, המים יורדים בו (אדום)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השלוחה - הרכס הגבוה שעולה אל הגובה, בין הגיאיות (כחול)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כלל אצבע: הנחל תמיד בגיא, אף פעם לא על שלוחה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כחול = כיוון עלייה, אדום = כיוון ירידה</a:t>
            </a:r>
            <a:endParaRPr b="1" sz="2200"/>
          </a:p>
        </p:txBody>
      </p:sp>
      <p:pic>
        <p:nvPicPr>
          <p:cNvPr descr="map_shluha_gia_real.png" id="415" name="Google Shape;41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277906"/>
            <a:ext cx="3794760" cy="3353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2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86504" y="4887133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איך מבדילים בין שלוחה לגיא?</a:t>
            </a:r>
            <a:endParaRPr/>
          </a:p>
        </p:txBody>
      </p:sp>
      <p:sp>
        <p:nvSpPr>
          <p:cNvPr id="423" name="Google Shape;423;p42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קווי הגובה - לאן ״מצביע״ קודקוד הקו: שלוחה = U, קמור ומצביע החוצה אל העמק; גיא = V, מחודד ומצביע פנימה אל הפסגה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המיקום - גיא תמיד בין שתי שלוחות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הצורה - גיא בדרך כלל צר יותר משלוחה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הכיוונים - שלוחה: עלייה אחת, שלוש ירידות. גיא: הפוך</a:t>
            </a:r>
            <a:endParaRPr sz="2000"/>
          </a:p>
        </p:txBody>
      </p:sp>
      <p:pic>
        <p:nvPicPr>
          <p:cNvPr descr="shluha_vs_gia.png" id="424" name="Google Shape;42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858671"/>
            <a:ext cx="3794760" cy="2192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4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3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895767" y="5164853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שלוחה וגיא - גבעת התחמושת</a:t>
            </a:r>
            <a:endParaRPr/>
          </a:p>
        </p:txBody>
      </p:sp>
      <p:sp>
        <p:nvSpPr>
          <p:cNvPr id="432" name="Google Shape;432;p43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אותם קווי גובה - הפעם בתלת־ממד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כל שכבה בדגם היא קו גובה אחד; ככל שהשכבות צפופות - המדרון תלול יותר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השלוחות בולטות החוצה מהכיפה; הגיאיות נכנסות פנימה ביניהן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זה בדיוק מה שאתם רואים במפה - רק שטוח</a:t>
            </a:r>
            <a:endParaRPr sz="2200"/>
          </a:p>
        </p:txBody>
      </p:sp>
      <p:pic>
        <p:nvPicPr>
          <p:cNvPr descr="model_full.jpg" id="433" name="Google Shape;43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411577"/>
            <a:ext cx="3794760" cy="3086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4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791622" y="5234283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אוכף</a:t>
            </a:r>
            <a:endParaRPr/>
          </a:p>
        </p:txBody>
      </p:sp>
      <p:sp>
        <p:nvSpPr>
          <p:cNvPr id="441" name="Google Shape;441;p44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נראה כמו אוכף של סוס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מקום חיבור שקוע בין שני בלטים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שני כיווני עלייה מנוגדים - אל הכיפות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שני כיווני ירידה מנוגדים - אל הגיאיות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משני צידי אוכף תמיד תהיה כיפה. אם לא מסומנת - יש כיפה סמויה</a:t>
            </a:r>
            <a:endParaRPr sz="2200"/>
          </a:p>
        </p:txBody>
      </p:sp>
      <p:pic>
        <p:nvPicPr>
          <p:cNvPr descr="ochef.png" id="442" name="Google Shape;44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057399"/>
            <a:ext cx="3794760" cy="379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4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895767" y="5164853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אוכף - במפה אמיתית</a:t>
            </a:r>
            <a:endParaRPr/>
          </a:p>
        </p:txBody>
      </p:sp>
      <p:sp>
        <p:nvSpPr>
          <p:cNvPr id="450" name="Google Shape;450;p45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אוכף - הנקודה הנמוכה על הרכס בין שני גבהים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כאן: בין הכיפה 967 לגובה 949 שלצידה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שני כיווני עלייה - אל הגבהים; שני כיווני ירידה -אל הגאיות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שימו לב: השביל חוצה דווקא באוכף - הנקודה הנוחה ביותר למעבר</a:t>
            </a:r>
            <a:endParaRPr b="1" sz="2200"/>
          </a:p>
        </p:txBody>
      </p:sp>
      <p:pic>
        <p:nvPicPr>
          <p:cNvPr descr="map_smuya_real.png" id="451" name="Google Shape;451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057399"/>
            <a:ext cx="3794760" cy="379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4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895767" y="5164853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כיפה סמויה</a:t>
            </a:r>
            <a:endParaRPr/>
          </a:p>
        </p:txBody>
      </p:sp>
      <p:sp>
        <p:nvSpPr>
          <p:cNvPr id="459" name="Google Shape;459;p46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עונה על הגדרת כיפה -אך אינה מסומנת בקו גובה סגור</a:t>
            </a:r>
            <a:endParaRPr b="1"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גובהה נמוך מהפרש שני קווי גובה סמוכים(10 מטר)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איך מזהים?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לפי השלוחות והגאיות סביבה - היא כיפה לכל דבר, רק בלי קו סגור</a:t>
            </a:r>
            <a:endParaRPr sz="2200"/>
          </a:p>
        </p:txBody>
      </p:sp>
      <p:pic>
        <p:nvPicPr>
          <p:cNvPr descr="kipa_smuya.png" id="460" name="Google Shape;460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796053"/>
            <a:ext cx="3794760" cy="4317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7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238449" y="5745142"/>
            <a:ext cx="1228039" cy="122803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כיפה סמויה - במפה אמיתית</a:t>
            </a:r>
            <a:endParaRPr/>
          </a:p>
        </p:txBody>
      </p:sp>
      <p:sp>
        <p:nvSpPr>
          <p:cNvPr id="468" name="Google Shape;468;p47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נקודת גובה 949 (מ׳ מעל הים) בלי קו גובה סגור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היא בולטת פחות ממרווח קווי הגובה(10 מ׳) - לכן אין סביבה קו סגור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מזהים אותה לפי השלוחות והגאיות סביבה - היא כיפה לכל דבר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בניגוד ל-967 שלידה, שיש לה קו גובה סגור (כיפה מסומנת)</a:t>
            </a:r>
            <a:endParaRPr b="1" sz="2200"/>
          </a:p>
        </p:txBody>
      </p:sp>
      <p:pic>
        <p:nvPicPr>
          <p:cNvPr descr="map_smuya_real.png" id="469" name="Google Shape;469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979158"/>
            <a:ext cx="3794760" cy="3951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צורות השטח — המשמעות הטקטית</a:t>
            </a:r>
            <a:endParaRPr/>
          </a:p>
        </p:txBody>
      </p:sp>
      <p:sp>
        <p:nvSpPr>
          <p:cNvPr id="476" name="Google Shape;476;p48"/>
          <p:cNvSpPr/>
          <p:nvPr/>
        </p:nvSpPr>
        <p:spPr>
          <a:xfrm>
            <a:off x="9464040" y="1783080"/>
            <a:ext cx="1874519" cy="1783080"/>
          </a:xfrm>
          <a:prstGeom prst="roundRect">
            <a:avLst>
              <a:gd fmla="val 6153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כל צורה במפה = החלטה בשטח</a:t>
            </a:r>
            <a:endParaRPr/>
          </a:p>
        </p:txBody>
      </p:sp>
      <p:sp>
        <p:nvSpPr>
          <p:cNvPr id="477" name="Google Shape;477;p48"/>
          <p:cNvSpPr/>
          <p:nvPr/>
        </p:nvSpPr>
        <p:spPr>
          <a:xfrm>
            <a:off x="6355080" y="1783080"/>
            <a:ext cx="2834640" cy="1828800"/>
          </a:xfrm>
          <a:prstGeom prst="roundRect">
            <a:avLst>
              <a:gd fmla="val 6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_dome.png" id="478" name="Google Shape;47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5320" y="19202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8"/>
          <p:cNvSpPr txBox="1"/>
          <p:nvPr/>
        </p:nvSpPr>
        <p:spPr>
          <a:xfrm>
            <a:off x="6446520" y="1874519"/>
            <a:ext cx="187451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כיפה</a:t>
            </a:r>
            <a:endParaRPr/>
          </a:p>
        </p:txBody>
      </p:sp>
      <p:sp>
        <p:nvSpPr>
          <p:cNvPr id="480" name="Google Shape;480;p48"/>
          <p:cNvSpPr txBox="1"/>
          <p:nvPr/>
        </p:nvSpPr>
        <p:spPr>
          <a:xfrm>
            <a:off x="6446520" y="269748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עמדת שליטה ותצפית.</a:t>
            </a:r>
            <a:endParaRPr/>
          </a:p>
        </p:txBody>
      </p:sp>
      <p:sp>
        <p:nvSpPr>
          <p:cNvPr id="481" name="Google Shape;481;p48"/>
          <p:cNvSpPr/>
          <p:nvPr/>
        </p:nvSpPr>
        <p:spPr>
          <a:xfrm>
            <a:off x="3383280" y="1783080"/>
            <a:ext cx="2834640" cy="1828800"/>
          </a:xfrm>
          <a:prstGeom prst="roundRect">
            <a:avLst>
              <a:gd fmla="val 6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_ridge.png" id="482" name="Google Shape;48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0" y="2029760"/>
            <a:ext cx="777240" cy="558199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8"/>
          <p:cNvSpPr txBox="1"/>
          <p:nvPr/>
        </p:nvSpPr>
        <p:spPr>
          <a:xfrm>
            <a:off x="3474720" y="1874519"/>
            <a:ext cx="187451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רכס</a:t>
            </a:r>
            <a:endParaRPr/>
          </a:p>
        </p:txBody>
      </p:sp>
      <p:sp>
        <p:nvSpPr>
          <p:cNvPr id="484" name="Google Shape;484;p48"/>
          <p:cNvSpPr txBox="1"/>
          <p:nvPr/>
        </p:nvSpPr>
        <p:spPr>
          <a:xfrm>
            <a:off x="3474720" y="269748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יתרון גובה רציף, אך חושף את צללית הכוח.</a:t>
            </a:r>
            <a:endParaRPr/>
          </a:p>
        </p:txBody>
      </p:sp>
      <p:sp>
        <p:nvSpPr>
          <p:cNvPr id="485" name="Google Shape;485;p48"/>
          <p:cNvSpPr/>
          <p:nvPr/>
        </p:nvSpPr>
        <p:spPr>
          <a:xfrm>
            <a:off x="411480" y="1783080"/>
            <a:ext cx="2834640" cy="1828800"/>
          </a:xfrm>
          <a:prstGeom prst="roundRect">
            <a:avLst>
              <a:gd fmla="val 6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_saddle.png" id="486" name="Google Shape;48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31720" y="1993253"/>
            <a:ext cx="777240" cy="631213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8"/>
          <p:cNvSpPr txBox="1"/>
          <p:nvPr/>
        </p:nvSpPr>
        <p:spPr>
          <a:xfrm>
            <a:off x="502920" y="1874519"/>
            <a:ext cx="187451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אוכף</a:t>
            </a:r>
            <a:endParaRPr/>
          </a:p>
        </p:txBody>
      </p:sp>
      <p:sp>
        <p:nvSpPr>
          <p:cNvPr id="488" name="Google Shape;488;p48"/>
          <p:cNvSpPr txBox="1"/>
          <p:nvPr/>
        </p:nvSpPr>
        <p:spPr>
          <a:xfrm>
            <a:off x="502920" y="269748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המעבר הנוח ביותר מצד אחד של ההר לשני.</a:t>
            </a:r>
            <a:endParaRPr/>
          </a:p>
        </p:txBody>
      </p:sp>
      <p:sp>
        <p:nvSpPr>
          <p:cNvPr id="489" name="Google Shape;489;p48"/>
          <p:cNvSpPr/>
          <p:nvPr/>
        </p:nvSpPr>
        <p:spPr>
          <a:xfrm>
            <a:off x="6355080" y="3794760"/>
            <a:ext cx="2834640" cy="1828800"/>
          </a:xfrm>
          <a:prstGeom prst="roundRect">
            <a:avLst>
              <a:gd fmla="val 6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_U.png" id="490" name="Google Shape;490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75320" y="393192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8"/>
          <p:cNvSpPr txBox="1"/>
          <p:nvPr/>
        </p:nvSpPr>
        <p:spPr>
          <a:xfrm>
            <a:off x="6446520" y="3886200"/>
            <a:ext cx="187451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שלוחה</a:t>
            </a:r>
            <a:endParaRPr/>
          </a:p>
        </p:txBody>
      </p:sp>
      <p:sp>
        <p:nvSpPr>
          <p:cNvPr id="492" name="Google Shape;492;p48"/>
          <p:cNvSpPr txBox="1"/>
          <p:nvPr/>
        </p:nvSpPr>
        <p:spPr>
          <a:xfrm>
            <a:off x="6446520" y="47091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קרקע נוחה, ראות טובה. ציר תנועה מועדף.</a:t>
            </a:r>
            <a:endParaRPr/>
          </a:p>
        </p:txBody>
      </p:sp>
      <p:sp>
        <p:nvSpPr>
          <p:cNvPr id="493" name="Google Shape;493;p48"/>
          <p:cNvSpPr/>
          <p:nvPr/>
        </p:nvSpPr>
        <p:spPr>
          <a:xfrm>
            <a:off x="3383280" y="3794760"/>
            <a:ext cx="2834640" cy="1828800"/>
          </a:xfrm>
          <a:prstGeom prst="roundRect">
            <a:avLst>
              <a:gd fmla="val 6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_V.png" id="494" name="Google Shape;494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0" y="393192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8"/>
          <p:cNvSpPr txBox="1"/>
          <p:nvPr/>
        </p:nvSpPr>
        <p:spPr>
          <a:xfrm>
            <a:off x="3474720" y="3886200"/>
            <a:ext cx="187451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גיא</a:t>
            </a:r>
            <a:endParaRPr/>
          </a:p>
        </p:txBody>
      </p:sp>
      <p:sp>
        <p:nvSpPr>
          <p:cNvPr id="496" name="Google Shape;496;p48"/>
          <p:cNvSpPr txBox="1"/>
          <p:nvPr/>
        </p:nvSpPr>
        <p:spPr>
          <a:xfrm>
            <a:off x="3474720" y="47091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מוסתר מתצפית, סבוך בצמחייה. קשה לתנועה.</a:t>
            </a:r>
            <a:endParaRPr/>
          </a:p>
        </p:txBody>
      </p:sp>
      <p:sp>
        <p:nvSpPr>
          <p:cNvPr id="497" name="Google Shape;497;p48"/>
          <p:cNvSpPr/>
          <p:nvPr/>
        </p:nvSpPr>
        <p:spPr>
          <a:xfrm>
            <a:off x="411480" y="3794760"/>
            <a:ext cx="2834640" cy="1828800"/>
          </a:xfrm>
          <a:prstGeom prst="roundRect">
            <a:avLst>
              <a:gd fmla="val 600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_hidden.png" id="498" name="Google Shape;498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31720" y="393192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8"/>
          <p:cNvSpPr txBox="1"/>
          <p:nvPr/>
        </p:nvSpPr>
        <p:spPr>
          <a:xfrm>
            <a:off x="502920" y="3886200"/>
            <a:ext cx="187451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0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כיפה סמויה</a:t>
            </a:r>
            <a:endParaRPr/>
          </a:p>
        </p:txBody>
      </p:sp>
      <p:sp>
        <p:nvSpPr>
          <p:cNvPr id="500" name="Google Shape;500;p48"/>
          <p:cNvSpPr txBox="1"/>
          <p:nvPr/>
        </p:nvSpPr>
        <p:spPr>
          <a:xfrm>
            <a:off x="502920" y="47091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סכנה: שיבוש בספירת כיפות בלילה או באפלה.</a:t>
            </a:r>
            <a:endParaRPr/>
          </a:p>
        </p:txBody>
      </p:sp>
      <p:pic>
        <p:nvPicPr>
          <p:cNvPr id="501" name="Google Shape;501;p48"/>
          <p:cNvPicPr preferRelativeResize="0"/>
          <p:nvPr/>
        </p:nvPicPr>
        <p:blipFill rotWithShape="1">
          <a:blip r:embed="rId10">
            <a:alphaModFix amt="60000"/>
          </a:blip>
          <a:srcRect b="0" l="0" r="0" t="0"/>
          <a:stretch/>
        </p:blipFill>
        <p:spPr>
          <a:xfrm>
            <a:off x="9381744" y="3666744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9"/>
          <p:cNvSpPr txBox="1"/>
          <p:nvPr>
            <p:ph type="ctrTitle"/>
          </p:nvPr>
        </p:nvSpPr>
        <p:spPr>
          <a:xfrm>
            <a:off x="1524000" y="2276475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iw-IL" sz="7200">
                <a:latin typeface="Assistant"/>
                <a:ea typeface="Assistant"/>
                <a:cs typeface="Assistant"/>
                <a:sym typeface="Assistant"/>
              </a:rPr>
              <a:t>תרגול קצר...</a:t>
            </a:r>
            <a:endParaRPr b="0" sz="8800"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507" name="Google Shape;5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4591" y="3665299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5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איתור צורות שטח</a:t>
            </a:r>
            <a:endParaRPr/>
          </a:p>
        </p:txBody>
      </p:sp>
      <p:pic>
        <p:nvPicPr>
          <p:cNvPr descr="prac03_q.png" id="515" name="Google Shape;51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053598"/>
            <a:ext cx="4846320" cy="3025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ac03_a.png" id="516" name="Google Shape;516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" y="2053598"/>
            <a:ext cx="4846320" cy="3025123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0"/>
          <p:cNvSpPr/>
          <p:nvPr/>
        </p:nvSpPr>
        <p:spPr>
          <a:xfrm>
            <a:off x="8412480" y="1783080"/>
            <a:ext cx="2926080" cy="4572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שלב תרגול מעשי - 03</a:t>
            </a:r>
            <a:endParaRPr/>
          </a:p>
        </p:txBody>
      </p:sp>
      <p:sp>
        <p:nvSpPr>
          <p:cNvPr id="518" name="Google Shape;518;p50"/>
          <p:cNvSpPr/>
          <p:nvPr/>
        </p:nvSpPr>
        <p:spPr>
          <a:xfrm>
            <a:off x="5394960" y="2331720"/>
            <a:ext cx="5943600" cy="822960"/>
          </a:xfrm>
          <a:prstGeom prst="roundRect">
            <a:avLst>
              <a:gd fmla="val 13333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היכן מסתתרים אוכף ושתי כיפות מרכזיות במפה שלפניכם?</a:t>
            </a:r>
            <a:endParaRPr/>
          </a:p>
        </p:txBody>
      </p:sp>
      <p:sp>
        <p:nvSpPr>
          <p:cNvPr id="519" name="Google Shape;519;p50"/>
          <p:cNvSpPr txBox="1"/>
          <p:nvPr/>
        </p:nvSpPr>
        <p:spPr>
          <a:xfrm>
            <a:off x="5394960" y="32004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4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💡 חפשו מעגלים סגורים (כיפות), ואת אזור החיבור הצר שביניהם.</a:t>
            </a:r>
            <a:endParaRPr/>
          </a:p>
        </p:txBody>
      </p:sp>
      <p:sp>
        <p:nvSpPr>
          <p:cNvPr id="520" name="Google Shape;520;p50"/>
          <p:cNvSpPr txBox="1"/>
          <p:nvPr/>
        </p:nvSpPr>
        <p:spPr>
          <a:xfrm>
            <a:off x="5394960" y="3749039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תשובה: המפה מציגה בבירור את החוקיות.</a:t>
            </a:r>
            <a:endParaRPr/>
          </a:p>
        </p:txBody>
      </p:sp>
      <p:sp>
        <p:nvSpPr>
          <p:cNvPr id="521" name="Google Shape;521;p50"/>
          <p:cNvSpPr/>
          <p:nvPr/>
        </p:nvSpPr>
        <p:spPr>
          <a:xfrm>
            <a:off x="8412480" y="4160520"/>
            <a:ext cx="2926080" cy="1371600"/>
          </a:xfrm>
          <a:prstGeom prst="roundRect">
            <a:avLst>
              <a:gd fmla="val 8000" name="adj"/>
            </a:avLst>
          </a:prstGeom>
          <a:solidFill>
            <a:srgbClr val="E6EFF8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2F6FB0"/>
                </a:solidFill>
                <a:latin typeface="Assistant"/>
                <a:ea typeface="Assistant"/>
                <a:cs typeface="Assistant"/>
                <a:sym typeface="Assistant"/>
              </a:rPr>
              <a:t>הכיפות: </a:t>
            </a: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מסומנות באמצעות המעגלים הפנימיים הסגורים ביותר. שיא הגובה.</a:t>
            </a:r>
            <a:endParaRPr/>
          </a:p>
        </p:txBody>
      </p:sp>
      <p:sp>
        <p:nvSpPr>
          <p:cNvPr id="522" name="Google Shape;522;p50"/>
          <p:cNvSpPr/>
          <p:nvPr/>
        </p:nvSpPr>
        <p:spPr>
          <a:xfrm>
            <a:off x="5394960" y="4160520"/>
            <a:ext cx="2880360" cy="1371600"/>
          </a:xfrm>
          <a:prstGeom prst="roundRect">
            <a:avLst>
              <a:gd fmla="val 8000" name="adj"/>
            </a:avLst>
          </a:prstGeom>
          <a:solidFill>
            <a:srgbClr val="FBE9E7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4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האוכף: </a:t>
            </a:r>
            <a:r>
              <a:rPr b="0" i="0" lang="iw-IL" sz="13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צוואר הבקבוק הצר המחבר בין המעגלים. מעבר ה-8.</a:t>
            </a:r>
            <a:endParaRPr/>
          </a:p>
        </p:txBody>
      </p:sp>
      <p:pic>
        <p:nvPicPr>
          <p:cNvPr id="523" name="Google Shape;523;p50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8687349" y="5571567"/>
            <a:ext cx="1228039" cy="1228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1"/>
          <p:cNvSpPr txBox="1"/>
          <p:nvPr>
            <p:ph type="ctrTitle"/>
          </p:nvPr>
        </p:nvSpPr>
        <p:spPr>
          <a:xfrm>
            <a:off x="1524000" y="2276475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iw-IL" sz="7200">
                <a:latin typeface="Assistant"/>
                <a:ea typeface="Assistant"/>
                <a:cs typeface="Assistant"/>
                <a:sym typeface="Assistant"/>
              </a:rPr>
              <a:t>מדרונות</a:t>
            </a:r>
            <a:endParaRPr b="0" sz="8800"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529" name="Google Shape;52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6616" y="3341449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086699" y="4644129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סוגי מדרונות</a:t>
            </a:r>
            <a:endParaRPr/>
          </a:p>
        </p:txBody>
      </p:sp>
      <p:sp>
        <p:nvSpPr>
          <p:cNvPr id="538" name="Google Shape;538;p52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קצוב - שיפוע קבוע לכל אורכו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מתון; תלול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משתנה - השיפוע משתנה לאורך המדרון</a:t>
            </a:r>
            <a:endParaRPr sz="2200"/>
          </a:p>
          <a:p>
            <a: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iw-IL" sz="2200"/>
              <a:t>קמור; קעור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         ואיזה מדרונות אתם מכירים מהשטח?</a:t>
            </a:r>
            <a:endParaRPr/>
          </a:p>
        </p:txBody>
      </p:sp>
      <p:pic>
        <p:nvPicPr>
          <p:cNvPr descr="sugei_midronot.png" id="539" name="Google Shape;539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735035"/>
            <a:ext cx="3794760" cy="2439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5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3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086699" y="4644129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מדרון קצוב</a:t>
            </a:r>
            <a:endParaRPr/>
          </a:p>
        </p:txBody>
      </p:sp>
      <p:sp>
        <p:nvSpPr>
          <p:cNvPr id="547" name="Google Shape;547;p53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כשמו כן הוא - שיפוע קבוע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מתון - קווי גובה מרווחים באופן אחיד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תלול - קווי גובה צפופים באופן אחיד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המרווח בין הקווים לא משתנה לאורך המדרון</a:t>
            </a:r>
            <a:endParaRPr sz="2200"/>
          </a:p>
        </p:txBody>
      </p:sp>
      <p:pic>
        <p:nvPicPr>
          <p:cNvPr descr="slope_katzuv.png" id="548" name="Google Shape;54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972803"/>
            <a:ext cx="3794760" cy="1963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5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54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86504" y="4887133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מדרון משתנה</a:t>
            </a:r>
            <a:endParaRPr/>
          </a:p>
        </p:txBody>
      </p:sp>
      <p:sp>
        <p:nvSpPr>
          <p:cNvPr id="556" name="Google Shape;556;p54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שוב, כשמו כן הוא - השיפוע משתנה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קעור - מתון למטה, תלול למעלה. מהפסגה רואים את כל המדרון - אין שטח נסתר לאויב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קמור - תלול למטה, מתון למעלה. מהפסגה לא רואים את התחתית - שטח מת: הבטן של ההר מסתירה</a:t>
            </a:r>
            <a:endParaRPr sz="20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000"/>
              <a:t>צפיפות קווי הגובה משתנה לאורך המדרון</a:t>
            </a:r>
            <a:endParaRPr sz="2000"/>
          </a:p>
        </p:txBody>
      </p:sp>
      <p:pic>
        <p:nvPicPr>
          <p:cNvPr descr="slope_mishtane.png" id="557" name="Google Shape;55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972803"/>
            <a:ext cx="3794760" cy="1963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5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8895767" y="5164853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כתף</a:t>
            </a:r>
            <a:endParaRPr/>
          </a:p>
        </p:txBody>
      </p:sp>
      <p:sp>
        <p:nvSpPr>
          <p:cNvPr id="565" name="Google Shape;565;p55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קטע מישורי בתוך מדרון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במפה: קבוצת קווים מרווחים בין שתי קבוצות של קווים צפופים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לא כיפה - כי אין ירידה לכל הכיוונים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במציאות: משטח נוח לעצירה או היערכות באמצע הטיפוס</a:t>
            </a:r>
            <a:endParaRPr sz="2200"/>
          </a:p>
        </p:txBody>
      </p:sp>
      <p:pic>
        <p:nvPicPr>
          <p:cNvPr descr="katef.png" id="566" name="Google Shape;566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900096"/>
            <a:ext cx="3794760" cy="2109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5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56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086699" y="4644129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איך נבדיל בין כיפה סמויה לכתף?</a:t>
            </a:r>
            <a:endParaRPr/>
          </a:p>
        </p:txBody>
      </p:sp>
      <p:sp>
        <p:nvSpPr>
          <p:cNvPr id="574" name="Google Shape;574;p56"/>
          <p:cNvSpPr txBox="1"/>
          <p:nvPr>
            <p:ph idx="1" type="body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2200"/>
              <a:t>לפי הצורות סביבה!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כיפה סמויה - יש ממנה ירידה: שלוחות וגיאיות סביבה (לא חייב אוכף משני הצדדים)</a:t>
            </a:r>
            <a:endParaRPr sz="22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lang="iw-IL" sz="2200"/>
              <a:t>כתף - יושבת בתוך מדרון, וההמשך כלפי מעלה נשאר עלייה</a:t>
            </a:r>
            <a:endParaRPr sz="2200"/>
          </a:p>
        </p:txBody>
      </p:sp>
      <p:pic>
        <p:nvPicPr>
          <p:cNvPr descr="smuya_katef.png" id="575" name="Google Shape;575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2873715"/>
            <a:ext cx="3794760" cy="2162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7"/>
          <p:cNvSpPr txBox="1"/>
          <p:nvPr>
            <p:ph type="ctrTitle"/>
          </p:nvPr>
        </p:nvSpPr>
        <p:spPr>
          <a:xfrm>
            <a:off x="1524000" y="2276475"/>
            <a:ext cx="91440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</a:pPr>
            <a:r>
              <a:rPr lang="iw-IL" sz="7200">
                <a:latin typeface="Assistant"/>
                <a:ea typeface="Assistant"/>
                <a:cs typeface="Assistant"/>
                <a:sym typeface="Assistant"/>
              </a:rPr>
              <a:t>בונוס: ארגז הכלים של הקצין</a:t>
            </a:r>
            <a:endParaRPr b="0" sz="8800"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581" name="Google Shape;58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9092" y="3463821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57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6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כלים מתקדמים למפקד</a:t>
            </a:r>
            <a:endParaRPr/>
          </a:p>
        </p:txBody>
      </p:sp>
      <p:pic>
        <p:nvPicPr>
          <p:cNvPr descr="trig_symbol.png" id="584" name="Google Shape;584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8960" y="470916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oto_ortho.png" id="585" name="Google Shape;585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470916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trol_map.png" id="586" name="Google Shape;586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3065" y="4709160"/>
            <a:ext cx="1084268" cy="8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5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נקודת טריאנגולציה (טריג)</a:t>
            </a:r>
            <a:endParaRPr/>
          </a:p>
        </p:txBody>
      </p:sp>
      <p:pic>
        <p:nvPicPr>
          <p:cNvPr descr="trig_symbol.png" id="593" name="Google Shape;59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01168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8"/>
          <p:cNvSpPr txBox="1"/>
          <p:nvPr/>
        </p:nvSpPr>
        <p:spPr>
          <a:xfrm>
            <a:off x="548640" y="41148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במפה</a:t>
            </a:r>
            <a:endParaRPr/>
          </a:p>
        </p:txBody>
      </p:sp>
      <p:pic>
        <p:nvPicPr>
          <p:cNvPr descr="trig_pillar.png" id="595" name="Google Shape;595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0" y="201168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58"/>
          <p:cNvSpPr txBox="1"/>
          <p:nvPr/>
        </p:nvSpPr>
        <p:spPr>
          <a:xfrm>
            <a:off x="2743200" y="41148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בשטח</a:t>
            </a:r>
            <a:endParaRPr/>
          </a:p>
        </p:txBody>
      </p:sp>
      <p:sp>
        <p:nvSpPr>
          <p:cNvPr id="597" name="Google Shape;597;p58"/>
          <p:cNvSpPr/>
          <p:nvPr/>
        </p:nvSpPr>
        <p:spPr>
          <a:xfrm>
            <a:off x="5212080" y="1783080"/>
            <a:ext cx="4937760" cy="1188720"/>
          </a:xfrm>
          <a:prstGeom prst="roundRect">
            <a:avLst>
              <a:gd fmla="val 923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נקודת ציון גיאודזית שנמדדה בדיוק מירבי. </a:t>
            </a:r>
            <a:r>
              <a:rPr b="0" i="0" lang="iw-IL" sz="18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משמשת לאיפוס ולמדידות.</a:t>
            </a:r>
            <a:endParaRPr/>
          </a:p>
        </p:txBody>
      </p:sp>
      <p:sp>
        <p:nvSpPr>
          <p:cNvPr id="598" name="Google Shape;598;p58"/>
          <p:cNvSpPr/>
          <p:nvPr/>
        </p:nvSpPr>
        <p:spPr>
          <a:xfrm>
            <a:off x="5212080" y="3154680"/>
            <a:ext cx="4937760" cy="96012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סימון במפה: </a:t>
            </a:r>
            <a:r>
              <a:rPr b="0" i="0" lang="iw-IL" sz="17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משולש עם נקודה במרכזו, לצד גובה מדויק.</a:t>
            </a:r>
            <a:endParaRPr/>
          </a:p>
        </p:txBody>
      </p:sp>
      <p:sp>
        <p:nvSpPr>
          <p:cNvPr id="599" name="Google Shape;599;p58"/>
          <p:cNvSpPr/>
          <p:nvPr/>
        </p:nvSpPr>
        <p:spPr>
          <a:xfrm>
            <a:off x="5212080" y="4297680"/>
            <a:ext cx="4937760" cy="96012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במציאות: </a:t>
            </a:r>
            <a:r>
              <a:rPr b="0" i="0" lang="iw-IL" sz="17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עמוד בטון בולט בשטח, בדרך כלל בפסגות שולטות.</a:t>
            </a:r>
            <a:endParaRPr/>
          </a:p>
        </p:txBody>
      </p:sp>
      <p:pic>
        <p:nvPicPr>
          <p:cNvPr id="600" name="Google Shape;600;p58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10405872" y="301752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5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תצ"א ואורטופוטו</a:t>
            </a:r>
            <a:endParaRPr/>
          </a:p>
        </p:txBody>
      </p:sp>
      <p:sp>
        <p:nvSpPr>
          <p:cNvPr id="607" name="Google Shape;607;p59"/>
          <p:cNvSpPr/>
          <p:nvPr/>
        </p:nvSpPr>
        <p:spPr>
          <a:xfrm>
            <a:off x="5669280" y="1783080"/>
            <a:ext cx="4480560" cy="4251960"/>
          </a:xfrm>
          <a:prstGeom prst="roundRect">
            <a:avLst>
              <a:gd fmla="val 258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to_aerial.png" id="608" name="Google Shape;60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3740" y="1874519"/>
            <a:ext cx="1691640" cy="169164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59"/>
          <p:cNvSpPr txBox="1"/>
          <p:nvPr/>
        </p:nvSpPr>
        <p:spPr>
          <a:xfrm>
            <a:off x="5806440" y="3611880"/>
            <a:ext cx="42062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מפת תצ"א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תצלום אוויר. מראה תכסית עדכנית כפי שהיא באמת.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C00000"/>
                </a:solidFill>
                <a:latin typeface="Assistant"/>
                <a:ea typeface="Assistant"/>
                <a:cs typeface="Assistant"/>
                <a:sym typeface="Assistant"/>
              </a:rPr>
              <a:t>חיסרון: </a:t>
            </a: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סובלת מעיוותי פרספקטיבה, לא ניתנת למדידת מרחקים.</a:t>
            </a:r>
            <a:endParaRPr/>
          </a:p>
        </p:txBody>
      </p:sp>
      <p:sp>
        <p:nvSpPr>
          <p:cNvPr id="610" name="Google Shape;610;p59"/>
          <p:cNvSpPr/>
          <p:nvPr/>
        </p:nvSpPr>
        <p:spPr>
          <a:xfrm>
            <a:off x="4800600" y="3246120"/>
            <a:ext cx="777240" cy="54864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398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9"/>
          <p:cNvSpPr/>
          <p:nvPr/>
        </p:nvSpPr>
        <p:spPr>
          <a:xfrm>
            <a:off x="228600" y="1783080"/>
            <a:ext cx="4480560" cy="4251960"/>
          </a:xfrm>
          <a:prstGeom prst="roundRect">
            <a:avLst>
              <a:gd fmla="val 2580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hoto_ortho.png" id="612" name="Google Shape;612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3060" y="1874519"/>
            <a:ext cx="1691640" cy="169164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9"/>
          <p:cNvSpPr txBox="1"/>
          <p:nvPr/>
        </p:nvSpPr>
        <p:spPr>
          <a:xfrm>
            <a:off x="365760" y="3611880"/>
            <a:ext cx="42062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2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אורטופוטו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תצ"א שעברה יישור דיגיטלי לתיקון עיוותים.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w-IL" sz="16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יתרון: </a:t>
            </a: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תמונה עדכנית המשמשת כמפה אמיתית למדידה מדויקת והוצאת נ"צ.</a:t>
            </a:r>
            <a:endParaRPr/>
          </a:p>
        </p:txBody>
      </p:sp>
      <p:pic>
        <p:nvPicPr>
          <p:cNvPr id="614" name="Google Shape;614;p59"/>
          <p:cNvPicPr preferRelativeResize="0"/>
          <p:nvPr/>
        </p:nvPicPr>
        <p:blipFill rotWithShape="1">
          <a:blip r:embed="rId6">
            <a:alphaModFix amt="60000"/>
          </a:blip>
          <a:srcRect b="0" l="0" r="0" t="0"/>
          <a:stretch/>
        </p:blipFill>
        <p:spPr>
          <a:xfrm>
            <a:off x="10405872" y="301752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6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מפת שליטה וקוד</a:t>
            </a:r>
            <a:endParaRPr/>
          </a:p>
        </p:txBody>
      </p:sp>
      <p:pic>
        <p:nvPicPr>
          <p:cNvPr descr="control_map.png" id="621" name="Google Shape;62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595" y="1920240"/>
            <a:ext cx="4879209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60"/>
          <p:cNvSpPr/>
          <p:nvPr/>
        </p:nvSpPr>
        <p:spPr>
          <a:xfrm>
            <a:off x="1051560" y="4709160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2F6FB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ציר ברבור</a:t>
            </a:r>
            <a:endParaRPr/>
          </a:p>
        </p:txBody>
      </p:sp>
      <p:sp>
        <p:nvSpPr>
          <p:cNvPr id="623" name="Google Shape;623;p60"/>
          <p:cNvSpPr/>
          <p:nvPr/>
        </p:nvSpPr>
        <p:spPr>
          <a:xfrm>
            <a:off x="3794760" y="210312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יעד כפפה</a:t>
            </a:r>
            <a:endParaRPr/>
          </a:p>
        </p:txBody>
      </p:sp>
      <p:sp>
        <p:nvSpPr>
          <p:cNvPr id="624" name="Google Shape;624;p60"/>
          <p:cNvSpPr/>
          <p:nvPr/>
        </p:nvSpPr>
        <p:spPr>
          <a:xfrm>
            <a:off x="2057400" y="2103120"/>
            <a:ext cx="1325880" cy="384048"/>
          </a:xfrm>
          <a:prstGeom prst="roundRect">
            <a:avLst>
              <a:gd fmla="val 50000" name="adj"/>
            </a:avLst>
          </a:prstGeom>
          <a:solidFill>
            <a:srgbClr val="1F2A1A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09725" spcFirstLastPara="1" rIns="1097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גבול גזרה</a:t>
            </a:r>
            <a:endParaRPr/>
          </a:p>
        </p:txBody>
      </p:sp>
      <p:sp>
        <p:nvSpPr>
          <p:cNvPr id="625" name="Google Shape;625;p60"/>
          <p:cNvSpPr/>
          <p:nvPr/>
        </p:nvSpPr>
        <p:spPr>
          <a:xfrm>
            <a:off x="5440680" y="1783080"/>
            <a:ext cx="4709160" cy="1188720"/>
          </a:xfrm>
          <a:prstGeom prst="roundRect">
            <a:avLst>
              <a:gd fmla="val 9230" name="adj"/>
            </a:avLst>
          </a:prstGeom>
          <a:solidFill>
            <a:srgbClr val="EEF4E9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7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השפה המבצעית. </a:t>
            </a:r>
            <a:r>
              <a:rPr b="0" i="0" lang="iw-IL" sz="16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מפה שעליה הולבשו שכבות מידע טקטיות למבצע ספציפי או לגזרה.</a:t>
            </a:r>
            <a:endParaRPr/>
          </a:p>
        </p:txBody>
      </p:sp>
      <p:sp>
        <p:nvSpPr>
          <p:cNvPr id="626" name="Google Shape;626;p60"/>
          <p:cNvSpPr/>
          <p:nvPr/>
        </p:nvSpPr>
        <p:spPr>
          <a:xfrm>
            <a:off x="5440680" y="3108960"/>
            <a:ext cx="4709160" cy="868680"/>
          </a:xfrm>
          <a:prstGeom prst="roundRect">
            <a:avLst>
              <a:gd fmla="val 12631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גזרות אחריות: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קווים ברורים המפרידים בין כוחות שכנים.</a:t>
            </a:r>
            <a:endParaRPr/>
          </a:p>
        </p:txBody>
      </p:sp>
      <p:sp>
        <p:nvSpPr>
          <p:cNvPr id="627" name="Google Shape;627;p60"/>
          <p:cNvSpPr/>
          <p:nvPr/>
        </p:nvSpPr>
        <p:spPr>
          <a:xfrm>
            <a:off x="5440680" y="4069080"/>
            <a:ext cx="4709160" cy="868680"/>
          </a:xfrm>
          <a:prstGeom prst="roundRect">
            <a:avLst>
              <a:gd fmla="val 12631" name="adj"/>
            </a:avLst>
          </a:prstGeom>
          <a:solidFill>
            <a:srgbClr val="FFFFFF"/>
          </a:solidFill>
          <a:ln cap="flat" cmpd="sng" w="28575">
            <a:solidFill>
              <a:srgbClr val="C8D8B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שמות קוד: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נתיבים ("ציר ברבור"), יעדים ("יעד כפפה").</a:t>
            </a:r>
            <a:endParaRPr/>
          </a:p>
        </p:txBody>
      </p:sp>
      <p:sp>
        <p:nvSpPr>
          <p:cNvPr id="628" name="Google Shape;628;p60"/>
          <p:cNvSpPr/>
          <p:nvPr/>
        </p:nvSpPr>
        <p:spPr>
          <a:xfrm>
            <a:off x="5440680" y="5029200"/>
            <a:ext cx="4709160" cy="1005840"/>
          </a:xfrm>
          <a:prstGeom prst="roundRect">
            <a:avLst>
              <a:gd fmla="val 10909" name="adj"/>
            </a:avLst>
          </a:prstGeom>
          <a:solidFill>
            <a:srgbClr val="C8D8BD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5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תכלית: </a:t>
            </a:r>
            <a:r>
              <a:rPr b="0" i="0" lang="iw-IL" sz="1500" u="none" cap="none" strike="noStrike">
                <a:solidFill>
                  <a:srgbClr val="1F2A1A"/>
                </a:solidFill>
                <a:latin typeface="Assistant"/>
                <a:ea typeface="Assistant"/>
                <a:cs typeface="Assistant"/>
                <a:sym typeface="Assistant"/>
              </a:rPr>
              <a:t>דיווח מהיר ומאובטח בקשר ("אני מגיע ליעד כפפה") ללא חשיפת נ"צ גלוי לאויב.</a:t>
            </a:r>
            <a:endParaRPr/>
          </a:p>
        </p:txBody>
      </p:sp>
      <p:pic>
        <p:nvPicPr>
          <p:cNvPr id="629" name="Google Shape;629;p60"/>
          <p:cNvPicPr preferRelativeResize="0"/>
          <p:nvPr/>
        </p:nvPicPr>
        <p:blipFill rotWithShape="1">
          <a:blip r:embed="rId5">
            <a:alphaModFix amt="60000"/>
          </a:blip>
          <a:srcRect b="0" l="0" r="0" t="0"/>
          <a:stretch/>
        </p:blipFill>
        <p:spPr>
          <a:xfrm>
            <a:off x="10405872" y="301752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6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61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86504" y="4782989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b="1" lang="iw-IL"/>
              <a:t>מה למדנו היום?</a:t>
            </a:r>
            <a:endParaRPr/>
          </a:p>
        </p:txBody>
      </p:sp>
      <p:sp>
        <p:nvSpPr>
          <p:cNvPr id="637" name="Google Shape;637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מפה</a:t>
            </a:r>
            <a:r>
              <a:rPr lang="iw-IL" sz="1800"/>
              <a:t> - מפה לבנה, רשת קואורדינטות, קנה מידה, קריאת נ"צ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גבהים</a:t>
            </a:r>
            <a:r>
              <a:rPr lang="iw-IL" sz="1800"/>
              <a:t> - מוחלט ויחסי, תבליט, קווי גובה, נקודות גובה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תכסית</a:t>
            </a:r>
            <a:r>
              <a:rPr lang="iw-IL" sz="1800"/>
              <a:t> - סימנים, מקרא, צבעים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צורות</a:t>
            </a:r>
            <a:r>
              <a:rPr lang="iw-IL" sz="1800"/>
              <a:t> </a:t>
            </a:r>
            <a:r>
              <a:rPr b="1" lang="iw-IL" sz="1800"/>
              <a:t>שטח</a:t>
            </a:r>
            <a:r>
              <a:rPr lang="iw-IL" sz="1800"/>
              <a:t> - כיפה, שלוחה, גיא, אוכף, כיפה סמויה, רכס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מדרונות</a:t>
            </a:r>
            <a:r>
              <a:rPr lang="iw-IL" sz="1800"/>
              <a:t> - קצוב, משתנה, קעור, קמור, כתף</a:t>
            </a:r>
            <a:endParaRPr sz="1800"/>
          </a:p>
          <a:p>
            <a:pPr indent="-342900" lvl="0" marL="457200" rtl="1" algn="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◊"/>
            </a:pPr>
            <a:r>
              <a:rPr b="1" lang="iw-IL" sz="1800"/>
              <a:t>ארגז הכלים</a:t>
            </a:r>
            <a:r>
              <a:rPr lang="iw-IL" sz="1800"/>
              <a:t> - טריג, תצ"א ואורטופוטו, מפת שליטה וקוד</a:t>
            </a:r>
            <a:endParaRPr sz="1800"/>
          </a:p>
        </p:txBody>
      </p:sp>
      <p:pic>
        <p:nvPicPr>
          <p:cNvPr descr="כיצד להדפיס מפה טופוגרפית בקנ&quot;מ מדויק" id="638" name="Google Shape;638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1188720"/>
            <a:ext cx="2651760" cy="3744657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61"/>
          <p:cNvSpPr/>
          <p:nvPr/>
        </p:nvSpPr>
        <p:spPr>
          <a:xfrm>
            <a:off x="3200400" y="4983480"/>
            <a:ext cx="5577840" cy="1097280"/>
          </a:xfrm>
          <a:prstGeom prst="roundRect">
            <a:avLst>
              <a:gd fmla="val 10000" name="adj"/>
            </a:avLst>
          </a:prstGeom>
          <a:solidFill>
            <a:srgbClr val="2E5E1F"/>
          </a:solidFill>
          <a:ln>
            <a:noFill/>
          </a:ln>
          <a:effectLst>
            <a:outerShdw blurRad="76200" rotWithShape="0" algn="t" dir="5400000" dist="25400">
              <a:srgbClr val="000000">
                <a:alpha val="27843"/>
              </a:srgbClr>
            </a:outerShdw>
          </a:effectLst>
        </p:spPr>
        <p:txBody>
          <a:bodyPr anchorCtr="0" anchor="ctr" bIns="45700" lIns="137150" spcFirstLastPara="1" rIns="137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8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המפה היא נשקו של המפקד לתכנון המערכה.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קריאת התבליט, הבנת צורות השטח והתאמת המדרונות יקבעו האם הכוח ינוע בבטחה, בהיחבא, ויגיע ליעדו במצב כשירות מלא למשימה.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2"/>
          <p:cNvSpPr txBox="1"/>
          <p:nvPr>
            <p:ph type="ctrTitle"/>
          </p:nvPr>
        </p:nvSpPr>
        <p:spPr>
          <a:xfrm>
            <a:off x="4191000" y="2530475"/>
            <a:ext cx="3810000" cy="11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lang="iw-IL"/>
              <a:t>וזהו להיום?</a:t>
            </a:r>
            <a:endParaRPr/>
          </a:p>
        </p:txBody>
      </p:sp>
      <p:pic>
        <p:nvPicPr>
          <p:cNvPr id="645" name="Google Shape;64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03866" y="2436574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3"/>
          <p:cNvSpPr txBox="1"/>
          <p:nvPr>
            <p:ph type="ctrTitle"/>
          </p:nvPr>
        </p:nvSpPr>
        <p:spPr>
          <a:xfrm>
            <a:off x="3444240" y="2877720"/>
            <a:ext cx="5303520" cy="11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11111"/>
              <a:buNone/>
            </a:pPr>
            <a:r>
              <a:rPr lang="iw-IL"/>
              <a:t>סתםםםם נו יש עוד</a:t>
            </a:r>
            <a:endParaRPr/>
          </a:p>
        </p:txBody>
      </p:sp>
      <p:pic>
        <p:nvPicPr>
          <p:cNvPr id="652" name="Google Shape;6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0441" y="270510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4"/>
          <p:cNvSpPr txBox="1"/>
          <p:nvPr>
            <p:ph type="ctrTitle"/>
          </p:nvPr>
        </p:nvSpPr>
        <p:spPr>
          <a:xfrm>
            <a:off x="3444240" y="2877720"/>
            <a:ext cx="5303520" cy="11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lang="iw-IL"/>
              <a:t>הניווטיה</a:t>
            </a:r>
            <a:endParaRPr/>
          </a:p>
        </p:txBody>
      </p:sp>
      <p:pic>
        <p:nvPicPr>
          <p:cNvPr id="659" name="Google Shape;6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0441" y="2705100"/>
            <a:ext cx="14478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6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65"/>
          <p:cNvPicPr preferRelativeResize="0"/>
          <p:nvPr/>
        </p:nvPicPr>
        <p:blipFill rotWithShape="1">
          <a:blip r:embed="rId4">
            <a:alphaModFix amt="60000"/>
          </a:blip>
          <a:srcRect b="0" l="0" r="0" t="0"/>
          <a:stretch/>
        </p:blipFill>
        <p:spPr>
          <a:xfrm>
            <a:off x="9130092" y="5546717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4400"/>
              <a:buNone/>
            </a:pPr>
            <a:r>
              <a:rPr lang="iw-IL"/>
              <a:t>שו?</a:t>
            </a:r>
            <a:endParaRPr/>
          </a:p>
        </p:txBody>
      </p:sp>
      <p:sp>
        <p:nvSpPr>
          <p:cNvPr id="668" name="Google Shape;668;p65"/>
          <p:cNvSpPr txBox="1"/>
          <p:nvPr>
            <p:ph idx="1" type="body"/>
          </p:nvPr>
        </p:nvSpPr>
        <p:spPr>
          <a:xfrm>
            <a:off x="4324027" y="1790000"/>
            <a:ext cx="7460000" cy="4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SzPts val="1800"/>
              <a:buChar char="◊"/>
            </a:pPr>
            <a:r>
              <a:rPr lang="iw-IL" sz="1804"/>
              <a:t>אתר שמטרתו לעזור לכם ללמוד קריאת מפה וניווט בצורה אפקטיבית יותר!</a:t>
            </a:r>
            <a:endParaRPr/>
          </a:p>
          <a:p>
            <a:pPr indent="-342900" lvl="0" marL="457200" rtl="1" algn="r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SzPts val="1800"/>
              <a:buChar char="◊"/>
            </a:pPr>
            <a:r>
              <a:rPr lang="iw-IL" sz="1804"/>
              <a:t>כולל פעילויות אינטראקטיביות לשיוך בין דברים שנראה בשטח לבין הסימולים שלהם בתכסית</a:t>
            </a:r>
            <a:endParaRPr sz="1804"/>
          </a:p>
          <a:p>
            <a:pPr indent="-342900" lvl="0" marL="457200" rtl="1" algn="r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SzPts val="1800"/>
              <a:buChar char="◊"/>
            </a:pPr>
            <a:r>
              <a:rPr lang="iw-IL" sz="1804"/>
              <a:t> תרגולים לדקירת נ.צ ובניית צירי ניווט (יותר על זה בהמשך ☺)</a:t>
            </a:r>
            <a:endParaRPr/>
          </a:p>
          <a:p>
            <a:pPr indent="-342900" lvl="0" marL="457200" rtl="1" algn="r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SzPts val="1800"/>
              <a:buChar char="◊"/>
            </a:pPr>
            <a:r>
              <a:rPr lang="iw-IL" sz="1804"/>
              <a:t>Dark mode (חובה)</a:t>
            </a:r>
            <a:endParaRPr/>
          </a:p>
          <a:p>
            <a:pPr indent="-342900" lvl="0" marL="457200" rtl="1" algn="r">
              <a:lnSpc>
                <a:spcPct val="92000"/>
              </a:lnSpc>
              <a:spcBef>
                <a:spcPts val="200"/>
              </a:spcBef>
              <a:spcAft>
                <a:spcPts val="0"/>
              </a:spcAft>
              <a:buSzPts val="1800"/>
              <a:buChar char="◊"/>
            </a:pPr>
            <a:r>
              <a:rPr lang="iw-IL" sz="1804"/>
              <a:t>NotebookLM שלמד את החומר הזה יותר טוב מכולנו ביחד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</a:pPr>
            <a:r>
              <a:rPr lang="iw-IL" sz="1804"/>
              <a:t>למה אתם מחכים? תוציאו טלפונים / לפטופים ותרשמו: 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iw-IL" sz="1804" u="sng">
                <a:solidFill>
                  <a:schemeClr val="hlink"/>
                </a:solidFill>
                <a:hlinkClick r:id="rId5"/>
              </a:rPr>
              <a:t>https://regaj.github.io/nivutia</a:t>
            </a:r>
            <a:endParaRPr/>
          </a:p>
          <a:p>
            <a:pPr indent="-3429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iw-IL" sz="1804"/>
              <a:t> (או דרך הקה”דיה כשזה יתווסף)</a:t>
            </a:r>
            <a:endParaRPr/>
          </a:p>
        </p:txBody>
      </p:sp>
      <p:pic>
        <p:nvPicPr>
          <p:cNvPr id="669" name="Google Shape;669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680" y="2316480"/>
            <a:ext cx="4146347" cy="2671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6"/>
          <p:cNvSpPr txBox="1"/>
          <p:nvPr>
            <p:ph type="ctrTitle"/>
          </p:nvPr>
        </p:nvSpPr>
        <p:spPr>
          <a:xfrm>
            <a:off x="635000" y="2515235"/>
            <a:ext cx="10922000" cy="11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6000"/>
              <a:buNone/>
            </a:pPr>
            <a:r>
              <a:rPr lang="iw-IL"/>
              <a:t>וזהו לשיעור הזה אבל באמת הפעם</a:t>
            </a:r>
            <a:endParaRPr/>
          </a:p>
        </p:txBody>
      </p:sp>
      <p:sp>
        <p:nvSpPr>
          <p:cNvPr id="675" name="Google Shape;675;p66"/>
          <p:cNvSpPr txBox="1"/>
          <p:nvPr/>
        </p:nvSpPr>
        <p:spPr>
          <a:xfrm>
            <a:off x="4295667" y="3617795"/>
            <a:ext cx="36006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8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״הדרך ארוכה ומפותלת...״</a:t>
            </a:r>
            <a:endParaRPr b="0" i="0" sz="28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76" name="Google Shape;6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161" y="3236674"/>
            <a:ext cx="4790661" cy="392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7088" y="3672111"/>
            <a:ext cx="14478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6"/>
          <p:cNvSpPr txBox="1"/>
          <p:nvPr/>
        </p:nvSpPr>
        <p:spPr>
          <a:xfrm>
            <a:off x="1828800" y="425196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שאלות? </a:t>
            </a:r>
            <a:r>
              <a:rPr b="0" i="0" lang="iw-IL" sz="2000" u="none" cap="none" strike="noStrike">
                <a:solidFill>
                  <a:srgbClr val="73985A"/>
                </a:solidFill>
                <a:latin typeface="Assistant"/>
                <a:ea typeface="Assistant"/>
                <a:cs typeface="Assistant"/>
                <a:sym typeface="Assistant"/>
              </a:rPr>
              <a:t>הזמן לעבור מהתיאוריה למעשה בשטח.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2E5E1F"/>
                </a:solidFill>
                <a:latin typeface="Assistant"/>
                <a:ea typeface="Assistant"/>
                <a:cs typeface="Assistant"/>
                <a:sym typeface="Assistant"/>
              </a:rPr>
              <a:t>תודה רבה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קקס יום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