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</p:sldIdLst>
  <p:sldSz cy="6858000" cx="12192000"/>
  <p:notesSz cx="6858000" cy="9144000"/>
  <p:embeddedFontLst>
    <p:embeddedFont>
      <p:font typeface="Assistant"/>
      <p:regular r:id="rId69"/>
      <p:bold r:id="rId70"/>
    </p:embeddedFont>
    <p:embeddedFont>
      <p:font typeface="Heebo ExtraBold"/>
      <p:bold r:id="rId7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D97ADCB-E6CE-4AFA-8568-8848F474D579}">
  <a:tblStyle styleId="{1D97ADCB-E6CE-4AFA-8568-8848F474D57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HeeboExtraBold-bold.fntdata"/><Relationship Id="rId70" Type="http://schemas.openxmlformats.org/officeDocument/2006/relationships/font" Target="fonts/Assistant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Assistant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פתיחה — ׳במקום שבו נגמרת המפה׳. היום עוברים מהמפה אל הכלים: מד״קו, מצפן ורשת.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לעבור מהר. להדגיש: היום שיעור מעשי — מד״קו ביד כל הזמן</a:t>
            </a: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מפת דרכים: היום פרקטיקה — הכלים של הנווט + נדב״ר.</a:t>
            </a:r>
            <a:endParaRPr sz="1100"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ששת הנושאים בונים זה על זה: המד״קו נותן נ״צ מדויק, שושנת הרוחות נותנת שפת כיוונים כללית, המרחק והאזימוט מגדירים את הקטע, המצפן מבצע אותו בשטח והנדב״ר מדווח עליו. מספור התרגולים ממשיך משיעור 01.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ריענון מהשיעור הקודם. לשאול לפני שמראים: מי זוכר מה ההבדל בין שלוחה לגיא? מהי כיפה סמויה?</a:t>
            </a:r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וכמובן הניווטיה — מי שתרגל שירים יד.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פתיחת פרק קואורדינטות.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לחלק מד״קואים עכשיו! כל ההמשך מעשי.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לתת דקה למשש: סרגל, מד זווית, חוט. מהיום זה הכלי הכי חשוב אחרי המפה.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לבקש מהחניכים להצביע על כל אחד מארבעת החלקים במד״קו שלהם. לאורך המצגת, בכל תרגיל מופיע 'החלק במד״קו' עם המספר הזה.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כלל ברזל: לפני כל מדידה בודקים שקנה המידה על המד״קו זהה לקנה המידה של המפה.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חזרה על תיאור משבצת ואז השאלה: איך מדייקים בתוך המשבצת? זה הפער שהמד״קו סוגר.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לב השיעור. להדגים על הלוח שלב-שלב: מיישרים את המד״קו, קוראים ימינה ואז למעלה.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כלל הזהב: קודם אורך (מזרחה) ואז רוחב (צפונה).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טעות נפוצה: להפוך את הסדר — נ.צ. הפוך שולח לקילומטרים משם.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ארבעה שלבים. קישור לשיעור 01: זה בדיוק 'ימינה ולמעלה' - המד״קו רק מחליף את ההערכה בעין במדידה.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טעויות נפוצות: סרגל של קנה מידה אחר, ספירה מפינה לא נכונה, קריאת Y לפני X.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נ״צ 6 ספרות = רמת 100 מ', 8 ספרות = רמת 10 מ'. בקשר ובפקודות משתמשים לרוב בפורמט מקוצר - לפי נוהל היחידה.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תרגול בזוגות עם מד״קו אמיתי. לעבור בין הזוגות.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מי שסיים מהר — שיבדוק את החבר. לוודא שכולם מיישרים את המד״קו על המשבצת הנכונה.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המפה הזו תשמש בכל התרגולים היום, עם ארבע נקודות: A, B, C, D. 2–3 דקות.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לבדוק שהחניכים מתחילים מהפינה השמאלית התחתונה הנכונה (192000 / 741000).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טעות נפוצה: לקרוא 741000 + 100 כי מתחילים מהפינה העליונה - תמיד מלמטה למעלה.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את הנ״צ של שאר הנקודות נותנים כדף עזר: A = 189800/740100, C = 193000/740900, D = 190600/741900.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מעבר — שושנת הרוחות. הציטוט לקריצה.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ארבעה ראשיים + ארבעה כיווני ביניים. לתרגל בעל־פה: אני אומר כיוון — אתם מצביעים.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לחבר לשיעור 01: ציר X גדל מזרחה (ימינה) וציר Y גדל צפונה (למעלה) - רשת הקואורדינטות כבר 'מכוונת' לפי שושנת הרוחות.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לתרגל בעל פה: מה המעלות של דרום-מערב? (225). איזה כיוון הוא 315? (צפון-מערב). בשטח לרוב משתמשים ב-8 כיוונים.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אלה שיטות גיבוי בלבד. כיוון השמש בזריחה ובשקיעה זז צפונה בקיץ ודרומה בחורף, ולכן זה קירוב. המטרה: שהקצין יוכל לאמת את המצפן ולזהות טעות גסה.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בדיקת השפיות היא הרגל חשוב: אחרי כל חישוב אזימוט, החניך שואל את עצמו אם התוצאה מתאימה לכיוון הכללי במפה. כך תופסים טעויות של 180°.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'מ-D' = עומדים ב-D ומסתכלים אל C. לא מבקשים עדיין מספר - רק גזרה.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113° נמצא בגזרת מזרח-דרום-מזרח (101.25°–123.75°). ב-8 כיוונים הוא ממש על הגבול בין מזרח לדרום-מזרח - הזדמנות להסביר למה לפעמים צריך 16 כיוונים או מספר מדויק. בהמשך נקרא את המספר המדויק באותה הנחה בדיוק.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אזימוט = הזווית מהצפון, עם כיוון השעון. תמיד מהצפון!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להדגים עם היד: צפון, ואז לפתוח את הזווית.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להדגים על הלוח את המדידה עם החוט. המעגל הכחול = יוצא.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לוודא שכולם רואים מאיפה מתחילים למדוד (מהנווט אל המטרה).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אזימוט חוזר = איך המטרה רואה אותי. המעגל הירוק, או +180/-180.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תרגיל מהיר: יוצא 270 — מה החוזר? (90).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איתור עצמי (חיתוך לאחור): מודדים אזימוט לשתי נקודות מוכרות, מחשבים לכל אחת אזימוט חוזר ומשרטטים שני קווים מהנקודות. החיתוך הוא המיקום שלנו. כדאי להזכיר בעיקר כרעיון ולתרגל בשטח.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דוגמה: אזימוט 53° = 53 × 17.78 ≈ 945 אלפיות. 90° = 1600, 180° = 3200, 270° = 4800.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ההמחשה של 'מטר לקילומטר' מאפשרת לקצין לתקן ירי או לתאר מיקום בתצפית. יש מצפנים ומד״קואים המסומנים גם באלפיות - לבדוק מה יש ביחידה.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הערך של כ-5° מזרחה מבוסס על המודל המגנטי העולמי WMM2025 לירושלים. הסטייה משתנה לאט עם השנים, ולכן תמיד בודקים בשולי המפה.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בהעברה ממפה למצפן: מפחיתים סטייה מזרחית. ממצפן למפה: מוסיפים. בסטייה של 5° על 1 ק״מ מקבלים טעות צד של כ-87 מטר - מספיק כדי לפספס יעד בלילה.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בדיקת שפיות: B בצפון-מזרח, ולכן התשובה חייבת להיות בין 0° ל-90°.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הטעות הנפוצה: מד הזווית מסובב ולא מיושר לרשת, או שהמרכז לא בדיוק על הנקודה. האזימוט שנמדד כך הוא אזימוט רשת - כדי ללכת איתו עם מצפן מתקנים לסטייה המגנטית.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לחלק מצפנים. לתת רגע לשחק עם המחט.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שני הדגשים: מקביל לקרקע, וקו ראייה אחד — עין-מנסרה-נימה-מטרה.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להדגים על עצם בכיתה: כל אחד מודד אזימוט לדלת/חלון ומשווים.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זה הרגע שבו המד״קו והמצפן נפגשים. המד״קו מודד יחסית לצפון הרשת, המצפן יחסית לצפון המגנטי - לכן תמיד מתקנים.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5° הוא ערך לדוגמה - הערך המחייב בשולי המפה שבידי הכוח (זווית G-M). לחכות שהחוגה תתייצב לפני הקריאה; מומלץ למדוד פעמיים.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לתרגל בחושך או בעיניים עצומות: לספור קליקים במגע. כיוון סיבוב הטבעת וגודל הקליק משתנים בין דגמים - לוודא מול המצפן הקיים ביחידה. עיגול של 1.5° על 2 ק״מ = כ-50 מטר טעות צד, לרוב סביר.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הצפנת מפה: צפון המפה אל צפון השטח. להדגים סיבוב מפה עם מצפן עליה.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מפה מוצפנת = כל מה שרואים במפה יושב באותו כיוון בשטח.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המרחקים לקוחים מתורת הניווט האמריקאית (FM 3-25.26) ומשמשים כקווים מנחים כלליים. לבדוק אם קיימת הנחיה שונה ביחידה.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לעבוד בזוגות עם מצפן אמיתי ולכוון בפועל. אותו קטע A→B מתרגול 08 - כך החניכים רואים את כל השרשרת מהמפה למצפן.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טעות הצד: 3000 × tan(5°) ≈ 262 מטר. אזימוט חוזר מגנטי לחזרה: 48° + 180° = 228° = 76 קליקים.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מרחק אווירי = בקו ישר. תמיד קצר מהמרחק בפועל — בשטח יש עליות ופיתולים.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המרחק האווירי משמש גם למיקום יחסי ('800 מטר צפונית ליעד') ולטווחי נשק ותצפית. מרחק בפועל משמש לתכנון זמני תנועה ועומס על הכוח.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חישוב: מרחק בשטח = מרחק במפה × המכנה של קנה המידה. 3 ס״מ × 50,000 = 150,000 ס״מ = 1,500 מטר.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רצועת נייר: מניחים את שפת הנייר על הציר, מסמנים התחלה, ובכל עיקול מסובבים וממשיכים לסמן. בסוף מניחים על סרגל המד״קו וקוראים את המרחק המצטבר.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מדידה עם סרגל המד״קו בקנ״מ 1:50,000. להדגים על הלוח.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תרגול קצר: כל זוג מודד מרחק בין שתי נקודות שנתתי.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מסלול שלם: החוט של המד״קו לאורך המסלול, ואז מודדים את החוט.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להדגים פיזית — זה הטריק שהם יזכרו.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הקצב של 4 קמ״ש הוא הנחה לדוגמה בלבד - להחליף בקצב שהיחידה עובדת לפיו. הנקודה החשובה: את השיפוע מתרגמים לזמן ולמאמץ, לא למרחק.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בדיקת שפיות: B נמצאת בערך 2.4 משבצות ימינה ו-1.8 למעלה - המרחק צריך להיות בסביבות 3 ק״מ.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אם חניך קיבל 6,000 או 1,500 - כמעט תמיד השתמש בסרגל של קנה מידה אחר. זו ההזדמנות לחזור על כלל הברזל.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'מרחק + אזימוט' הוא ההגדרה המלאה של קטע ניווט - זה מה שהולך לכרטיס הניווט ולמצפן.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סיכום ביניים לפני נדב״ר. לשאול: נ.צ., אזימוט יוצא/חוזר, הצפנה — מי מסביר?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מעבר: עד עכשיו דיברנו עם המפה. עכשיו — איך מדברים ברשת.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חושב, לוחץ, מדבר — שלוש מילים שמסדרות הכל.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למה נדב״ר: רשת אחת לכולם, קצר וברור. בלי זה — בלגן ואי הבנות מסוכנות.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קישור לשקף 'מפת שליטה וקוד' בשיעור 01: שמות קוד לצירים וליעדים קיימים כדי שאפשר יהיה לדווח בקשר בלי לחשוף נ״צ גלוי. הנדב״ר הוא החלק 'המדובר' של אותו רעיון.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מבנה ההודעה בטבלה. לתרגל מיד: כל חניך בונה הודעה לפי המבנה ומשדר בקול.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שמות הקוד 'ציר ברבור' ו'יעד כפפה' לקוחים מהדוגמה בשיעור 01. לשים לב: אין נ״צ גלוי, ההודעה קצרה, ויש בה מיקום, כוונה וזמן. אופן הקריאה המדויק (סדר אות הקריאה) לפי נוהל היחידה.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עבור/רות/היישר/סוף. לחדד: סוף — רק דרג בכיר.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תרגול מהיר: אני משדר, אתם עונים בסיומת הנכונה.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החצי הראשון — אנשים. לעבור מונח-מונח ולתת לכיתה לנחש לפני החשיפה.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לעצור על תאילנד/אנגליה: אלה סוף והתחלה של תרגיל — קל להתבלבל ביניהם.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משחק: אני אומר מונח, אתם אומרים מה זה.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החצי השני — ציוד ומצבים. שוב סבב ניחושים.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המבלבלים כאן: חצאית (חיילת) מול שמשות (פנסים) — לחזור עליהם.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לסיום: סבב מהיר על שתי השקופיות יחד.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מילים לתוכן (מהמצגת המורחבת): קטנה = דקה, ארוך = קילומטר, שחור = כביש, כחול = ים. 'כאן' פותח שידור ומזהה את המשדר. המילון המלא ואותות הקריאה - לפי נוהלי היחידה.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7" name="Google Shape;677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אמור שנית — הקולט לא הבין. לעולם לא ׳חזור׳! חזור = בצע שוב את הפקודה.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להמחיז את הדוגמה בקול.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5" name="Google Shape;685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הקרא — המשדר מוודא שקלטו אותו. ההבדל מאמור שנית: מי מבקש ממי.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לתרגל בזוגות: אחד משדר, השני מקריא חזרה.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קבל תיקון — לתקן הודעה שגויה בלי בלבול.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1" name="Google Shape;701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איות פונטי — כששתי מילים נשמעות דומה.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להמחיז: שלהבת מול שלכת בקשר רועש.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חצי ראשון של הא״ב הצלילי. לא לשנן הכל עכשיו.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תרגול: כל חניך מאיית את השם הפרטי שלו בקול, לפי הטבלה.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חצי שני. לשים לב לצמדים שנשמעים דומה בקשר רועש.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תרגול: כל חניך מאיית את שם המשפחה שלו. מי שנתקע — הכיתה עוזרת.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5" name="Google Shape;725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חיובי/שלילי במקום כן/לא — מילים בנות הברה אחת הולכות לאיבוד ברעש.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3" name="Google Shape;733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חשוב: מודדים מנקודת הקוד אלינו, כי מי שמקבל את הדיווח מסתכל על נקודת הקוד ומשם סופר. אם חייבים להעביר נ״צ - לפי נוהל ההצפנה של היחידה.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4" name="Google Shape;744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הכללים הם עקרונות כלליים של עבודה ברשת קשר. סדר הכרטיסים מימין לשמאל: 1 עד 3 בשורה הראשונה ו-4 עד 6 בשנייה. כלל 1 הוא בדיוק 'חושב, לוחץ, מדבר'.</a:t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9" name="Google Shape;769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אתם תחנה 2, בנקודה הכחולה. נקודת הקוד הקרובה: 'יעד כפפה' (B) - שם קוד בדוי לנקודה B. לבקש מזוגות לבצע את השיחה בקול.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217° נמצא בגזרת דרום-מערב (202.5°–247.5°). לבדוק: אין נ״צ גלוי, המדידה נעשתה מנקודת הקוד אל הכוח (ולא להפך - אחרת היו מקבלים צפון-מזרח), יש 'עבור' ו'סוף' במקומות הנכונים.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קודקוד: 'כאן קודקוד, עבור'.</a:t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9" name="Google Shape;789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זה סדר העבודה שהקצין צריך להפנים. לשאול: איפה בכל שלב אפשר לטעות, ואיך שלב אחר תופס את הטעות? (למשל שושנת הרוחות תופסת טעות 180° באזימוט).</a:t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5" name="Google Shape;815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עבודה בצוותים של 3–4 חניכים, כ-10 דקות. כל צוות מציג את התכנון ומבצע את הדיווח בקשר.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256° נמצא בגזרת מערב ב-8 כיוונים (247.5°–292.5°), וב-16 כיוונים: מערב-דרום-מערב. מגנטי: 256 − 5 = 251°, 251 ÷ 3 ≈ 83.7 → 84 קליקים = 252°. בדיווח לא מופיע נ״צ גלוי.</a:t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8" name="Google Shape;838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סיכום. תרגול סגירה: סבב הודעות קצרות ברשת כיתתית לפי כל הכללים.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שיעור הבא: בונים ציר ניווט אמיתי.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המסר המסכם: לתכנן, לבצע, לדווח. לחבר לסיכום שיעור 01 - 'המפה היא נשקו של המפקד'.</a:t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6" name="Google Shape;856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יש לאמת ערכים מקומיים (סטייה מגנטית, אותות קריאה, קצב תנועה) מול המפה ונוהלי היחידה.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ראשית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תוכן">
  <p:cSld name="כותרת ותוכן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◊"/>
              <a:defRPr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פרק מימין">
  <p:cSld name="כותרת פרק מימין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3874576" y="604434"/>
            <a:ext cx="4494509" cy="5594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 txBox="1"/>
          <p:nvPr>
            <p:ph type="ctrTitle"/>
          </p:nvPr>
        </p:nvSpPr>
        <p:spPr>
          <a:xfrm>
            <a:off x="4885188" y="1153360"/>
            <a:ext cx="709499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  <a:defRPr b="1"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4885188" y="3633035"/>
            <a:ext cx="709499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29" name="Google Shape;29;p4"/>
          <p:cNvPicPr preferRelativeResize="0"/>
          <p:nvPr/>
        </p:nvPicPr>
        <p:blipFill rotWithShape="1">
          <a:blip r:embed="rId2">
            <a:alphaModFix amt="75000"/>
          </a:blip>
          <a:srcRect b="0" l="0" r="0" t="0"/>
          <a:stretch/>
        </p:blipFill>
        <p:spPr>
          <a:xfrm>
            <a:off x="491588" y="1497980"/>
            <a:ext cx="3855287" cy="3790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פרק משמאל">
  <p:cSld name="כותרת פרק משמאל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3874576" y="604434"/>
            <a:ext cx="4494509" cy="5594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5"/>
          <p:cNvSpPr txBox="1"/>
          <p:nvPr>
            <p:ph type="ctrTitle"/>
          </p:nvPr>
        </p:nvSpPr>
        <p:spPr>
          <a:xfrm>
            <a:off x="266699" y="1153360"/>
            <a:ext cx="709499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  <a:defRPr b="1"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subTitle"/>
          </p:nvPr>
        </p:nvSpPr>
        <p:spPr>
          <a:xfrm>
            <a:off x="266699" y="3633035"/>
            <a:ext cx="709499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34" name="Google Shape;34;p5"/>
          <p:cNvPicPr preferRelativeResize="0"/>
          <p:nvPr/>
        </p:nvPicPr>
        <p:blipFill rotWithShape="1">
          <a:blip r:embed="rId2">
            <a:alphaModFix amt="75000"/>
          </a:blip>
          <a:srcRect b="0" l="0" r="0" t="0"/>
          <a:stretch/>
        </p:blipFill>
        <p:spPr>
          <a:xfrm>
            <a:off x="8070014" y="1497980"/>
            <a:ext cx="3855287" cy="3790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וכן מימין">
  <p:cSld name="תוכן מימין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>
            <a:off x="3874576" y="604434"/>
            <a:ext cx="4494509" cy="5594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◊"/>
              <a:defRPr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9" name="Google Shape;39;p6"/>
          <p:cNvPicPr preferRelativeResize="0"/>
          <p:nvPr/>
        </p:nvPicPr>
        <p:blipFill rotWithShape="1">
          <a:blip r:embed="rId2">
            <a:alphaModFix amt="78000"/>
          </a:blip>
          <a:srcRect b="0" l="0" r="0" t="0"/>
          <a:stretch/>
        </p:blipFill>
        <p:spPr>
          <a:xfrm>
            <a:off x="83326" y="1915629"/>
            <a:ext cx="3791250" cy="3737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וכן משמאל">
  <p:cSld name="תוכן משמאל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/>
          <p:nvPr/>
        </p:nvSpPr>
        <p:spPr>
          <a:xfrm>
            <a:off x="3874576" y="604434"/>
            <a:ext cx="4494509" cy="5594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853996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◊"/>
              <a:defRPr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4" name="Google Shape;44;p7"/>
          <p:cNvPicPr preferRelativeResize="0"/>
          <p:nvPr/>
        </p:nvPicPr>
        <p:blipFill rotWithShape="1">
          <a:blip r:embed="rId2">
            <a:alphaModFix amt="75000"/>
          </a:blip>
          <a:srcRect b="0" l="0" r="0" t="0"/>
          <a:stretch/>
        </p:blipFill>
        <p:spPr>
          <a:xfrm>
            <a:off x="8070014" y="1497980"/>
            <a:ext cx="3855287" cy="3790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6.xml"/><Relationship Id="rId9" Type="http://schemas.openxmlformats.org/officeDocument/2006/relationships/slideLayout" Target="../slideLayouts/slideLayout5.xml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 amt="25000"/>
          </a:blip>
          <a:srcRect b="0" l="0" r="0" t="0"/>
          <a:stretch/>
        </p:blipFill>
        <p:spPr>
          <a:xfrm>
            <a:off x="3519241" y="1108898"/>
            <a:ext cx="5167838" cy="464020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1" y="-43772"/>
            <a:ext cx="12206318" cy="420252"/>
          </a:xfrm>
          <a:prstGeom prst="rect">
            <a:avLst/>
          </a:prstGeom>
          <a:solidFill>
            <a:srgbClr val="AAD3A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8" name="Google Shape;8;p1"/>
          <p:cNvSpPr/>
          <p:nvPr/>
        </p:nvSpPr>
        <p:spPr>
          <a:xfrm>
            <a:off x="1" y="6336640"/>
            <a:ext cx="12191999" cy="420252"/>
          </a:xfrm>
          <a:prstGeom prst="rect">
            <a:avLst/>
          </a:prstGeom>
          <a:solidFill>
            <a:srgbClr val="AAD3A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w-IL" sz="18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						</a:t>
            </a:r>
            <a:endParaRPr b="0" i="0" sz="18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9" name="Google Shape;9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  <a:defRPr b="1" i="0" sz="4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1" algn="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AAD3AF"/>
              </a:buClr>
              <a:buSzPts val="2800"/>
              <a:buFont typeface="Helvetica Neue"/>
              <a:buChar char="◊"/>
              <a:defRPr b="0" i="0" sz="28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-228600" lvl="1" marL="914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-355600" lvl="2" marL="1371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-342900" lvl="3" marL="1828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-342900" lvl="4" marL="22860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/>
        </p:nvSpPr>
        <p:spPr>
          <a:xfrm>
            <a:off x="5769962" y="76300"/>
            <a:ext cx="666396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iw-IL" sz="10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- בלמ"ס -</a:t>
            </a:r>
            <a:endParaRPr b="0" i="0" sz="14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8610600" y="-29094"/>
            <a:ext cx="3342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w-IL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"ממפה תראו וכך תנווטו" (לא משופטים ז', י"ז)</a:t>
            </a:r>
            <a:endParaRPr b="0" i="0" sz="14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11569946" y="35961"/>
            <a:ext cx="420225" cy="590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120" y="166354"/>
            <a:ext cx="807777" cy="807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עיגול, צבעוני&#10;&#10;התיאור נוצר באופן אוטומטי" id="15" name="Google Shape;1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6897" y="148645"/>
            <a:ext cx="1143356" cy="84319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 txBox="1"/>
          <p:nvPr/>
        </p:nvSpPr>
        <p:spPr>
          <a:xfrm>
            <a:off x="4424860" y="6336640"/>
            <a:ext cx="3342280" cy="420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w-IL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קורס קציני סייבר</a:t>
            </a:r>
            <a:endParaRPr b="1" i="0" sz="14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8011520" y="6336640"/>
            <a:ext cx="3342280" cy="420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w-IL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- בלמ״ס -</a:t>
            </a:r>
            <a:endParaRPr b="1" i="0" sz="14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-228014" y="6336640"/>
            <a:ext cx="2132428" cy="420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iw-IL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‹#›</a:t>
            </a:fld>
            <a:endParaRPr b="1" i="0" sz="14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5"/>
    <p:sldLayoutId id="2147483649" r:id="rId6"/>
    <p:sldLayoutId id="2147483650" r:id="rId7"/>
    <p:sldLayoutId id="2147483651" r:id="rId8"/>
    <p:sldLayoutId id="2147483652" r:id="rId9"/>
    <p:sldLayoutId id="2147483653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jp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2.jpg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28.png"/><Relationship Id="rId5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29.png"/><Relationship Id="rId6" Type="http://schemas.openxmlformats.org/officeDocument/2006/relationships/image" Target="../media/image20.png"/><Relationship Id="rId7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5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Relationship Id="rId6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30.png"/><Relationship Id="rId5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3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3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33.png"/><Relationship Id="rId5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9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Relationship Id="rId4" Type="http://schemas.openxmlformats.org/officeDocument/2006/relationships/image" Target="../media/image33.png"/><Relationship Id="rId5" Type="http://schemas.openxmlformats.org/officeDocument/2006/relationships/image" Target="../media/image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Relationship Id="rId4" Type="http://schemas.openxmlformats.org/officeDocument/2006/relationships/image" Target="../media/image32.png"/><Relationship Id="rId5" Type="http://schemas.openxmlformats.org/officeDocument/2006/relationships/image" Target="../media/image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3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3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png"/><Relationship Id="rId4" Type="http://schemas.openxmlformats.org/officeDocument/2006/relationships/image" Target="../media/image31.png"/><Relationship Id="rId5" Type="http://schemas.openxmlformats.org/officeDocument/2006/relationships/image" Target="../media/image44.png"/><Relationship Id="rId6" Type="http://schemas.openxmlformats.org/officeDocument/2006/relationships/image" Target="../media/image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8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.png"/><Relationship Id="rId4" Type="http://schemas.openxmlformats.org/officeDocument/2006/relationships/image" Target="../media/image42.png"/><Relationship Id="rId5" Type="http://schemas.openxmlformats.org/officeDocument/2006/relationships/image" Target="../media/image36.png"/><Relationship Id="rId6" Type="http://schemas.openxmlformats.org/officeDocument/2006/relationships/image" Target="../media/image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ctrTitle"/>
          </p:nvPr>
        </p:nvSpPr>
        <p:spPr>
          <a:xfrm>
            <a:off x="1524000" y="13509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6000"/>
              <a:buNone/>
            </a:pPr>
            <a:r>
              <a:rPr lang="iw-IL"/>
              <a:t>ניווטים שוב</a:t>
            </a:r>
            <a:endParaRPr/>
          </a:p>
        </p:txBody>
      </p:sp>
      <p:sp>
        <p:nvSpPr>
          <p:cNvPr id="50" name="Google Shape;50;p8"/>
          <p:cNvSpPr txBox="1"/>
          <p:nvPr>
            <p:ph idx="1" type="subTitle"/>
          </p:nvPr>
        </p:nvSpPr>
        <p:spPr>
          <a:xfrm>
            <a:off x="1524000" y="342900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1"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iw-IL"/>
              <a:t>במקום שבו נגמרת המפה - שם מתחיל הניווט.</a:t>
            </a:r>
            <a:endParaRPr/>
          </a:p>
        </p:txBody>
      </p:sp>
      <p:sp>
        <p:nvSpPr>
          <p:cNvPr id="51" name="Google Shape;51;p8"/>
          <p:cNvSpPr txBox="1"/>
          <p:nvPr/>
        </p:nvSpPr>
        <p:spPr>
          <a:xfrm>
            <a:off x="1527048" y="420624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0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שיעור 02 · מהמפה אל השטח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מד״קו, שושנת הרוחות, אזימוט, מצפן צבאי, מרחק אווירי ונדב״ר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מטרות השיעור</a:t>
            </a:r>
            <a:endParaRPr/>
          </a:p>
        </p:txBody>
      </p:sp>
      <p:grpSp>
        <p:nvGrpSpPr>
          <p:cNvPr id="57" name="Google Shape;57;p9"/>
          <p:cNvGrpSpPr/>
          <p:nvPr/>
        </p:nvGrpSpPr>
        <p:grpSpPr>
          <a:xfrm>
            <a:off x="1245184" y="1536792"/>
            <a:ext cx="10108615" cy="4422167"/>
            <a:chOff x="0" y="50891"/>
            <a:chExt cx="10108615" cy="4422167"/>
          </a:xfrm>
        </p:grpSpPr>
        <p:sp>
          <p:nvSpPr>
            <p:cNvPr id="58" name="Google Shape;58;p9"/>
            <p:cNvSpPr/>
            <p:nvPr/>
          </p:nvSpPr>
          <p:spPr>
            <a:xfrm>
              <a:off x="0" y="50891"/>
              <a:ext cx="10108615" cy="804960"/>
            </a:xfrm>
            <a:prstGeom prst="roundRect">
              <a:avLst>
                <a:gd fmla="val 16667" name="adj"/>
              </a:avLst>
            </a:prstGeom>
            <a:solidFill>
              <a:srgbClr val="166020"/>
            </a:solidFill>
            <a:ln>
              <a:noFill/>
            </a:ln>
            <a:effectLst>
              <a:outerShdw blurRad="50800" rotWithShape="0" algn="t" dir="54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9"/>
            <p:cNvSpPr txBox="1"/>
            <p:nvPr/>
          </p:nvSpPr>
          <p:spPr>
            <a:xfrm>
              <a:off x="39295" y="90186"/>
              <a:ext cx="10030025" cy="7263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1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iw-IL" sz="2800" u="none" cap="none" strike="noStrike">
                  <a:solidFill>
                    <a:schemeClr val="lt1"/>
                  </a:solidFill>
                  <a:latin typeface="Heebo ExtraBold"/>
                  <a:ea typeface="Heebo ExtraBold"/>
                  <a:cs typeface="Heebo ExtraBold"/>
                  <a:sym typeface="Heebo ExtraBold"/>
                </a:rPr>
                <a:t>מטרת העל</a:t>
              </a:r>
              <a:endParaRPr b="1" i="0" sz="2800" u="none" cap="none" strike="noStrike">
                <a:solidFill>
                  <a:schemeClr val="lt1"/>
                </a:solidFill>
                <a:latin typeface="Heebo ExtraBold"/>
                <a:ea typeface="Heebo ExtraBold"/>
                <a:cs typeface="Heebo ExtraBold"/>
                <a:sym typeface="Heebo ExtraBold"/>
              </a:endParaRPr>
            </a:p>
          </p:txBody>
        </p:sp>
        <p:sp>
          <p:nvSpPr>
            <p:cNvPr id="60" name="Google Shape;60;p9"/>
            <p:cNvSpPr/>
            <p:nvPr/>
          </p:nvSpPr>
          <p:spPr>
            <a:xfrm>
              <a:off x="0" y="829069"/>
              <a:ext cx="10108615" cy="712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9"/>
            <p:cNvSpPr txBox="1"/>
            <p:nvPr/>
          </p:nvSpPr>
          <p:spPr>
            <a:xfrm>
              <a:off x="0" y="829069"/>
              <a:ext cx="10108615" cy="712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320925" spcFirstLastPara="1" rIns="142225" wrap="square" tIns="25400">
              <a:noAutofit/>
            </a:bodyPr>
            <a:lstStyle/>
            <a:p>
              <a:pPr indent="-342900" lvl="1" marL="457200" marR="0" rtl="1" algn="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AD3AF"/>
                </a:buClr>
                <a:buSzPts val="1800"/>
                <a:buFont typeface="Helvetica Neue"/>
                <a:buChar char="◊"/>
              </a:pPr>
              <a:r>
                <a:rPr b="0" i="0" lang="iw-IL" sz="20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הצוער יפיק נתוני ניווט מהמפה בעזרת המד״קו וינהל קשר תקין ברשת</a:t>
              </a:r>
              <a:endParaRPr b="0" i="0" sz="20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>
              <a:off x="0" y="1371897"/>
              <a:ext cx="10108615" cy="804960"/>
            </a:xfrm>
            <a:prstGeom prst="roundRect">
              <a:avLst>
                <a:gd fmla="val 16667" name="adj"/>
              </a:avLst>
            </a:prstGeom>
            <a:solidFill>
              <a:srgbClr val="96A896"/>
            </a:solidFill>
            <a:ln>
              <a:noFill/>
            </a:ln>
            <a:effectLst>
              <a:outerShdw blurRad="50800" rotWithShape="0" algn="t" dir="54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9"/>
            <p:cNvSpPr txBox="1"/>
            <p:nvPr/>
          </p:nvSpPr>
          <p:spPr>
            <a:xfrm>
              <a:off x="39295" y="1411192"/>
              <a:ext cx="10030025" cy="7263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1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iw-IL" sz="2800" u="none" cap="none" strike="noStrike">
                  <a:solidFill>
                    <a:schemeClr val="lt1"/>
                  </a:solidFill>
                  <a:latin typeface="Heebo ExtraBold"/>
                  <a:ea typeface="Heebo ExtraBold"/>
                  <a:cs typeface="Heebo ExtraBold"/>
                  <a:sym typeface="Heebo ExtraBold"/>
                </a:rPr>
                <a:t>מטרות ביניים</a:t>
              </a:r>
              <a:endParaRPr b="1" i="0" sz="2800" u="none" cap="none" strike="noStrike">
                <a:solidFill>
                  <a:schemeClr val="lt1"/>
                </a:solidFill>
                <a:latin typeface="Heebo ExtraBold"/>
                <a:ea typeface="Heebo ExtraBold"/>
                <a:cs typeface="Heebo ExtraBold"/>
                <a:sym typeface="Heebo ExtraBold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>
              <a:off x="0" y="2247808"/>
              <a:ext cx="10108615" cy="2225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 txBox="1"/>
            <p:nvPr/>
          </p:nvSpPr>
          <p:spPr>
            <a:xfrm>
              <a:off x="0" y="2247808"/>
              <a:ext cx="10108615" cy="2225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320925" spcFirstLastPara="1" rIns="142225" wrap="square" tIns="25400">
              <a:noAutofit/>
            </a:bodyPr>
            <a:lstStyle/>
            <a:p>
              <a:pPr indent="-342900" lvl="1" marL="457200" marR="0" rtl="1" algn="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AD3AF"/>
                </a:buClr>
                <a:buSzPts val="1800"/>
                <a:buFont typeface="Helvetica Neue"/>
                <a:buChar char="◊"/>
              </a:pPr>
              <a:r>
                <a:rPr b="0" i="0" lang="iw-IL" sz="20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הצוער יחלץ נ.צ. מדויק בעזרת המד״קו</a:t>
              </a:r>
              <a:endParaRPr b="0" i="0" sz="20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-342900" lvl="1" marL="457200" marR="0" rtl="1" algn="r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AAD3AF"/>
                </a:buClr>
                <a:buSzPts val="1800"/>
                <a:buFont typeface="Helvetica Neue"/>
                <a:buChar char="◊"/>
              </a:pPr>
              <a:r>
                <a:rPr b="0" i="0" lang="iw-IL" sz="20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הצוער ימדוד אזימוט יוצא וחוזר ויפעיל את המצפן הצבאי</a:t>
              </a:r>
              <a:endParaRPr/>
            </a:p>
            <a:p>
              <a:pPr indent="-342900" lvl="1" marL="457200" marR="0" rtl="1" algn="r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AAD3AF"/>
                </a:buClr>
                <a:buSzPts val="1800"/>
                <a:buFont typeface="Helvetica Neue"/>
                <a:buChar char="◊"/>
              </a:pPr>
              <a:r>
                <a:rPr b="0" i="0" lang="iw-IL" sz="20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הצוער ילמד מפה וימדוד מרחק אווירי של נקודות ומסלול</a:t>
              </a:r>
              <a:endParaRPr/>
            </a:p>
            <a:p>
              <a:pPr indent="-342900" lvl="1" marL="457200" marR="0" rtl="1" algn="r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AAD3AF"/>
                </a:buClr>
                <a:buSzPts val="1800"/>
                <a:buFont typeface="Helvetica Neue"/>
                <a:buChar char="◊"/>
              </a:pPr>
              <a:r>
                <a:rPr b="0" i="0" lang="iw-IL" sz="20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הצוער ידבר ברשת לפי כללי הנדב״ר</a:t>
              </a:r>
              <a:endParaRPr b="0" i="0" sz="20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/>
          <p:nvPr/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r>
              <a:rPr b="1" i="0" lang="iw-IL" sz="4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מה מצפה לנו?</a:t>
            </a:r>
            <a:endParaRPr b="1" i="0" sz="44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Story pin image" id="71" name="Google Shape;71;p10"/>
          <p:cNvPicPr preferRelativeResize="0"/>
          <p:nvPr/>
        </p:nvPicPr>
        <p:blipFill rotWithShape="1">
          <a:blip r:embed="rId3">
            <a:alphaModFix/>
          </a:blip>
          <a:srcRect b="21148" l="0" r="0" t="21885"/>
          <a:stretch/>
        </p:blipFill>
        <p:spPr>
          <a:xfrm>
            <a:off x="303213" y="1895410"/>
            <a:ext cx="5974410" cy="340346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/>
        </p:nvSpPr>
        <p:spPr>
          <a:xfrm>
            <a:off x="5861138" y="1690825"/>
            <a:ext cx="4603750" cy="32203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מבוא</a:t>
            </a:r>
            <a:endParaRPr/>
          </a:p>
          <a:p>
            <a:pPr indent="0" lvl="0" marL="0" marR="0" rtl="1" algn="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פרקטיקה</a:t>
            </a:r>
            <a:endParaRPr/>
          </a:p>
          <a:p>
            <a:pPr indent="0" lvl="0" marL="0" marR="0" rtl="1" algn="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מדריך לבניית צירים וסיפור דרך</a:t>
            </a:r>
            <a:endParaRPr b="0" i="0" sz="2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Red Location, Map Pin Icon PNG Transparent Background, Free Download #4226  - FreeIconsPNG" id="73" name="Google Shape;7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64888" y="1854199"/>
            <a:ext cx="751605" cy="8818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d Location, Map Pin Icon PNG Transparent Background, Free Download #4226  - FreeIconsPNG" id="74" name="Google Shape;7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64887" y="2988058"/>
            <a:ext cx="751605" cy="8818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d Location, Map Pin Icon PNG Transparent Background, Free Download #4226  - FreeIconsPNG" id="75" name="Google Shape;7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64888" y="4121917"/>
            <a:ext cx="751605" cy="881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1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סדר היום: שישה כלים, משימה אחת</a:t>
            </a:r>
            <a:endParaRPr/>
          </a:p>
        </p:txBody>
      </p:sp>
      <p:sp>
        <p:nvSpPr>
          <p:cNvPr id="82" name="Google Shape;82;p11"/>
          <p:cNvSpPr/>
          <p:nvPr/>
        </p:nvSpPr>
        <p:spPr>
          <a:xfrm>
            <a:off x="8001000" y="1783080"/>
            <a:ext cx="3337560" cy="1417320"/>
          </a:xfrm>
          <a:prstGeom prst="roundRect">
            <a:avLst>
              <a:gd fmla="val 7741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1"/>
          <p:cNvSpPr txBox="1"/>
          <p:nvPr/>
        </p:nvSpPr>
        <p:spPr>
          <a:xfrm>
            <a:off x="10241280" y="1920240"/>
            <a:ext cx="9601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34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01</a:t>
            </a:r>
            <a:endParaRPr/>
          </a:p>
        </p:txBody>
      </p:sp>
      <p:sp>
        <p:nvSpPr>
          <p:cNvPr id="84" name="Google Shape;84;p11"/>
          <p:cNvSpPr txBox="1"/>
          <p:nvPr/>
        </p:nvSpPr>
        <p:spPr>
          <a:xfrm>
            <a:off x="8110727" y="1965960"/>
            <a:ext cx="2148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1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מד״קו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דיוק בנ״צ</a:t>
            </a:r>
            <a:endParaRPr/>
          </a:p>
        </p:txBody>
      </p:sp>
      <p:sp>
        <p:nvSpPr>
          <p:cNvPr id="85" name="Google Shape;85;p11"/>
          <p:cNvSpPr/>
          <p:nvPr/>
        </p:nvSpPr>
        <p:spPr>
          <a:xfrm>
            <a:off x="4434840" y="1783080"/>
            <a:ext cx="3337560" cy="1417320"/>
          </a:xfrm>
          <a:prstGeom prst="roundRect">
            <a:avLst>
              <a:gd fmla="val 7741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1"/>
          <p:cNvSpPr txBox="1"/>
          <p:nvPr/>
        </p:nvSpPr>
        <p:spPr>
          <a:xfrm>
            <a:off x="6675120" y="1920240"/>
            <a:ext cx="9601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34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02</a:t>
            </a:r>
            <a:endParaRPr/>
          </a:p>
        </p:txBody>
      </p:sp>
      <p:sp>
        <p:nvSpPr>
          <p:cNvPr id="87" name="Google Shape;87;p11"/>
          <p:cNvSpPr txBox="1"/>
          <p:nvPr/>
        </p:nvSpPr>
        <p:spPr>
          <a:xfrm>
            <a:off x="4544568" y="1965960"/>
            <a:ext cx="2148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1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שושנת הרוחות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שפת הכיוונים</a:t>
            </a:r>
            <a:endParaRPr/>
          </a:p>
        </p:txBody>
      </p:sp>
      <p:sp>
        <p:nvSpPr>
          <p:cNvPr id="88" name="Google Shape;88;p11"/>
          <p:cNvSpPr/>
          <p:nvPr/>
        </p:nvSpPr>
        <p:spPr>
          <a:xfrm>
            <a:off x="868680" y="1783080"/>
            <a:ext cx="3337560" cy="1417320"/>
          </a:xfrm>
          <a:prstGeom prst="roundRect">
            <a:avLst>
              <a:gd fmla="val 7741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1"/>
          <p:cNvSpPr txBox="1"/>
          <p:nvPr/>
        </p:nvSpPr>
        <p:spPr>
          <a:xfrm>
            <a:off x="3108960" y="1920240"/>
            <a:ext cx="9601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34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03</a:t>
            </a:r>
            <a:endParaRPr/>
          </a:p>
        </p:txBody>
      </p:sp>
      <p:sp>
        <p:nvSpPr>
          <p:cNvPr id="90" name="Google Shape;90;p11"/>
          <p:cNvSpPr txBox="1"/>
          <p:nvPr/>
        </p:nvSpPr>
        <p:spPr>
          <a:xfrm>
            <a:off x="978407" y="1965960"/>
            <a:ext cx="2148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1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אזימוט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לאיזה כיוון בדיוק</a:t>
            </a:r>
            <a:endParaRPr/>
          </a:p>
        </p:txBody>
      </p:sp>
      <p:sp>
        <p:nvSpPr>
          <p:cNvPr id="91" name="Google Shape;91;p11"/>
          <p:cNvSpPr/>
          <p:nvPr/>
        </p:nvSpPr>
        <p:spPr>
          <a:xfrm>
            <a:off x="8001000" y="3429000"/>
            <a:ext cx="3337560" cy="1417320"/>
          </a:xfrm>
          <a:prstGeom prst="roundRect">
            <a:avLst>
              <a:gd fmla="val 7741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1"/>
          <p:cNvSpPr txBox="1"/>
          <p:nvPr/>
        </p:nvSpPr>
        <p:spPr>
          <a:xfrm>
            <a:off x="10241280" y="3566160"/>
            <a:ext cx="9601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34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04</a:t>
            </a:r>
            <a:endParaRPr/>
          </a:p>
        </p:txBody>
      </p:sp>
      <p:sp>
        <p:nvSpPr>
          <p:cNvPr id="93" name="Google Shape;93;p11"/>
          <p:cNvSpPr txBox="1"/>
          <p:nvPr/>
        </p:nvSpPr>
        <p:spPr>
          <a:xfrm>
            <a:off x="8110727" y="3611880"/>
            <a:ext cx="2148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1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מצפן צבאי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מהמפה לשטח</a:t>
            </a:r>
            <a:endParaRPr/>
          </a:p>
        </p:txBody>
      </p:sp>
      <p:sp>
        <p:nvSpPr>
          <p:cNvPr id="94" name="Google Shape;94;p11"/>
          <p:cNvSpPr/>
          <p:nvPr/>
        </p:nvSpPr>
        <p:spPr>
          <a:xfrm>
            <a:off x="4434840" y="3429000"/>
            <a:ext cx="3337560" cy="1417320"/>
          </a:xfrm>
          <a:prstGeom prst="roundRect">
            <a:avLst>
              <a:gd fmla="val 7741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1"/>
          <p:cNvSpPr txBox="1"/>
          <p:nvPr/>
        </p:nvSpPr>
        <p:spPr>
          <a:xfrm>
            <a:off x="6675120" y="3566160"/>
            <a:ext cx="9601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34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05</a:t>
            </a:r>
            <a:endParaRPr/>
          </a:p>
        </p:txBody>
      </p:sp>
      <p:sp>
        <p:nvSpPr>
          <p:cNvPr id="96" name="Google Shape;96;p11"/>
          <p:cNvSpPr txBox="1"/>
          <p:nvPr/>
        </p:nvSpPr>
        <p:spPr>
          <a:xfrm>
            <a:off x="4544568" y="3611880"/>
            <a:ext cx="2148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1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מרחק אווירי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כמה רחוק</a:t>
            </a:r>
            <a:endParaRPr/>
          </a:p>
        </p:txBody>
      </p:sp>
      <p:sp>
        <p:nvSpPr>
          <p:cNvPr id="97" name="Google Shape;97;p11"/>
          <p:cNvSpPr/>
          <p:nvPr/>
        </p:nvSpPr>
        <p:spPr>
          <a:xfrm>
            <a:off x="868680" y="3429000"/>
            <a:ext cx="3337560" cy="1417320"/>
          </a:xfrm>
          <a:prstGeom prst="roundRect">
            <a:avLst>
              <a:gd fmla="val 7741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1"/>
          <p:cNvSpPr txBox="1"/>
          <p:nvPr/>
        </p:nvSpPr>
        <p:spPr>
          <a:xfrm>
            <a:off x="3108960" y="3566160"/>
            <a:ext cx="9601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34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06</a:t>
            </a:r>
            <a:endParaRPr/>
          </a:p>
        </p:txBody>
      </p:sp>
      <p:sp>
        <p:nvSpPr>
          <p:cNvPr id="99" name="Google Shape;99;p11"/>
          <p:cNvSpPr txBox="1"/>
          <p:nvPr/>
        </p:nvSpPr>
        <p:spPr>
          <a:xfrm>
            <a:off x="978407" y="3611880"/>
            <a:ext cx="2148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1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נדב״ר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איך מדווחים</a:t>
            </a:r>
            <a:endParaRPr/>
          </a:p>
        </p:txBody>
      </p:sp>
      <p:sp>
        <p:nvSpPr>
          <p:cNvPr id="100" name="Google Shape;100;p11"/>
          <p:cNvSpPr/>
          <p:nvPr/>
        </p:nvSpPr>
        <p:spPr>
          <a:xfrm>
            <a:off x="868680" y="5120640"/>
            <a:ext cx="6766560" cy="566928"/>
          </a:xfrm>
          <a:prstGeom prst="roundRect">
            <a:avLst>
              <a:gd fmla="val 50000" name="adj"/>
            </a:avLst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כל נושא נסגר בתרגול מעשי על אותה מפה - ובסוף תרגיל מסכם</a:t>
            </a:r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7909560" y="5513832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מה למדנו בשיעור הקודם?</a:t>
            </a:r>
            <a:endParaRPr/>
          </a:p>
        </p:txBody>
      </p:sp>
      <p:sp>
        <p:nvSpPr>
          <p:cNvPr id="107" name="Google Shape;10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מפה</a:t>
            </a:r>
            <a:r>
              <a:rPr lang="iw-IL" sz="2200"/>
              <a:t> - מפה לבנה, רשת קואורדינטות, קנה מידה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גבהים</a:t>
            </a:r>
            <a:r>
              <a:rPr lang="iw-IL" sz="2200"/>
              <a:t> - מוחלט ויחסי, תבליט, קווי גובה, נקודות גובה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תכסית</a:t>
            </a:r>
            <a:r>
              <a:rPr lang="iw-IL" sz="2200"/>
              <a:t> - סימנים, מקרא, צבעים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צורות</a:t>
            </a:r>
            <a:r>
              <a:rPr lang="iw-IL" sz="2200"/>
              <a:t> </a:t>
            </a:r>
            <a:r>
              <a:rPr b="1" lang="iw-IL" sz="2200"/>
              <a:t>שטח</a:t>
            </a:r>
            <a:r>
              <a:rPr lang="iw-IL" sz="2200"/>
              <a:t> - כיפה, שלוחה, גיא, אוכף, כיפה סמויה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מדרונות</a:t>
            </a:r>
            <a:r>
              <a:rPr lang="iw-IL" sz="2200"/>
              <a:t> - קצוב, משתנה, קעור, קמור, כתף</a:t>
            </a:r>
            <a:endParaRPr sz="2200"/>
          </a:p>
        </p:txBody>
      </p:sp>
      <p:pic>
        <p:nvPicPr>
          <p:cNvPr descr="כיצד להדפיס מפה טופוגרפית בקנ&quot;מ מדויק" id="108" name="Google Shape;10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3193" y="1507693"/>
            <a:ext cx="2721125" cy="3842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מה למדנו בשיעור הקודם?</a:t>
            </a:r>
            <a:endParaRPr/>
          </a:p>
        </p:txBody>
      </p:sp>
      <p:sp>
        <p:nvSpPr>
          <p:cNvPr id="114" name="Google Shape;114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מפה</a:t>
            </a:r>
            <a:r>
              <a:rPr lang="iw-IL" sz="2200"/>
              <a:t> - מפה לבנה, רשת קואורדינטות, קנה מידה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גבהים</a:t>
            </a:r>
            <a:r>
              <a:rPr lang="iw-IL" sz="2200"/>
              <a:t> - מוחלט ויחסי, תבליט, קווי גובה, נקודות גובה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תכסית</a:t>
            </a:r>
            <a:r>
              <a:rPr lang="iw-IL" sz="2200"/>
              <a:t> - סימנים, מקרא, צבעים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צורות</a:t>
            </a:r>
            <a:r>
              <a:rPr lang="iw-IL" sz="2200"/>
              <a:t> </a:t>
            </a:r>
            <a:r>
              <a:rPr b="1" lang="iw-IL" sz="2200"/>
              <a:t>שטח</a:t>
            </a:r>
            <a:r>
              <a:rPr lang="iw-IL" sz="2200"/>
              <a:t> - כיפה, שלוחה, גיא, אוכף, כיפה סמויה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מדרונות</a:t>
            </a:r>
            <a:r>
              <a:rPr lang="iw-IL" sz="2200"/>
              <a:t> - קצוב, משתנה, קעור, קמור, כתף</a:t>
            </a:r>
            <a:endParaRPr sz="2200"/>
          </a:p>
        </p:txBody>
      </p:sp>
      <p:pic>
        <p:nvPicPr>
          <p:cNvPr descr="כיצד להדפיס מפה טופוגרפית בקנ&quot;מ מדויק" id="115" name="Google Shape;11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3193" y="1507693"/>
            <a:ext cx="2721125" cy="384261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3"/>
          <p:cNvSpPr/>
          <p:nvPr/>
        </p:nvSpPr>
        <p:spPr>
          <a:xfrm>
            <a:off x="0" y="-130629"/>
            <a:ext cx="12192000" cy="6988629"/>
          </a:xfrm>
          <a:prstGeom prst="rect">
            <a:avLst/>
          </a:prstGeom>
          <a:solidFill>
            <a:srgbClr val="F2F2F2">
              <a:alpha val="92549"/>
            </a:srgbClr>
          </a:solidFill>
          <a:ln cap="flat" cmpd="sng" w="25400">
            <a:solidFill>
              <a:srgbClr val="F2F2F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-609600" y="2710543"/>
            <a:ext cx="13411200" cy="1681843"/>
          </a:xfrm>
          <a:prstGeom prst="roundRect">
            <a:avLst>
              <a:gd fmla="val 16667" name="adj"/>
            </a:avLst>
          </a:prstGeom>
          <a:solidFill>
            <a:srgbClr val="8DAE76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44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וכמובן – הניווטיה!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"/>
          <p:cNvSpPr txBox="1"/>
          <p:nvPr/>
        </p:nvSpPr>
        <p:spPr>
          <a:xfrm>
            <a:off x="-5257800" y="27661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r>
              <a:rPr b="1" i="0" lang="iw-IL" sz="4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ידידינו היקר!</a:t>
            </a:r>
            <a:endParaRPr/>
          </a:p>
          <a:p>
            <a:pPr indent="0" lvl="0" mar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r>
              <a:rPr b="1" i="0" lang="iw-IL" sz="4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חזרת אלינו 🥰</a:t>
            </a:r>
            <a:endParaRPr b="1" i="0" sz="44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23" name="Google Shape;12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850" y="1250950"/>
            <a:ext cx="47625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ctrTitle"/>
          </p:nvPr>
        </p:nvSpPr>
        <p:spPr>
          <a:xfrm>
            <a:off x="701038" y="2633187"/>
            <a:ext cx="10789920" cy="9998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11111"/>
              <a:buNone/>
            </a:pPr>
            <a:r>
              <a:rPr lang="iw-IL"/>
              <a:t>קואורדינטות ונ.צ</a:t>
            </a:r>
            <a:endParaRPr/>
          </a:p>
        </p:txBody>
      </p:sp>
      <p:sp>
        <p:nvSpPr>
          <p:cNvPr id="130" name="Google Shape;130;p15"/>
          <p:cNvSpPr txBox="1"/>
          <p:nvPr>
            <p:ph idx="1" type="subTitle"/>
          </p:nvPr>
        </p:nvSpPr>
        <p:spPr>
          <a:xfrm>
            <a:off x="2438398" y="3678754"/>
            <a:ext cx="7315200" cy="867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1"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iw-IL"/>
              <a:t>״דע מעין באת ולאן אתה והלך״</a:t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5750" y="5514975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מד קואורדינטות</a:t>
            </a:r>
            <a:endParaRPr/>
          </a:p>
        </p:txBody>
      </p:sp>
      <p:sp>
        <p:nvSpPr>
          <p:cNvPr id="138" name="Google Shape;138;p16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הכלי המרכזי של הנווט - או בקיצור: מד״קו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סרגל, מד-זווית ומחשבון קואורדינטות בכלי אחד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סופר פונקציונאלי - נלמד לעשות איתו כמעט הכל</a:t>
            </a:r>
            <a:endParaRPr sz="2200"/>
          </a:p>
        </p:txBody>
      </p:sp>
      <p:pic>
        <p:nvPicPr>
          <p:cNvPr descr="מד קואורדינטות" id="139" name="Google Shape;139;p16"/>
          <p:cNvPicPr preferRelativeResize="0"/>
          <p:nvPr/>
        </p:nvPicPr>
        <p:blipFill rotWithShape="1">
          <a:blip r:embed="rId3">
            <a:alphaModFix/>
          </a:blip>
          <a:srcRect b="5912" l="17457" r="18204" t="11348"/>
          <a:stretch/>
        </p:blipFill>
        <p:spPr>
          <a:xfrm>
            <a:off x="449765" y="1027906"/>
            <a:ext cx="4029075" cy="5181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7905750" y="5514975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ארבעת חלקי המד״קו</a:t>
            </a:r>
            <a:endParaRPr/>
          </a:p>
        </p:txBody>
      </p:sp>
      <p:pic>
        <p:nvPicPr>
          <p:cNvPr descr="מד קואורדינטות" id="148" name="Google Shape;148;p17"/>
          <p:cNvPicPr preferRelativeResize="0"/>
          <p:nvPr/>
        </p:nvPicPr>
        <p:blipFill rotWithShape="1">
          <a:blip r:embed="rId4">
            <a:alphaModFix/>
          </a:blip>
          <a:srcRect b="5912" l="17457" r="18204" t="11348"/>
          <a:stretch/>
        </p:blipFill>
        <p:spPr>
          <a:xfrm>
            <a:off x="411480" y="1737360"/>
            <a:ext cx="3291840" cy="42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/>
          <p:nvPr/>
        </p:nvSpPr>
        <p:spPr>
          <a:xfrm>
            <a:off x="7726679" y="1783080"/>
            <a:ext cx="3611880" cy="1188720"/>
          </a:xfrm>
          <a:prstGeom prst="roundRect">
            <a:avLst>
              <a:gd fmla="val 923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10744200" y="2084831"/>
            <a:ext cx="548640" cy="54864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0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1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7818119" y="1874519"/>
            <a:ext cx="2880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סרגל הקואורדינטות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קריאת נ״צ מדויקת בתוך משבצת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4023360" y="1783080"/>
            <a:ext cx="3611880" cy="1188720"/>
          </a:xfrm>
          <a:prstGeom prst="roundRect">
            <a:avLst>
              <a:gd fmla="val 923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7040880" y="2084831"/>
            <a:ext cx="548640" cy="548640"/>
          </a:xfrm>
          <a:prstGeom prst="ellipse">
            <a:avLst/>
          </a:prstGeom>
          <a:solidFill>
            <a:srgbClr val="2F6FB0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0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2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4114800" y="1874519"/>
            <a:ext cx="2880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סרגל המרחק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מרחק בשטח במטרים, לפי קנה המידה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7726679" y="3154680"/>
            <a:ext cx="3611880" cy="1188720"/>
          </a:xfrm>
          <a:prstGeom prst="roundRect">
            <a:avLst>
              <a:gd fmla="val 923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10744200" y="3456432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0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3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7818119" y="3246120"/>
            <a:ext cx="2880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מד הזווית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אזימוט יוצא וחוזר, וגם כיוון כללי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4023360" y="3154680"/>
            <a:ext cx="3611880" cy="1188720"/>
          </a:xfrm>
          <a:prstGeom prst="roundRect">
            <a:avLst>
              <a:gd fmla="val 923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7040880" y="3456432"/>
            <a:ext cx="548640" cy="548640"/>
          </a:xfrm>
          <a:prstGeom prst="ellipse">
            <a:avLst/>
          </a:prstGeom>
          <a:solidFill>
            <a:srgbClr val="8B5A2B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0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4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4114800" y="3246120"/>
            <a:ext cx="2880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נקודת המרכז והחוט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מניחים על נקודת המוצא ומותחים אל היעד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4023360" y="4526280"/>
            <a:ext cx="7315200" cy="685800"/>
          </a:xfrm>
          <a:prstGeom prst="roundRect">
            <a:avLst>
              <a:gd fmla="val 16000" name="adj"/>
            </a:avLst>
          </a:prstGeom>
          <a:solidFill>
            <a:srgbClr val="C00000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כלל ברזל: </a:t>
            </a:r>
            <a:r>
              <a:rPr b="0" i="0" lang="iw-IL" sz="16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לפני כל מדידה - קנה המידה במד״קו זהה לקנה המידה של המפה</a:t>
            </a:r>
            <a:endParaRPr/>
          </a:p>
        </p:txBody>
      </p:sp>
      <p:pic>
        <p:nvPicPr>
          <p:cNvPr id="162" name="Google Shape;162;p17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7909560" y="5513832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נ.צ. - נקודת ציון</a:t>
            </a:r>
            <a:endParaRPr/>
          </a:p>
        </p:txBody>
      </p:sp>
      <p:sp>
        <p:nvSpPr>
          <p:cNvPr id="168" name="Google Shape;168;p18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נקודת ציון (נ.צ.)היא נקודה על גבי המפה שמציינת מיקום בשטח בעזרת קואורדינטות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מה אם נרצה לתאר את מיקום הנקודה בצורה מדויקת יותר?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בשיעור הקודם הערכנו נ״צ "בעין" בתוך המשבצת - היום נדייק עם כלי</a:t>
            </a:r>
            <a:endParaRPr/>
          </a:p>
        </p:txBody>
      </p:sp>
      <p:pic>
        <p:nvPicPr>
          <p:cNvPr descr="map_point.png"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102140"/>
            <a:ext cx="3794760" cy="370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7905750" y="5514975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7905750" y="5514975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נ.צ. - תיאור מדויק</a:t>
            </a:r>
            <a:endParaRPr/>
          </a:p>
        </p:txBody>
      </p:sp>
      <p:sp>
        <p:nvSpPr>
          <p:cNvPr id="179" name="Google Shape;179;p19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איך נתאר במדויק את הנקודה הזאת?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זוכרים את המד״קו?</a:t>
            </a:r>
            <a:endParaRPr sz="220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iw-IL" sz="1800"/>
              <a:t>בתחתיתו סרגל בגודל משבצת, מחולק ל-20, כאשר כל שנתה היא 50 מ' במקום ק״מ שלם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נישר את המד״קו על המשבצת ונקרא</a:t>
            </a:r>
            <a:endParaRPr b="1"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הנ.צ. של הנקודה  211800/617350:</a:t>
            </a:r>
            <a:endParaRPr sz="220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iw-IL" sz="2200"/>
              <a:t>תמיד רושמים קודם קו אורך ואז קו רוחב</a:t>
            </a:r>
            <a:endParaRPr b="1" sz="2200"/>
          </a:p>
        </p:txBody>
      </p:sp>
      <p:pic>
        <p:nvPicPr>
          <p:cNvPr descr="natz_read.png" id="180" name="Google Shape;18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2057400"/>
            <a:ext cx="3794760" cy="3794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0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קריאת נ״צ עם המד״קו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4572000" y="1737360"/>
            <a:ext cx="6766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ארבעה שלבים</a:t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10954512" y="2194560"/>
            <a:ext cx="384048" cy="384048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1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4572000" y="2176272"/>
            <a:ext cx="62727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מוצאים את המשבצת - הפינה השמאלית התחתונה היא ערך הבסיס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10954512" y="2697480"/>
            <a:ext cx="384048" cy="384048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2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4572000" y="2679192"/>
            <a:ext cx="62727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מניחים את סרגל הקואורדינטות: פינה על פינה, השוליים על קווי הרשת</a:t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10954512" y="3200400"/>
            <a:ext cx="384048" cy="384048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3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4572000" y="3182112"/>
            <a:ext cx="62727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סופרים ימינה (X) עד מתחת לנקודה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10954512" y="3703320"/>
            <a:ext cx="384048" cy="384048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4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4572000" y="3685032"/>
            <a:ext cx="62727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סופרים למעלה (Y) מאותה שנתה עד הנקודה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4572000" y="4297680"/>
            <a:ext cx="6766560" cy="548640"/>
          </a:xfrm>
          <a:prstGeom prst="roundRect">
            <a:avLst>
              <a:gd fmla="val 20000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דוגמה: </a:t>
            </a: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A = 189000 + 800 / 740000 + 100 = 189800 / 740100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411480" y="1737360"/>
            <a:ext cx="3886200" cy="3108960"/>
          </a:xfrm>
          <a:prstGeom prst="roundRect">
            <a:avLst>
              <a:gd fmla="val 3529" name="adj"/>
            </a:avLst>
          </a:prstGeom>
          <a:solidFill>
            <a:srgbClr val="FBE9E7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t" bIns="45700" lIns="182875" spcFirstLastPara="1" rIns="1828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טעויות נפוצות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✗ קנה מידה שגוי על המד״קו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✗ קריאת Y לפני X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✗ פינה לא צמודה לקווי הרשת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✗ בחירת פינת משבצת לא נכונה - תמיד מלמטה למעלה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✗ מד״קו עקום ביחס לרשת</a:t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9144000" y="5029200"/>
            <a:ext cx="2194560" cy="868680"/>
          </a:xfrm>
          <a:prstGeom prst="roundRect">
            <a:avLst>
              <a:gd fmla="val 12631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898 401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6 ספרות - 100 מ'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6812280" y="5029200"/>
            <a:ext cx="2194560" cy="868680"/>
          </a:xfrm>
          <a:prstGeom prst="roundRect">
            <a:avLst>
              <a:gd fmla="val 12631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8980 4010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8 ספרות - 10 מ'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4480560" y="5029200"/>
            <a:ext cx="2194560" cy="868680"/>
          </a:xfrm>
          <a:prstGeom prst="roundRect">
            <a:avLst>
              <a:gd fmla="val 12631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189800 / 740100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מלא - מטר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411480" y="4983480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הדיוק המעשי מוגבל גם בעובי הקו ובאיכות המפה - במפה 1:50,000 קשה לדייק מעבר לעשרות מטרים</a:t>
            </a:r>
            <a:endParaRPr/>
          </a:p>
        </p:txBody>
      </p:sp>
      <p:pic>
        <p:nvPicPr>
          <p:cNvPr id="202" name="Google Shape;202;p20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8509307" y="5961855"/>
            <a:ext cx="1011326" cy="1011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1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7905750" y="5514975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תרגול - מה הנ.צ. של הנקודה?</a:t>
            </a:r>
            <a:endParaRPr/>
          </a:p>
        </p:txBody>
      </p:sp>
      <p:sp>
        <p:nvSpPr>
          <p:cNvPr id="210" name="Google Shape;210;p21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זהו את הנ.צ. של הנקודה האדומה במפה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זכרו: קודם אורך, אחר כך רוחב</a:t>
            </a:r>
            <a:endParaRPr sz="220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iw-IL" sz="2200"/>
              <a:t>212250/616800</a:t>
            </a:r>
            <a:endParaRPr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iw-IL" sz="2200"/>
              <a:t>212850/617150</a:t>
            </a:r>
            <a:endParaRPr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iw-IL" sz="2200"/>
              <a:t>212550/618300</a:t>
            </a:r>
            <a:endParaRPr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iw-IL" sz="2200"/>
              <a:t>213200/617400</a:t>
            </a:r>
            <a:endParaRPr sz="2200"/>
          </a:p>
        </p:txBody>
      </p:sp>
      <p:pic>
        <p:nvPicPr>
          <p:cNvPr descr="natz_tirgul.png" id="211" name="Google Shape;21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2102140"/>
            <a:ext cx="3794760" cy="3705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2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מפת התרגול: מה הנ״צ של B?</a:t>
            </a:r>
            <a:endParaRPr/>
          </a:p>
        </p:txBody>
      </p:sp>
      <p:pic>
        <p:nvPicPr>
          <p:cNvPr descr="m_base.png" id="218" name="Google Shape;21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" y="1876208"/>
            <a:ext cx="4937760" cy="29227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_p05a.png" id="219" name="Google Shape;21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1876208"/>
            <a:ext cx="4937760" cy="2922702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8503920" y="1755648"/>
            <a:ext cx="2834640" cy="438912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4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שלב תרגול מעשי - 05</a:t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5486400" y="2286000"/>
            <a:ext cx="5852160" cy="731520"/>
          </a:xfrm>
          <a:prstGeom prst="roundRect">
            <a:avLst>
              <a:gd fmla="val 15000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מה הנ״צ המלא של נקודה B?</a:t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5486400" y="1755648"/>
            <a:ext cx="2880360" cy="457200"/>
          </a:xfrm>
          <a:prstGeom prst="roundRect">
            <a:avLst>
              <a:gd fmla="val 24000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1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החלק במד״קו: </a:t>
            </a:r>
            <a:r>
              <a:rPr b="0" i="0" lang="iw-IL" sz="11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1. סרגל הקואורדינטות</a:t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10972800" y="3154680"/>
            <a:ext cx="365760" cy="36576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1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5486400" y="3136392"/>
            <a:ext cx="5376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מצאו את פינת המשבצת של B</a:t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10972800" y="3611880"/>
            <a:ext cx="365760" cy="36576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2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5486400" y="3593592"/>
            <a:ext cx="5376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הניחו את סרגל הקואורדינטות על הפינה</a:t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10972800" y="4069080"/>
            <a:ext cx="365760" cy="36576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3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5486400" y="4050792"/>
            <a:ext cx="5376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ספרו ימינה ואז למעלה</a:t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10972800" y="4526280"/>
            <a:ext cx="365760" cy="36576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4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5486400" y="4507992"/>
            <a:ext cx="5376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כתבו נ״צ מלא: X / Y</a:t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320040" y="4956048"/>
            <a:ext cx="4937760" cy="548640"/>
          </a:xfrm>
          <a:prstGeom prst="roundRect">
            <a:avLst>
              <a:gd fmla="val 20000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0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B = 192200 / 741900</a:t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320040" y="5559552"/>
            <a:ext cx="4937760" cy="585216"/>
          </a:xfrm>
          <a:prstGeom prst="roundRect">
            <a:avLst>
              <a:gd fmla="val 1875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פינת המשבצת: 192000/741000 · ימינה 200 מ' · למעלה 900 מ'</a:t>
            </a:r>
            <a:endParaRPr/>
          </a:p>
        </p:txBody>
      </p:sp>
      <p:pic>
        <p:nvPicPr>
          <p:cNvPr id="233" name="Google Shape;233;p22"/>
          <p:cNvPicPr preferRelativeResize="0"/>
          <p:nvPr/>
        </p:nvPicPr>
        <p:blipFill rotWithShape="1">
          <a:blip r:embed="rId6">
            <a:alphaModFix amt="60000"/>
          </a:blip>
          <a:srcRect b="0" l="0" r="0" t="0"/>
          <a:stretch/>
        </p:blipFill>
        <p:spPr>
          <a:xfrm>
            <a:off x="7909560" y="5513832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3"/>
          <p:cNvSpPr txBox="1"/>
          <p:nvPr>
            <p:ph type="ctrTitle"/>
          </p:nvPr>
        </p:nvSpPr>
        <p:spPr>
          <a:xfrm>
            <a:off x="701039" y="2633188"/>
            <a:ext cx="10789920" cy="9998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6000"/>
              <a:buNone/>
            </a:pPr>
            <a:r>
              <a:rPr lang="iw-IL"/>
              <a:t>שושנת הרוחות</a:t>
            </a:r>
            <a:endParaRPr/>
          </a:p>
        </p:txBody>
      </p:sp>
      <p:sp>
        <p:nvSpPr>
          <p:cNvPr id="239" name="Google Shape;239;p23"/>
          <p:cNvSpPr txBox="1"/>
          <p:nvPr>
            <p:ph idx="1" type="subTitle"/>
          </p:nvPr>
        </p:nvSpPr>
        <p:spPr>
          <a:xfrm>
            <a:off x="2438399" y="3678755"/>
            <a:ext cx="7315200" cy="867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iw-IL"/>
              <a:t>״קוראים לי בשכונה מלכת השושנים״  - רון אבן</a:t>
            </a:r>
            <a:endParaRPr/>
          </a:p>
        </p:txBody>
      </p:sp>
      <p:pic>
        <p:nvPicPr>
          <p:cNvPr id="240" name="Google Shape;24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53525" y="4819650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4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שושנת הרוחות</a:t>
            </a:r>
            <a:endParaRPr/>
          </a:p>
        </p:txBody>
      </p:sp>
      <p:pic>
        <p:nvPicPr>
          <p:cNvPr descr="compass_rose.png" id="248" name="Google Shape;24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1783080"/>
            <a:ext cx="3657599" cy="365759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4343400" y="1737360"/>
            <a:ext cx="69951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מראה את כיווני המצפן ואת הכיוונים שביניהם (כיווני ביניים), החל מהצפון ועם כיוון השעון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ארבעה כיוונים ראשיים: צפון, מזרח, דרום, מערב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וכיווני ביניים: צ״מז, ד״מז, ד״מע, צ״מע</a:t>
            </a:r>
            <a:endParaRPr/>
          </a:p>
        </p:txBody>
      </p:sp>
      <p:sp>
        <p:nvSpPr>
          <p:cNvPr id="250" name="Google Shape;250;p24"/>
          <p:cNvSpPr/>
          <p:nvPr/>
        </p:nvSpPr>
        <p:spPr>
          <a:xfrm>
            <a:off x="9646920" y="3063240"/>
            <a:ext cx="1691640" cy="640080"/>
          </a:xfrm>
          <a:prstGeom prst="roundRect">
            <a:avLst>
              <a:gd fmla="val 17142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צפון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0° / 360°</a:t>
            </a:r>
            <a:endParaRPr/>
          </a:p>
        </p:txBody>
      </p:sp>
      <p:sp>
        <p:nvSpPr>
          <p:cNvPr id="251" name="Google Shape;251;p24"/>
          <p:cNvSpPr/>
          <p:nvPr/>
        </p:nvSpPr>
        <p:spPr>
          <a:xfrm>
            <a:off x="7863840" y="3063240"/>
            <a:ext cx="1691640" cy="640080"/>
          </a:xfrm>
          <a:prstGeom prst="roundRect">
            <a:avLst>
              <a:gd fmla="val 17142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צ״מז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45°</a:t>
            </a:r>
            <a:endParaRPr/>
          </a:p>
        </p:txBody>
      </p:sp>
      <p:sp>
        <p:nvSpPr>
          <p:cNvPr id="252" name="Google Shape;252;p24"/>
          <p:cNvSpPr/>
          <p:nvPr/>
        </p:nvSpPr>
        <p:spPr>
          <a:xfrm>
            <a:off x="6080760" y="3063240"/>
            <a:ext cx="1691640" cy="640080"/>
          </a:xfrm>
          <a:prstGeom prst="roundRect">
            <a:avLst>
              <a:gd fmla="val 17142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מזרח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90°</a:t>
            </a:r>
            <a:endParaRPr/>
          </a:p>
        </p:txBody>
      </p:sp>
      <p:sp>
        <p:nvSpPr>
          <p:cNvPr id="253" name="Google Shape;253;p24"/>
          <p:cNvSpPr/>
          <p:nvPr/>
        </p:nvSpPr>
        <p:spPr>
          <a:xfrm>
            <a:off x="4297680" y="3063240"/>
            <a:ext cx="1691640" cy="640080"/>
          </a:xfrm>
          <a:prstGeom prst="roundRect">
            <a:avLst>
              <a:gd fmla="val 17142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ד״מז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135°</a:t>
            </a:r>
            <a:endParaRPr/>
          </a:p>
        </p:txBody>
      </p:sp>
      <p:sp>
        <p:nvSpPr>
          <p:cNvPr id="254" name="Google Shape;254;p24"/>
          <p:cNvSpPr/>
          <p:nvPr/>
        </p:nvSpPr>
        <p:spPr>
          <a:xfrm>
            <a:off x="9646920" y="3794760"/>
            <a:ext cx="1691640" cy="640080"/>
          </a:xfrm>
          <a:prstGeom prst="roundRect">
            <a:avLst>
              <a:gd fmla="val 17142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דרום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180°</a:t>
            </a:r>
            <a:endParaRPr/>
          </a:p>
        </p:txBody>
      </p:sp>
      <p:sp>
        <p:nvSpPr>
          <p:cNvPr id="255" name="Google Shape;255;p24"/>
          <p:cNvSpPr/>
          <p:nvPr/>
        </p:nvSpPr>
        <p:spPr>
          <a:xfrm>
            <a:off x="7863840" y="3794760"/>
            <a:ext cx="1691640" cy="640080"/>
          </a:xfrm>
          <a:prstGeom prst="roundRect">
            <a:avLst>
              <a:gd fmla="val 17142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ד״מע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225°</a:t>
            </a:r>
            <a:endParaRPr/>
          </a:p>
        </p:txBody>
      </p:sp>
      <p:sp>
        <p:nvSpPr>
          <p:cNvPr id="256" name="Google Shape;256;p24"/>
          <p:cNvSpPr/>
          <p:nvPr/>
        </p:nvSpPr>
        <p:spPr>
          <a:xfrm>
            <a:off x="6080760" y="3794760"/>
            <a:ext cx="1691640" cy="640080"/>
          </a:xfrm>
          <a:prstGeom prst="roundRect">
            <a:avLst>
              <a:gd fmla="val 17142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מערב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270°</a:t>
            </a:r>
            <a:endParaRPr/>
          </a:p>
        </p:txBody>
      </p:sp>
      <p:sp>
        <p:nvSpPr>
          <p:cNvPr id="257" name="Google Shape;257;p24"/>
          <p:cNvSpPr/>
          <p:nvPr/>
        </p:nvSpPr>
        <p:spPr>
          <a:xfrm>
            <a:off x="4297680" y="3794760"/>
            <a:ext cx="1691640" cy="640080"/>
          </a:xfrm>
          <a:prstGeom prst="roundRect">
            <a:avLst>
              <a:gd fmla="val 17142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צ״מע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315°</a:t>
            </a:r>
            <a:endParaRPr/>
          </a:p>
        </p:txBody>
      </p:sp>
      <p:sp>
        <p:nvSpPr>
          <p:cNvPr id="258" name="Google Shape;258;p24"/>
          <p:cNvSpPr/>
          <p:nvPr/>
        </p:nvSpPr>
        <p:spPr>
          <a:xfrm>
            <a:off x="4343400" y="4572000"/>
            <a:ext cx="6995160" cy="594360"/>
          </a:xfrm>
          <a:prstGeom prst="roundRect">
            <a:avLst>
              <a:gd fmla="val 18461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4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16 כיוונים: </a:t>
            </a: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כל כיוון מכסה 22.5° (למשל מזרח-צפון-מזרח = 67.5°). 8 כיוונים: גזרות של 45°</a:t>
            </a:r>
            <a:endParaRPr/>
          </a:p>
        </p:txBody>
      </p:sp>
      <p:sp>
        <p:nvSpPr>
          <p:cNvPr id="259" name="Google Shape;259;p24"/>
          <p:cNvSpPr/>
          <p:nvPr/>
        </p:nvSpPr>
        <p:spPr>
          <a:xfrm>
            <a:off x="4343400" y="5303520"/>
            <a:ext cx="5120640" cy="502920"/>
          </a:xfrm>
          <a:prstGeom prst="roundRect">
            <a:avLst>
              <a:gd fmla="val 50000" name="adj"/>
            </a:avLst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4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במפה: הצפון תמיד למעלה - מזרח מימין, מערב משמאל</a:t>
            </a:r>
            <a:endParaRPr/>
          </a:p>
        </p:txBody>
      </p:sp>
      <p:pic>
        <p:nvPicPr>
          <p:cNvPr id="260" name="Google Shape;260;p24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8678543" y="5857710"/>
            <a:ext cx="1011326" cy="1011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5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התמצאות בלי מצפן</a:t>
            </a:r>
            <a:endParaRPr/>
          </a:p>
        </p:txBody>
      </p:sp>
      <p:sp>
        <p:nvSpPr>
          <p:cNvPr id="267" name="Google Shape;267;p25"/>
          <p:cNvSpPr/>
          <p:nvPr/>
        </p:nvSpPr>
        <p:spPr>
          <a:xfrm>
            <a:off x="8001000" y="1783080"/>
            <a:ext cx="3337560" cy="3246120"/>
          </a:xfrm>
          <a:prstGeom prst="roundRect">
            <a:avLst>
              <a:gd fmla="val 338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_terrain.png" id="268" name="Google Shape;26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66859" y="1874519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/>
        </p:nvSpPr>
        <p:spPr>
          <a:xfrm>
            <a:off x="8110727" y="2926080"/>
            <a:ext cx="310896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9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השטח והמפה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זיהוי צורות שטח בולטות: כיפה, רכס, אוכף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השוואה בין המפה לשטח (הצפנה לפי השטח)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הדרך האמינה ביותר - התבליט לא משתנה</a:t>
            </a:r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4434840" y="1783080"/>
            <a:ext cx="3337560" cy="3246120"/>
          </a:xfrm>
          <a:prstGeom prst="roundRect">
            <a:avLst>
              <a:gd fmla="val 338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_polaris.png" id="271" name="Google Shape;27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00700" y="1874519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4544568" y="2926080"/>
            <a:ext cx="310896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9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כוכב הצפון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נמצא כמעט בדיוק מעל הצפון האמיתי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מאתרים אותו לפי שני הכוכבים בקצה 'העגלה הגדולה'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כמעט אינו זז במהלך הלילה</a:t>
            </a:r>
            <a:endParaRPr/>
          </a:p>
        </p:txBody>
      </p:sp>
      <p:sp>
        <p:nvSpPr>
          <p:cNvPr id="273" name="Google Shape;273;p25"/>
          <p:cNvSpPr/>
          <p:nvPr/>
        </p:nvSpPr>
        <p:spPr>
          <a:xfrm>
            <a:off x="868680" y="1783080"/>
            <a:ext cx="3337560" cy="3246120"/>
          </a:xfrm>
          <a:prstGeom prst="roundRect">
            <a:avLst>
              <a:gd fmla="val 338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_sun.png" id="274" name="Google Shape;27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34539" y="1874519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 txBox="1"/>
          <p:nvPr/>
        </p:nvSpPr>
        <p:spPr>
          <a:xfrm>
            <a:off x="978407" y="2926080"/>
            <a:ext cx="310896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9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השמש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זורחת במזרח ושוקעת במערב (בקירוב, משתנה לפי עונה)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בצהריים בישראל השמש בדרום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הצל בצהריים מצביע בקירוב לצפון</a:t>
            </a:r>
            <a:endParaRPr/>
          </a:p>
        </p:txBody>
      </p:sp>
      <p:sp>
        <p:nvSpPr>
          <p:cNvPr id="276" name="Google Shape;276;p25"/>
          <p:cNvSpPr/>
          <p:nvPr/>
        </p:nvSpPr>
        <p:spPr>
          <a:xfrm>
            <a:off x="868680" y="5212080"/>
            <a:ext cx="6766560" cy="530352"/>
          </a:xfrm>
          <a:prstGeom prst="roundRect">
            <a:avLst>
              <a:gd fmla="val 50000" name="adj"/>
            </a:avLst>
          </a:prstGeom>
          <a:solidFill>
            <a:srgbClr val="8B5A2B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כמו בשיעור 01: התבליט הוא העוגן הבטוח ביותר. שמש וכוכבים - עזר, לא תחליף</a:t>
            </a:r>
            <a:endParaRPr/>
          </a:p>
        </p:txBody>
      </p:sp>
      <p:pic>
        <p:nvPicPr>
          <p:cNvPr id="277" name="Google Shape;277;p25"/>
          <p:cNvPicPr preferRelativeResize="0"/>
          <p:nvPr/>
        </p:nvPicPr>
        <p:blipFill rotWithShape="1">
          <a:blip r:embed="rId7">
            <a:alphaModFix amt="60000"/>
          </a:blip>
          <a:srcRect b="0" l="0" r="0" t="0"/>
          <a:stretch/>
        </p:blipFill>
        <p:spPr>
          <a:xfrm>
            <a:off x="9008590" y="5095423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6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שימוש מבצעי - לדבר באותה שפה</a:t>
            </a:r>
            <a:endParaRPr/>
          </a:p>
        </p:txBody>
      </p:sp>
      <p:sp>
        <p:nvSpPr>
          <p:cNvPr id="284" name="Google Shape;284;p26"/>
          <p:cNvSpPr/>
          <p:nvPr/>
        </p:nvSpPr>
        <p:spPr>
          <a:xfrm>
            <a:off x="5120640" y="1783080"/>
            <a:ext cx="6217920" cy="822960"/>
          </a:xfrm>
          <a:prstGeom prst="roundRect">
            <a:avLst>
              <a:gd fmla="val 13333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"תנועת רכב מדרום, מתקרבת"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דיווח מהיר בתצפית</a:t>
            </a:r>
            <a:endParaRPr/>
          </a:p>
        </p:txBody>
      </p:sp>
      <p:sp>
        <p:nvSpPr>
          <p:cNvPr id="285" name="Google Shape;285;p26"/>
          <p:cNvSpPr/>
          <p:nvPr/>
        </p:nvSpPr>
        <p:spPr>
          <a:xfrm>
            <a:off x="5120640" y="2743200"/>
            <a:ext cx="6217920" cy="822960"/>
          </a:xfrm>
          <a:prstGeom prst="roundRect">
            <a:avLst>
              <a:gd fmla="val 13333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"השלוחה יורדת מערבה אל הגיא"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תיאור צורת שטח לפי כיוון</a:t>
            </a:r>
            <a:endParaRPr/>
          </a:p>
        </p:txBody>
      </p:sp>
      <p:sp>
        <p:nvSpPr>
          <p:cNvPr id="286" name="Google Shape;286;p26"/>
          <p:cNvSpPr/>
          <p:nvPr/>
        </p:nvSpPr>
        <p:spPr>
          <a:xfrm>
            <a:off x="5120640" y="3703320"/>
            <a:ext cx="6217920" cy="822960"/>
          </a:xfrm>
          <a:prstGeom prst="roundRect">
            <a:avLst>
              <a:gd fmla="val 13333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"הכוח יתפרס מצפון-מזרח ליעד"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הגדרת מיקום יחסי בפקודה</a:t>
            </a:r>
            <a:endParaRPr/>
          </a:p>
        </p:txBody>
      </p:sp>
      <p:sp>
        <p:nvSpPr>
          <p:cNvPr id="287" name="Google Shape;287;p26"/>
          <p:cNvSpPr/>
          <p:nvPr/>
        </p:nvSpPr>
        <p:spPr>
          <a:xfrm>
            <a:off x="411480" y="1783080"/>
            <a:ext cx="4480560" cy="2743200"/>
          </a:xfrm>
          <a:prstGeom prst="roundRect">
            <a:avLst>
              <a:gd fmla="val 4000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t" bIns="45700" lIns="182875" spcFirstLastPara="1" rIns="1828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למה זה חשוב לקצין?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✓ כל הכוח מבין מיד לאן מדובר - בלי מכשירים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✓ בסיס לדיווח בקשר (נחזור לזה בנדב״ר)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✓ בדיקת שפיות לאזימוט: אזימוט 250° חייב להיות "בערך מערב"</a:t>
            </a:r>
            <a:endParaRPr/>
          </a:p>
        </p:txBody>
      </p:sp>
      <p:pic>
        <p:nvPicPr>
          <p:cNvPr id="288" name="Google Shape;288;p26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153144" y="4818888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7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באיזה כיוון נמצאת C מ-D?</a:t>
            </a:r>
            <a:endParaRPr/>
          </a:p>
        </p:txBody>
      </p:sp>
      <p:pic>
        <p:nvPicPr>
          <p:cNvPr descr="m_p06q.png" id="295" name="Google Shape;29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" y="1876208"/>
            <a:ext cx="4937760" cy="29227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_p06a.png" id="296" name="Google Shape;29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1876208"/>
            <a:ext cx="4937760" cy="2922702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7"/>
          <p:cNvSpPr/>
          <p:nvPr/>
        </p:nvSpPr>
        <p:spPr>
          <a:xfrm>
            <a:off x="8503920" y="1755648"/>
            <a:ext cx="2834640" cy="438912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4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שלב תרגול מעשי - 06</a:t>
            </a:r>
            <a:endParaRPr/>
          </a:p>
        </p:txBody>
      </p:sp>
      <p:sp>
        <p:nvSpPr>
          <p:cNvPr id="298" name="Google Shape;298;p27"/>
          <p:cNvSpPr/>
          <p:nvPr/>
        </p:nvSpPr>
        <p:spPr>
          <a:xfrm>
            <a:off x="5486400" y="2286000"/>
            <a:ext cx="5852160" cy="731520"/>
          </a:xfrm>
          <a:prstGeom prst="roundRect">
            <a:avLst>
              <a:gd fmla="val 15000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באיזה כיוון נמצאת C מ-D?</a:t>
            </a:r>
            <a:endParaRPr/>
          </a:p>
        </p:txBody>
      </p:sp>
      <p:sp>
        <p:nvSpPr>
          <p:cNvPr id="299" name="Google Shape;299;p27"/>
          <p:cNvSpPr/>
          <p:nvPr/>
        </p:nvSpPr>
        <p:spPr>
          <a:xfrm>
            <a:off x="5486400" y="1755648"/>
            <a:ext cx="2880360" cy="457200"/>
          </a:xfrm>
          <a:prstGeom prst="roundRect">
            <a:avLst>
              <a:gd fmla="val 24000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1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החלק במד״קו: </a:t>
            </a:r>
            <a:r>
              <a:rPr b="0" i="0" lang="iw-IL" sz="11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3. מד הזווית + 4. החוט</a:t>
            </a:r>
            <a:endParaRPr/>
          </a:p>
        </p:txBody>
      </p:sp>
      <p:sp>
        <p:nvSpPr>
          <p:cNvPr id="300" name="Google Shape;300;p27"/>
          <p:cNvSpPr/>
          <p:nvPr/>
        </p:nvSpPr>
        <p:spPr>
          <a:xfrm>
            <a:off x="10972800" y="3154680"/>
            <a:ext cx="365760" cy="36576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1</a:t>
            </a:r>
            <a:endParaRPr/>
          </a:p>
        </p:txBody>
      </p:sp>
      <p:sp>
        <p:nvSpPr>
          <p:cNvPr id="301" name="Google Shape;301;p27"/>
          <p:cNvSpPr txBox="1"/>
          <p:nvPr/>
        </p:nvSpPr>
        <p:spPr>
          <a:xfrm>
            <a:off x="5486400" y="3136392"/>
            <a:ext cx="5376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מרכז מד הזווית על D</a:t>
            </a:r>
            <a:endParaRPr/>
          </a:p>
        </p:txBody>
      </p:sp>
      <p:sp>
        <p:nvSpPr>
          <p:cNvPr id="302" name="Google Shape;302;p27"/>
          <p:cNvSpPr/>
          <p:nvPr/>
        </p:nvSpPr>
        <p:spPr>
          <a:xfrm>
            <a:off x="10972800" y="3611880"/>
            <a:ext cx="365760" cy="36576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2</a:t>
            </a:r>
            <a:endParaRPr/>
          </a:p>
        </p:txBody>
      </p:sp>
      <p:sp>
        <p:nvSpPr>
          <p:cNvPr id="303" name="Google Shape;303;p27"/>
          <p:cNvSpPr txBox="1"/>
          <p:nvPr/>
        </p:nvSpPr>
        <p:spPr>
          <a:xfrm>
            <a:off x="5486400" y="3593592"/>
            <a:ext cx="5376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קו ה-0° מקביל לקו רשת אנכי - לצפון</a:t>
            </a:r>
            <a:endParaRPr/>
          </a:p>
        </p:txBody>
      </p:sp>
      <p:sp>
        <p:nvSpPr>
          <p:cNvPr id="304" name="Google Shape;304;p27"/>
          <p:cNvSpPr/>
          <p:nvPr/>
        </p:nvSpPr>
        <p:spPr>
          <a:xfrm>
            <a:off x="10972800" y="4069080"/>
            <a:ext cx="365760" cy="36576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3</a:t>
            </a:r>
            <a:endParaRPr/>
          </a:p>
        </p:txBody>
      </p:sp>
      <p:sp>
        <p:nvSpPr>
          <p:cNvPr id="305" name="Google Shape;305;p27"/>
          <p:cNvSpPr txBox="1"/>
          <p:nvPr/>
        </p:nvSpPr>
        <p:spPr>
          <a:xfrm>
            <a:off x="5486400" y="4050792"/>
            <a:ext cx="5376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מתחו חוט מ-D אל C</a:t>
            </a:r>
            <a:endParaRPr/>
          </a:p>
        </p:txBody>
      </p:sp>
      <p:sp>
        <p:nvSpPr>
          <p:cNvPr id="306" name="Google Shape;306;p27"/>
          <p:cNvSpPr/>
          <p:nvPr/>
        </p:nvSpPr>
        <p:spPr>
          <a:xfrm>
            <a:off x="10972800" y="4526280"/>
            <a:ext cx="365760" cy="36576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4</a:t>
            </a:r>
            <a:endParaRPr/>
          </a:p>
        </p:txBody>
      </p:sp>
      <p:sp>
        <p:nvSpPr>
          <p:cNvPr id="307" name="Google Shape;307;p27"/>
          <p:cNvSpPr txBox="1"/>
          <p:nvPr/>
        </p:nvSpPr>
        <p:spPr>
          <a:xfrm>
            <a:off x="5486400" y="4507992"/>
            <a:ext cx="5376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קבעו גזרה: 8 כיוונים, ואם אפשר 16</a:t>
            </a:r>
            <a:endParaRPr/>
          </a:p>
        </p:txBody>
      </p:sp>
      <p:sp>
        <p:nvSpPr>
          <p:cNvPr id="308" name="Google Shape;308;p27"/>
          <p:cNvSpPr/>
          <p:nvPr/>
        </p:nvSpPr>
        <p:spPr>
          <a:xfrm>
            <a:off x="320040" y="4956048"/>
            <a:ext cx="4937760" cy="548640"/>
          </a:xfrm>
          <a:prstGeom prst="roundRect">
            <a:avLst>
              <a:gd fmla="val 20000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9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מזרח-דרום-מזרח (≈113°)</a:t>
            </a:r>
            <a:endParaRPr/>
          </a:p>
        </p:txBody>
      </p:sp>
      <p:sp>
        <p:nvSpPr>
          <p:cNvPr id="309" name="Google Shape;309;p27"/>
          <p:cNvSpPr/>
          <p:nvPr/>
        </p:nvSpPr>
        <p:spPr>
          <a:xfrm>
            <a:off x="320040" y="5559552"/>
            <a:ext cx="4937760" cy="585216"/>
          </a:xfrm>
          <a:prstGeom prst="roundRect">
            <a:avLst>
              <a:gd fmla="val 1875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1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החוט עובר בין מזרח (90°) לדרום-מזרח (135°), קרוב יותר למזרח. ב-8 כיוונים - ממש על הגבול בין מזרח לדרום-מזרח</a:t>
            </a:r>
            <a:endParaRPr/>
          </a:p>
        </p:txBody>
      </p:sp>
      <p:pic>
        <p:nvPicPr>
          <p:cNvPr id="310" name="Google Shape;310;p27"/>
          <p:cNvPicPr preferRelativeResize="0"/>
          <p:nvPr/>
        </p:nvPicPr>
        <p:blipFill rotWithShape="1">
          <a:blip r:embed="rId6">
            <a:alphaModFix amt="60000"/>
          </a:blip>
          <a:srcRect b="0" l="0" r="0" t="0"/>
          <a:stretch/>
        </p:blipFill>
        <p:spPr>
          <a:xfrm>
            <a:off x="9186504" y="4887133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8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8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125753" y="4991278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אזימוט</a:t>
            </a:r>
            <a:endParaRPr/>
          </a:p>
        </p:txBody>
      </p:sp>
      <p:sp>
        <p:nvSpPr>
          <p:cNvPr id="318" name="Google Shape;318;p28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000"/>
              <a:t>הזווית שמודדים בין כיוון הצפון לכיוון המבוקש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000"/>
              <a:t>איך נמדוד?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000"/>
              <a:t>מד״קו, כמובן!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000"/>
              <a:t>נמדוד בעזרת החוט של המד״קו, עם כיוון השעון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000"/>
              <a:t>טווח 0°–360°, תמיד מהצפון. נמדד מהעומד אל המטרה - ולכן תלוי בנקודת המוצא</a:t>
            </a:r>
            <a:endParaRPr sz="2000"/>
          </a:p>
        </p:txBody>
      </p:sp>
      <p:pic>
        <p:nvPicPr>
          <p:cNvPr descr="azimuth_tool.png" id="319" name="Google Shape;31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1934600"/>
            <a:ext cx="3794760" cy="4040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9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9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153525" y="4819650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מציאת אזימוט יוצא</a:t>
            </a:r>
            <a:endParaRPr/>
          </a:p>
        </p:txBody>
      </p:sp>
      <p:sp>
        <p:nvSpPr>
          <p:cNvPr id="327" name="Google Shape;327;p29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אזימוט יוצא נמדד מהנווט אל המטרה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מה האזימוט ממני לנקודה האדומה?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מד״קו!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את האזימוט היוצא רואים במעגל האמצעי (הכחול)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אזימוט יוצא: 270</a:t>
            </a:r>
            <a:endParaRPr sz="2200"/>
          </a:p>
        </p:txBody>
      </p:sp>
      <p:pic>
        <p:nvPicPr>
          <p:cNvPr descr="az_yotze.png" id="328" name="Google Shape;32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2102140"/>
            <a:ext cx="3794760" cy="3705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0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30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8739549" y="5268998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מציאת אזימוט חוזר</a:t>
            </a:r>
            <a:endParaRPr/>
          </a:p>
        </p:txBody>
      </p:sp>
      <p:sp>
        <p:nvSpPr>
          <p:cNvPr id="336" name="Google Shape;336;p30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800"/>
              <a:t>אזימוט חוזר נמדד מהמטרה אל הנווט (איך המטרה ״רואה״ אותי)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800"/>
              <a:t>את האזימוט החוזר רואים במעגל הפנימי (הירוק)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800"/>
              <a:t>אזימוט חוזר: 90</a:t>
            </a:r>
            <a:endParaRPr sz="180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iw-IL" sz="1800"/>
              <a:t>דרך שנייה - למקם את המד״קו על המטרה ולחשב אזימוט יוצא לנווט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800"/>
              <a:t>שוב - אזימוט חוזר: 90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800"/>
              <a:t>בחישוב: אזימוט קטן מ-180° - מוסיפים 180°; גדול מ-180° - מפחיתים 180°</a:t>
            </a:r>
            <a:endParaRPr sz="1800"/>
          </a:p>
        </p:txBody>
      </p:sp>
      <p:pic>
        <p:nvPicPr>
          <p:cNvPr descr="az_hozer.png" id="337" name="Google Shape;33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2102140"/>
            <a:ext cx="3794760" cy="3705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31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אזימוט חוזר - חישוב ואיתור עצמי</a:t>
            </a:r>
            <a:endParaRPr/>
          </a:p>
        </p:txBody>
      </p:sp>
      <p:sp>
        <p:nvSpPr>
          <p:cNvPr id="344" name="Google Shape;344;p31"/>
          <p:cNvSpPr/>
          <p:nvPr/>
        </p:nvSpPr>
        <p:spPr>
          <a:xfrm>
            <a:off x="7315200" y="1783080"/>
            <a:ext cx="4023360" cy="960120"/>
          </a:xfrm>
          <a:prstGeom prst="roundRect">
            <a:avLst>
              <a:gd fmla="val 11428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אזימוט קטן מ-180°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מוסיפים 180°   (53° ← 233°)</a:t>
            </a:r>
            <a:endParaRPr/>
          </a:p>
        </p:txBody>
      </p:sp>
      <p:sp>
        <p:nvSpPr>
          <p:cNvPr id="345" name="Google Shape;345;p31"/>
          <p:cNvSpPr/>
          <p:nvPr/>
        </p:nvSpPr>
        <p:spPr>
          <a:xfrm>
            <a:off x="3154680" y="1783080"/>
            <a:ext cx="4023360" cy="960120"/>
          </a:xfrm>
          <a:prstGeom prst="roundRect">
            <a:avLst>
              <a:gd fmla="val 11428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אזימוט גדול מ-180°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מפחיתים 180°   (270° ← 90°)</a:t>
            </a:r>
            <a:endParaRPr/>
          </a:p>
        </p:txBody>
      </p:sp>
      <p:pic>
        <p:nvPicPr>
          <p:cNvPr descr="resection.png" id="346" name="Google Shape;34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3019777"/>
            <a:ext cx="3291840" cy="2555804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1"/>
          <p:cNvSpPr/>
          <p:nvPr/>
        </p:nvSpPr>
        <p:spPr>
          <a:xfrm>
            <a:off x="3931920" y="2971800"/>
            <a:ext cx="4846320" cy="2286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t" bIns="45700" lIns="164575" spcFirstLastPara="1" rIns="1645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7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שימושים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ציר חזרה וחילוץ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איתור עצמי: רואים יעד מוכר באזימוט 59°? אנחנו על קו שיוצא ממנו באזימוט 239°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שתי נקודות מוכרות = שני קווים. החיתוך = המיקום שלנו</a:t>
            </a:r>
            <a:endParaRPr/>
          </a:p>
        </p:txBody>
      </p:sp>
      <p:pic>
        <p:nvPicPr>
          <p:cNvPr id="348" name="Google Shape;348;p31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8852373" y="4505269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32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מעלות ואלפיות</a:t>
            </a:r>
            <a:endParaRPr/>
          </a:p>
        </p:txBody>
      </p:sp>
      <p:pic>
        <p:nvPicPr>
          <p:cNvPr descr="mils.png" id="355" name="Google Shape;35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79" y="1747068"/>
            <a:ext cx="3383280" cy="3363863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2"/>
          <p:cNvSpPr/>
          <p:nvPr/>
        </p:nvSpPr>
        <p:spPr>
          <a:xfrm>
            <a:off x="7726679" y="1783080"/>
            <a:ext cx="3611880" cy="1234440"/>
          </a:xfrm>
          <a:prstGeom prst="roundRect">
            <a:avLst>
              <a:gd fmla="val 8888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7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מעלות - 360° במעגל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השיטה המוכרת. רוב המצפנים והמד״קואים מסומנים במעלות</a:t>
            </a:r>
            <a:endParaRPr/>
          </a:p>
        </p:txBody>
      </p:sp>
      <p:sp>
        <p:nvSpPr>
          <p:cNvPr id="357" name="Google Shape;357;p32"/>
          <p:cNvSpPr/>
          <p:nvPr/>
        </p:nvSpPr>
        <p:spPr>
          <a:xfrm>
            <a:off x="4023360" y="1783080"/>
            <a:ext cx="3566160" cy="1234440"/>
          </a:xfrm>
          <a:prstGeom prst="roundRect">
            <a:avLst>
              <a:gd fmla="val 8888" name="adj"/>
            </a:avLst>
          </a:prstGeom>
          <a:solidFill>
            <a:srgbClr val="FBE9E7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7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אלפיות - 6400 במעגל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יחידה צבאית מדויקת יותר: תותחנים, מרגמות ותצפית</a:t>
            </a:r>
            <a:endParaRPr/>
          </a:p>
        </p:txBody>
      </p:sp>
      <p:sp>
        <p:nvSpPr>
          <p:cNvPr id="358" name="Google Shape;358;p32"/>
          <p:cNvSpPr/>
          <p:nvPr/>
        </p:nvSpPr>
        <p:spPr>
          <a:xfrm>
            <a:off x="4023360" y="3154680"/>
            <a:ext cx="7315200" cy="6858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המרה: </a:t>
            </a: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1° ≈ 17.8 אלפיות   ·   אלפיות = מעלות × 6400 ÷ 360</a:t>
            </a:r>
            <a:endParaRPr/>
          </a:p>
        </p:txBody>
      </p:sp>
      <p:sp>
        <p:nvSpPr>
          <p:cNvPr id="359" name="Google Shape;359;p32"/>
          <p:cNvSpPr/>
          <p:nvPr/>
        </p:nvSpPr>
        <p:spPr>
          <a:xfrm>
            <a:off x="4023360" y="4023360"/>
            <a:ext cx="4297680" cy="1188720"/>
          </a:xfrm>
          <a:prstGeom prst="roundRect">
            <a:avLst>
              <a:gd fmla="val 9230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הכלל השימושי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אלפית אחת ≈ מטר אחד הצידה במרחק של קילומטר - כך מעריכים טעות צד ותיקוני אש</a:t>
            </a:r>
            <a:endParaRPr/>
          </a:p>
        </p:txBody>
      </p:sp>
      <p:pic>
        <p:nvPicPr>
          <p:cNvPr descr="mil_rule.png" id="360" name="Google Shape;360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12480" y="4075784"/>
            <a:ext cx="2926079" cy="1083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2"/>
          <p:cNvPicPr preferRelativeResize="0"/>
          <p:nvPr/>
        </p:nvPicPr>
        <p:blipFill rotWithShape="1">
          <a:blip r:embed="rId6">
            <a:alphaModFix amt="60000"/>
          </a:blip>
          <a:srcRect b="0" l="0" r="0" t="0"/>
          <a:stretch/>
        </p:blipFill>
        <p:spPr>
          <a:xfrm>
            <a:off x="8843694" y="5199568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33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שלושה סוגי צפון</a:t>
            </a:r>
            <a:endParaRPr/>
          </a:p>
        </p:txBody>
      </p:sp>
      <p:pic>
        <p:nvPicPr>
          <p:cNvPr descr="norths.png" id="368" name="Google Shape;36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1007" y="1737360"/>
            <a:ext cx="2221345" cy="338328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3"/>
          <p:cNvSpPr txBox="1"/>
          <p:nvPr/>
        </p:nvSpPr>
        <p:spPr>
          <a:xfrm>
            <a:off x="365760" y="51206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1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הזוויות בשרטוט מוגדלות להמחשה</a:t>
            </a:r>
            <a:endParaRPr/>
          </a:p>
        </p:txBody>
      </p:sp>
      <p:sp>
        <p:nvSpPr>
          <p:cNvPr id="370" name="Google Shape;370;p33"/>
          <p:cNvSpPr/>
          <p:nvPr/>
        </p:nvSpPr>
        <p:spPr>
          <a:xfrm>
            <a:off x="4023360" y="1783080"/>
            <a:ext cx="7315200" cy="822960"/>
          </a:xfrm>
          <a:prstGeom prst="roundRect">
            <a:avLst>
              <a:gd fmla="val 13333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★ צפון אמיתי (TN): </a:t>
            </a: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הכיוון לקוטב הצפוני הגאוגרפי</a:t>
            </a:r>
            <a:endParaRPr/>
          </a:p>
        </p:txBody>
      </p:sp>
      <p:sp>
        <p:nvSpPr>
          <p:cNvPr id="371" name="Google Shape;371;p33"/>
          <p:cNvSpPr/>
          <p:nvPr/>
        </p:nvSpPr>
        <p:spPr>
          <a:xfrm>
            <a:off x="4023360" y="2715768"/>
            <a:ext cx="7315200" cy="822960"/>
          </a:xfrm>
          <a:prstGeom prst="roundRect">
            <a:avLst>
              <a:gd fmla="val 13333" name="adj"/>
            </a:avLst>
          </a:prstGeom>
          <a:solidFill>
            <a:srgbClr val="E6EFF8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F6FB0"/>
                </a:solidFill>
                <a:latin typeface="Assistant"/>
                <a:ea typeface="Assistant"/>
                <a:cs typeface="Assistant"/>
                <a:sym typeface="Assistant"/>
              </a:rPr>
              <a:t>צפון רשת (GN): </a:t>
            </a: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כיוון הקווים האנכיים של רשת הקואורדינטות. זה הצפון שמודדים ממנו במפה</a:t>
            </a:r>
            <a:endParaRPr/>
          </a:p>
        </p:txBody>
      </p:sp>
      <p:sp>
        <p:nvSpPr>
          <p:cNvPr id="372" name="Google Shape;372;p33"/>
          <p:cNvSpPr/>
          <p:nvPr/>
        </p:nvSpPr>
        <p:spPr>
          <a:xfrm>
            <a:off x="4023360" y="3648456"/>
            <a:ext cx="7315200" cy="822960"/>
          </a:xfrm>
          <a:prstGeom prst="roundRect">
            <a:avLst>
              <a:gd fmla="val 13333" name="adj"/>
            </a:avLst>
          </a:prstGeom>
          <a:solidFill>
            <a:srgbClr val="FBE9E7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צפון מגנטי (MN): </a:t>
            </a: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הכיוון שאליו מצביעה מחט המצפן</a:t>
            </a:r>
            <a:endParaRPr/>
          </a:p>
        </p:txBody>
      </p:sp>
      <p:sp>
        <p:nvSpPr>
          <p:cNvPr id="373" name="Google Shape;373;p33"/>
          <p:cNvSpPr/>
          <p:nvPr/>
        </p:nvSpPr>
        <p:spPr>
          <a:xfrm>
            <a:off x="4023360" y="4663440"/>
            <a:ext cx="7315200" cy="594360"/>
          </a:xfrm>
          <a:prstGeom prst="roundRect">
            <a:avLst>
              <a:gd fmla="val 50000" name="adj"/>
            </a:avLst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4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בישראל הצפון המגנטי סוטה כיום בכ-5° מזרחה. הערך המדויק - בשולי המפה (זווית G-M)</a:t>
            </a:r>
            <a:endParaRPr/>
          </a:p>
        </p:txBody>
      </p:sp>
      <p:pic>
        <p:nvPicPr>
          <p:cNvPr id="374" name="Google Shape;374;p33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8674539" y="5303713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4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מה האזימוט מ-A אל B?</a:t>
            </a:r>
            <a:endParaRPr/>
          </a:p>
        </p:txBody>
      </p:sp>
      <p:pic>
        <p:nvPicPr>
          <p:cNvPr descr="m_p08q.png" id="381" name="Google Shape;38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" y="1876208"/>
            <a:ext cx="4937760" cy="29227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_p08a.png" id="382" name="Google Shape;38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1876208"/>
            <a:ext cx="4937760" cy="2922702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4"/>
          <p:cNvSpPr/>
          <p:nvPr/>
        </p:nvSpPr>
        <p:spPr>
          <a:xfrm>
            <a:off x="8503920" y="1755648"/>
            <a:ext cx="2834640" cy="438912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4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שלב תרגול מעשי - 08</a:t>
            </a:r>
            <a:endParaRPr/>
          </a:p>
        </p:txBody>
      </p:sp>
      <p:sp>
        <p:nvSpPr>
          <p:cNvPr id="384" name="Google Shape;384;p34"/>
          <p:cNvSpPr/>
          <p:nvPr/>
        </p:nvSpPr>
        <p:spPr>
          <a:xfrm>
            <a:off x="5486400" y="2286000"/>
            <a:ext cx="5852160" cy="731520"/>
          </a:xfrm>
          <a:prstGeom prst="roundRect">
            <a:avLst>
              <a:gd fmla="val 15000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מה האזימוט מ-A אל B?</a:t>
            </a:r>
            <a:endParaRPr/>
          </a:p>
        </p:txBody>
      </p:sp>
      <p:sp>
        <p:nvSpPr>
          <p:cNvPr id="385" name="Google Shape;385;p34"/>
          <p:cNvSpPr/>
          <p:nvPr/>
        </p:nvSpPr>
        <p:spPr>
          <a:xfrm>
            <a:off x="5486400" y="1755648"/>
            <a:ext cx="2880360" cy="457200"/>
          </a:xfrm>
          <a:prstGeom prst="roundRect">
            <a:avLst>
              <a:gd fmla="val 24000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1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החלק במד״קו: </a:t>
            </a:r>
            <a:r>
              <a:rPr b="0" i="0" lang="iw-IL" sz="11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3. מד הזווית + 4. החוט</a:t>
            </a:r>
            <a:endParaRPr/>
          </a:p>
        </p:txBody>
      </p:sp>
      <p:sp>
        <p:nvSpPr>
          <p:cNvPr id="386" name="Google Shape;386;p34"/>
          <p:cNvSpPr/>
          <p:nvPr/>
        </p:nvSpPr>
        <p:spPr>
          <a:xfrm>
            <a:off x="10972800" y="3154680"/>
            <a:ext cx="365760" cy="36576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1</a:t>
            </a:r>
            <a:endParaRPr/>
          </a:p>
        </p:txBody>
      </p:sp>
      <p:sp>
        <p:nvSpPr>
          <p:cNvPr id="387" name="Google Shape;387;p34"/>
          <p:cNvSpPr txBox="1"/>
          <p:nvPr/>
        </p:nvSpPr>
        <p:spPr>
          <a:xfrm>
            <a:off x="5486400" y="3136392"/>
            <a:ext cx="5376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קו בעיפרון מ-A אל B</a:t>
            </a:r>
            <a:endParaRPr/>
          </a:p>
        </p:txBody>
      </p:sp>
      <p:sp>
        <p:nvSpPr>
          <p:cNvPr id="388" name="Google Shape;388;p34"/>
          <p:cNvSpPr/>
          <p:nvPr/>
        </p:nvSpPr>
        <p:spPr>
          <a:xfrm>
            <a:off x="10972800" y="3611880"/>
            <a:ext cx="365760" cy="36576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2</a:t>
            </a:r>
            <a:endParaRPr/>
          </a:p>
        </p:txBody>
      </p:sp>
      <p:sp>
        <p:nvSpPr>
          <p:cNvPr id="389" name="Google Shape;389;p34"/>
          <p:cNvSpPr txBox="1"/>
          <p:nvPr/>
        </p:nvSpPr>
        <p:spPr>
          <a:xfrm>
            <a:off x="5486400" y="3593592"/>
            <a:ext cx="5376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מרכז מד הזווית על A, ה-0 לצפון הרשת</a:t>
            </a:r>
            <a:endParaRPr/>
          </a:p>
        </p:txBody>
      </p:sp>
      <p:sp>
        <p:nvSpPr>
          <p:cNvPr id="390" name="Google Shape;390;p34"/>
          <p:cNvSpPr/>
          <p:nvPr/>
        </p:nvSpPr>
        <p:spPr>
          <a:xfrm>
            <a:off x="10972800" y="4069080"/>
            <a:ext cx="365760" cy="36576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3</a:t>
            </a:r>
            <a:endParaRPr/>
          </a:p>
        </p:txBody>
      </p:sp>
      <p:sp>
        <p:nvSpPr>
          <p:cNvPr id="391" name="Google Shape;391;p34"/>
          <p:cNvSpPr txBox="1"/>
          <p:nvPr/>
        </p:nvSpPr>
        <p:spPr>
          <a:xfrm>
            <a:off x="5486400" y="4050792"/>
            <a:ext cx="5376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קראו את האזימוט</a:t>
            </a:r>
            <a:endParaRPr/>
          </a:p>
        </p:txBody>
      </p:sp>
      <p:sp>
        <p:nvSpPr>
          <p:cNvPr id="392" name="Google Shape;392;p34"/>
          <p:cNvSpPr/>
          <p:nvPr/>
        </p:nvSpPr>
        <p:spPr>
          <a:xfrm>
            <a:off x="10972800" y="4526280"/>
            <a:ext cx="365760" cy="36576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4</a:t>
            </a:r>
            <a:endParaRPr/>
          </a:p>
        </p:txBody>
      </p:sp>
      <p:sp>
        <p:nvSpPr>
          <p:cNvPr id="393" name="Google Shape;393;p34"/>
          <p:cNvSpPr txBox="1"/>
          <p:nvPr/>
        </p:nvSpPr>
        <p:spPr>
          <a:xfrm>
            <a:off x="5486400" y="4507992"/>
            <a:ext cx="5376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חשבו אזימוט חוזר (±180°)</a:t>
            </a:r>
            <a:endParaRPr/>
          </a:p>
        </p:txBody>
      </p:sp>
      <p:sp>
        <p:nvSpPr>
          <p:cNvPr id="394" name="Google Shape;394;p34"/>
          <p:cNvSpPr/>
          <p:nvPr/>
        </p:nvSpPr>
        <p:spPr>
          <a:xfrm>
            <a:off x="320040" y="4956048"/>
            <a:ext cx="4937760" cy="548640"/>
          </a:xfrm>
          <a:prstGeom prst="roundRect">
            <a:avLst>
              <a:gd fmla="val 20000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0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A → B ≈ 53°</a:t>
            </a:r>
            <a:endParaRPr/>
          </a:p>
        </p:txBody>
      </p:sp>
      <p:sp>
        <p:nvSpPr>
          <p:cNvPr id="395" name="Google Shape;395;p34"/>
          <p:cNvSpPr/>
          <p:nvPr/>
        </p:nvSpPr>
        <p:spPr>
          <a:xfrm>
            <a:off x="320040" y="5559552"/>
            <a:ext cx="4937760" cy="585216"/>
          </a:xfrm>
          <a:prstGeom prst="roundRect">
            <a:avLst>
              <a:gd fmla="val 1875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חוזר: 53° + 180° = 233° · באלפיות ≈ 945 · בדיקת שפיות: 53° בגזרת צפון-מזרח ✓</a:t>
            </a:r>
            <a:endParaRPr/>
          </a:p>
        </p:txBody>
      </p:sp>
      <p:pic>
        <p:nvPicPr>
          <p:cNvPr id="396" name="Google Shape;396;p34"/>
          <p:cNvPicPr preferRelativeResize="0"/>
          <p:nvPr/>
        </p:nvPicPr>
        <p:blipFill rotWithShape="1">
          <a:blip r:embed="rId6">
            <a:alphaModFix amt="60000"/>
          </a:blip>
          <a:srcRect b="0" l="0" r="0" t="0"/>
          <a:stretch/>
        </p:blipFill>
        <p:spPr>
          <a:xfrm>
            <a:off x="9186504" y="4887133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המצפן הצבאי</a:t>
            </a:r>
            <a:endParaRPr/>
          </a:p>
        </p:txBody>
      </p:sp>
      <p:sp>
        <p:nvSpPr>
          <p:cNvPr id="402" name="Google Shape;402;p35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מצפן בשימוש רווח בצבא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ממש קל לשימוש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מחט מגנטית שמצביעה תמיד לצפון</a:t>
            </a:r>
            <a:endParaRPr sz="2200"/>
          </a:p>
        </p:txBody>
      </p:sp>
      <p:pic>
        <p:nvPicPr>
          <p:cNvPr descr="compass_mil.png"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057400"/>
            <a:ext cx="3794760" cy="3794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5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5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8277225" y="4162425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36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6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195183" y="4852418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מציאת אזימוט באמצעות מצפן</a:t>
            </a:r>
            <a:endParaRPr/>
          </a:p>
        </p:txBody>
      </p:sp>
      <p:sp>
        <p:nvSpPr>
          <p:cNvPr id="413" name="Google Shape;413;p36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שני דגשים חשובים:</a:t>
            </a:r>
            <a:endParaRPr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iw-IL" sz="2200"/>
              <a:t>מצפן מקביל לקרקע</a:t>
            </a:r>
            <a:endParaRPr sz="220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iw-IL" sz="2200"/>
              <a:t>קו ראייה אחד - עין, מנסרה, נימה אדומה, מטרה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המטרה תהיה באמצע הלהב של המצפן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קוראים את האזימוט דרך המנסרה - המספר צריך להיראות ברור</a:t>
            </a:r>
            <a:endParaRPr sz="2200"/>
          </a:p>
        </p:txBody>
      </p:sp>
      <p:pic>
        <p:nvPicPr>
          <p:cNvPr descr="compass_aim.png" id="414" name="Google Shape;41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2663580"/>
            <a:ext cx="3794760" cy="258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7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מהמד״קו למצפן - תיקון סטייה</a:t>
            </a:r>
            <a:endParaRPr/>
          </a:p>
        </p:txBody>
      </p:sp>
      <p:sp>
        <p:nvSpPr>
          <p:cNvPr id="421" name="Google Shape;421;p37"/>
          <p:cNvSpPr/>
          <p:nvPr/>
        </p:nvSpPr>
        <p:spPr>
          <a:xfrm>
            <a:off x="8229600" y="1783080"/>
            <a:ext cx="3108960" cy="1600200"/>
          </a:xfrm>
          <a:prstGeom prst="roundRect">
            <a:avLst>
              <a:gd fmla="val 6857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1. מד״קו במפה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32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113°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אזימוט רשת D→C</a:t>
            </a:r>
            <a:endParaRPr/>
          </a:p>
        </p:txBody>
      </p:sp>
      <p:sp>
        <p:nvSpPr>
          <p:cNvPr id="422" name="Google Shape;422;p37"/>
          <p:cNvSpPr/>
          <p:nvPr/>
        </p:nvSpPr>
        <p:spPr>
          <a:xfrm>
            <a:off x="4480560" y="1783080"/>
            <a:ext cx="3108960" cy="1600200"/>
          </a:xfrm>
          <a:prstGeom prst="roundRect">
            <a:avLst>
              <a:gd fmla="val 6857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2. תיקון סטייה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32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108°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113° − 5° (סטייה מזרחית)</a:t>
            </a:r>
            <a:endParaRPr/>
          </a:p>
        </p:txBody>
      </p:sp>
      <p:sp>
        <p:nvSpPr>
          <p:cNvPr id="423" name="Google Shape;423;p37"/>
          <p:cNvSpPr/>
          <p:nvPr/>
        </p:nvSpPr>
        <p:spPr>
          <a:xfrm>
            <a:off x="731520" y="1783080"/>
            <a:ext cx="3108960" cy="1600200"/>
          </a:xfrm>
          <a:prstGeom prst="roundRect">
            <a:avLst>
              <a:gd fmla="val 6857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3. למצפן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32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108°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מכוונים את המצפן</a:t>
            </a:r>
            <a:endParaRPr/>
          </a:p>
        </p:txBody>
      </p:sp>
      <p:sp>
        <p:nvSpPr>
          <p:cNvPr id="424" name="Google Shape;424;p37"/>
          <p:cNvSpPr/>
          <p:nvPr/>
        </p:nvSpPr>
        <p:spPr>
          <a:xfrm>
            <a:off x="7726679" y="2377440"/>
            <a:ext cx="457200" cy="41148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73985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7"/>
          <p:cNvSpPr/>
          <p:nvPr/>
        </p:nvSpPr>
        <p:spPr>
          <a:xfrm>
            <a:off x="3977639" y="2377440"/>
            <a:ext cx="457200" cy="41148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73985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7"/>
          <p:cNvSpPr/>
          <p:nvPr/>
        </p:nvSpPr>
        <p:spPr>
          <a:xfrm>
            <a:off x="6035040" y="3657600"/>
            <a:ext cx="5303520" cy="1234440"/>
          </a:xfrm>
          <a:prstGeom prst="roundRect">
            <a:avLst>
              <a:gd fmla="val 8888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ממפה למצפן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אזימוט מגנטי = אזימוט רשת − סטייה מזרחית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4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113° במפה ← 108° במצפן</a:t>
            </a:r>
            <a:endParaRPr/>
          </a:p>
        </p:txBody>
      </p:sp>
      <p:sp>
        <p:nvSpPr>
          <p:cNvPr id="427" name="Google Shape;427;p37"/>
          <p:cNvSpPr/>
          <p:nvPr/>
        </p:nvSpPr>
        <p:spPr>
          <a:xfrm>
            <a:off x="548640" y="3657600"/>
            <a:ext cx="5303520" cy="1234440"/>
          </a:xfrm>
          <a:prstGeom prst="roundRect">
            <a:avLst>
              <a:gd fmla="val 8888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ממצפן למפה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אזימוט רשת = אזימוט מגנטי + סטייה מזרחית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4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100° במצפן ← 105° במפה</a:t>
            </a:r>
            <a:endParaRPr/>
          </a:p>
        </p:txBody>
      </p:sp>
      <p:pic>
        <p:nvPicPr>
          <p:cNvPr id="428" name="Google Shape;428;p37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8895767" y="5164853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8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הליכה באזימוט בלילה - קליקים</a:t>
            </a:r>
            <a:endParaRPr/>
          </a:p>
        </p:txBody>
      </p:sp>
      <p:pic>
        <p:nvPicPr>
          <p:cNvPr descr="clicks.png" id="435" name="Google Shape;43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1828800"/>
            <a:ext cx="301752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8"/>
          <p:cNvSpPr/>
          <p:nvPr/>
        </p:nvSpPr>
        <p:spPr>
          <a:xfrm>
            <a:off x="3931920" y="1783080"/>
            <a:ext cx="7406640" cy="685800"/>
          </a:xfrm>
          <a:prstGeom prst="roundRect">
            <a:avLst>
              <a:gd fmla="val 16000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בלילה לא קוראים מספרים - מכוונים את הטבעת מראש. </a:t>
            </a: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במצפן עם טבעת קליקים (נפוץ: כל קליק = 3°) - לוודא מול המצפן ביחידה</a:t>
            </a:r>
            <a:endParaRPr/>
          </a:p>
        </p:txBody>
      </p:sp>
      <p:sp>
        <p:nvSpPr>
          <p:cNvPr id="437" name="Google Shape;437;p38"/>
          <p:cNvSpPr/>
          <p:nvPr/>
        </p:nvSpPr>
        <p:spPr>
          <a:xfrm>
            <a:off x="10954511" y="2651760"/>
            <a:ext cx="384048" cy="384048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1</a:t>
            </a:r>
            <a:endParaRPr/>
          </a:p>
        </p:txBody>
      </p:sp>
      <p:sp>
        <p:nvSpPr>
          <p:cNvPr id="438" name="Google Shape;438;p38"/>
          <p:cNvSpPr txBox="1"/>
          <p:nvPr/>
        </p:nvSpPr>
        <p:spPr>
          <a:xfrm>
            <a:off x="3931920" y="2633472"/>
            <a:ext cx="69128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איפוס: הקו הזוהר שבטבעת מעל קו הסימון הקבוע</a:t>
            </a:r>
            <a:endParaRPr/>
          </a:p>
        </p:txBody>
      </p:sp>
      <p:sp>
        <p:nvSpPr>
          <p:cNvPr id="439" name="Google Shape;439;p38"/>
          <p:cNvSpPr/>
          <p:nvPr/>
        </p:nvSpPr>
        <p:spPr>
          <a:xfrm>
            <a:off x="10954511" y="3154680"/>
            <a:ext cx="384048" cy="384048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2</a:t>
            </a:r>
            <a:endParaRPr/>
          </a:p>
        </p:txBody>
      </p:sp>
      <p:sp>
        <p:nvSpPr>
          <p:cNvPr id="440" name="Google Shape;440;p38"/>
          <p:cNvSpPr txBox="1"/>
          <p:nvPr/>
        </p:nvSpPr>
        <p:spPr>
          <a:xfrm>
            <a:off x="3931920" y="3136392"/>
            <a:ext cx="69128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חישוב: אזימוט ÷ 3 = מספר קליקים</a:t>
            </a:r>
            <a:endParaRPr/>
          </a:p>
        </p:txBody>
      </p:sp>
      <p:sp>
        <p:nvSpPr>
          <p:cNvPr id="441" name="Google Shape;441;p38"/>
          <p:cNvSpPr/>
          <p:nvPr/>
        </p:nvSpPr>
        <p:spPr>
          <a:xfrm>
            <a:off x="10954511" y="3657600"/>
            <a:ext cx="384048" cy="384048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3</a:t>
            </a:r>
            <a:endParaRPr/>
          </a:p>
        </p:txBody>
      </p:sp>
      <p:sp>
        <p:nvSpPr>
          <p:cNvPr id="442" name="Google Shape;442;p38"/>
          <p:cNvSpPr txBox="1"/>
          <p:nvPr/>
        </p:nvSpPr>
        <p:spPr>
          <a:xfrm>
            <a:off x="3931920" y="3639312"/>
            <a:ext cx="69128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סיבוב: מסובבים את הטבעת במספר הקליקים</a:t>
            </a:r>
            <a:endParaRPr/>
          </a:p>
        </p:txBody>
      </p:sp>
      <p:sp>
        <p:nvSpPr>
          <p:cNvPr id="443" name="Google Shape;443;p38"/>
          <p:cNvSpPr/>
          <p:nvPr/>
        </p:nvSpPr>
        <p:spPr>
          <a:xfrm>
            <a:off x="10954511" y="4160520"/>
            <a:ext cx="384048" cy="384048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4</a:t>
            </a:r>
            <a:endParaRPr/>
          </a:p>
        </p:txBody>
      </p:sp>
      <p:sp>
        <p:nvSpPr>
          <p:cNvPr id="444" name="Google Shape;444;p38"/>
          <p:cNvSpPr txBox="1"/>
          <p:nvPr/>
        </p:nvSpPr>
        <p:spPr>
          <a:xfrm>
            <a:off x="3931920" y="4142232"/>
            <a:ext cx="69128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הליכה: מסתובבים עד שחץ הצפון על הקו הזוהר ונעים בכיוון חוט הכיוון</a:t>
            </a:r>
            <a:endParaRPr/>
          </a:p>
        </p:txBody>
      </p:sp>
      <p:sp>
        <p:nvSpPr>
          <p:cNvPr id="445" name="Google Shape;445;p38"/>
          <p:cNvSpPr/>
          <p:nvPr/>
        </p:nvSpPr>
        <p:spPr>
          <a:xfrm>
            <a:off x="3931920" y="4754880"/>
            <a:ext cx="7406640" cy="548640"/>
          </a:xfrm>
          <a:prstGeom prst="roundRect">
            <a:avLst>
              <a:gd fmla="val 50000" name="adj"/>
            </a:avLst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4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דוגמה: 108° ÷ 3 = 36 קליקים בדיוק. אזימוט שאינו מתחלק ב-3 - מעגלים לקרוב</a:t>
            </a:r>
            <a:endParaRPr/>
          </a:p>
        </p:txBody>
      </p:sp>
      <p:pic>
        <p:nvPicPr>
          <p:cNvPr id="446" name="Google Shape;446;p38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8578993" y="5373142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הצפנת מפה</a:t>
            </a:r>
            <a:endParaRPr/>
          </a:p>
        </p:txBody>
      </p:sp>
      <p:sp>
        <p:nvSpPr>
          <p:cNvPr id="452" name="Google Shape;452;p39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800"/>
              <a:t>יש לכוון את המפה לכיוון הצפון לפי המצפן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800"/>
              <a:t>צפון (המפה) אל צפון (השטח)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800"/>
              <a:t>כך שכל מה שרואים במפה יושב באותו כיוון כמו בשטח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800"/>
              <a:t>בפועל: מצפן צמוד לקו רשת אנכי, מסובבים את המפה יחד איתו עד שהמחט לצפון (ומתקנים סטייה)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800"/>
              <a:t>גם בלי מצפן: מסובבים את המפה עד שצורות השטח מתאימות למה שרואים</a:t>
            </a:r>
            <a:endParaRPr sz="1800"/>
          </a:p>
        </p:txBody>
      </p:sp>
      <p:pic>
        <p:nvPicPr>
          <p:cNvPr descr="orient_map.png" id="453" name="Google Shape;45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577681"/>
            <a:ext cx="3794760" cy="2754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39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9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8895767" y="5164853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40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מה משבש את המצפן?</a:t>
            </a:r>
            <a:endParaRPr/>
          </a:p>
        </p:txBody>
      </p:sp>
      <p:sp>
        <p:nvSpPr>
          <p:cNvPr id="462" name="Google Shape;462;p40"/>
          <p:cNvSpPr txBox="1"/>
          <p:nvPr/>
        </p:nvSpPr>
        <p:spPr>
          <a:xfrm>
            <a:off x="4206240" y="1737360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המחט נמשכת לברזל ולשדות חשמליים. מרחקי בטיחות מקובלים:</a:t>
            </a:r>
            <a:endParaRPr/>
          </a:p>
        </p:txBody>
      </p:sp>
      <p:sp>
        <p:nvSpPr>
          <p:cNvPr id="463" name="Google Shape;463;p40"/>
          <p:cNvSpPr/>
          <p:nvPr/>
        </p:nvSpPr>
        <p:spPr>
          <a:xfrm>
            <a:off x="4206240" y="2286000"/>
            <a:ext cx="7132320" cy="512064"/>
          </a:xfrm>
          <a:prstGeom prst="roundRect">
            <a:avLst>
              <a:gd fmla="val 21428" name="adj"/>
            </a:avLst>
          </a:prstGeom>
          <a:solidFill>
            <a:srgbClr val="EEF4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קווי מתח גבוה</a:t>
            </a:r>
            <a:r>
              <a:rPr b="0" i="0" lang="iw-IL" sz="14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   ←   </a:t>
            </a:r>
            <a:r>
              <a:rPr b="1" i="0" lang="iw-IL" sz="17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55 מ'</a:t>
            </a:r>
            <a:endParaRPr/>
          </a:p>
        </p:txBody>
      </p:sp>
      <p:sp>
        <p:nvSpPr>
          <p:cNvPr id="464" name="Google Shape;464;p40"/>
          <p:cNvSpPr/>
          <p:nvPr/>
        </p:nvSpPr>
        <p:spPr>
          <a:xfrm>
            <a:off x="4206240" y="2889504"/>
            <a:ext cx="7132320" cy="512064"/>
          </a:xfrm>
          <a:prstGeom prst="roundRect">
            <a:avLst>
              <a:gd fmla="val 21428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רכב, טנק, תותח</a:t>
            </a:r>
            <a:r>
              <a:rPr b="0" i="0" lang="iw-IL" sz="14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   ←   </a:t>
            </a:r>
            <a:r>
              <a:rPr b="1" i="0" lang="iw-IL" sz="17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18 מ'</a:t>
            </a:r>
            <a:endParaRPr/>
          </a:p>
        </p:txBody>
      </p:sp>
      <p:sp>
        <p:nvSpPr>
          <p:cNvPr id="465" name="Google Shape;465;p40"/>
          <p:cNvSpPr/>
          <p:nvPr/>
        </p:nvSpPr>
        <p:spPr>
          <a:xfrm>
            <a:off x="4206240" y="3493008"/>
            <a:ext cx="7132320" cy="512064"/>
          </a:xfrm>
          <a:prstGeom prst="roundRect">
            <a:avLst>
              <a:gd fmla="val 21428" name="adj"/>
            </a:avLst>
          </a:prstGeom>
          <a:solidFill>
            <a:srgbClr val="EEF4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גדר תיל, קווי טלפון</a:t>
            </a:r>
            <a:r>
              <a:rPr b="0" i="0" lang="iw-IL" sz="14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   ←   </a:t>
            </a:r>
            <a:r>
              <a:rPr b="1" i="0" lang="iw-IL" sz="17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10 מ'</a:t>
            </a:r>
            <a:endParaRPr/>
          </a:p>
        </p:txBody>
      </p:sp>
      <p:sp>
        <p:nvSpPr>
          <p:cNvPr id="466" name="Google Shape;466;p40"/>
          <p:cNvSpPr/>
          <p:nvPr/>
        </p:nvSpPr>
        <p:spPr>
          <a:xfrm>
            <a:off x="4206240" y="4096512"/>
            <a:ext cx="7132320" cy="512064"/>
          </a:xfrm>
          <a:prstGeom prst="roundRect">
            <a:avLst>
              <a:gd fmla="val 21428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מקלע</a:t>
            </a:r>
            <a:r>
              <a:rPr b="0" i="0" lang="iw-IL" sz="14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   ←   </a:t>
            </a:r>
            <a:r>
              <a:rPr b="1" i="0" lang="iw-IL" sz="17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2 מ'</a:t>
            </a:r>
            <a:endParaRPr/>
          </a:p>
        </p:txBody>
      </p:sp>
      <p:sp>
        <p:nvSpPr>
          <p:cNvPr id="467" name="Google Shape;467;p40"/>
          <p:cNvSpPr/>
          <p:nvPr/>
        </p:nvSpPr>
        <p:spPr>
          <a:xfrm>
            <a:off x="4206240" y="4700016"/>
            <a:ext cx="7132320" cy="512064"/>
          </a:xfrm>
          <a:prstGeom prst="roundRect">
            <a:avLst>
              <a:gd fmla="val 21428" name="adj"/>
            </a:avLst>
          </a:prstGeom>
          <a:solidFill>
            <a:srgbClr val="EEF4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קסדה או רובה</a:t>
            </a:r>
            <a:r>
              <a:rPr b="0" i="0" lang="iw-IL" sz="14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   ←   </a:t>
            </a:r>
            <a:r>
              <a:rPr b="1" i="0" lang="iw-IL" sz="17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0.5 מ'</a:t>
            </a:r>
            <a:endParaRPr/>
          </a:p>
        </p:txBody>
      </p:sp>
      <p:sp>
        <p:nvSpPr>
          <p:cNvPr id="468" name="Google Shape;468;p40"/>
          <p:cNvSpPr/>
          <p:nvPr/>
        </p:nvSpPr>
        <p:spPr>
          <a:xfrm>
            <a:off x="411480" y="1783080"/>
            <a:ext cx="3566160" cy="3520440"/>
          </a:xfrm>
          <a:prstGeom prst="roundRect">
            <a:avLst>
              <a:gd fmla="val 3116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t" bIns="45700" lIns="182875" spcFirstLastPara="1" rIns="1828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בשטח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מתרחקים מהרכב לפני מדידה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מניחים את הנשק בצד בזמן הקריאה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זהירות מאבנים מגנטיות ומבנים עם ברזל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מדידה 'לא הגיונית'? זזים כמה מטרים ומודדים שוב</a:t>
            </a:r>
            <a:endParaRPr/>
          </a:p>
        </p:txBody>
      </p:sp>
      <p:pic>
        <p:nvPicPr>
          <p:cNvPr id="469" name="Google Shape;469;p40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8739549" y="5268998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41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כוונו את המצפן לקטע A→B</a:t>
            </a:r>
            <a:endParaRPr/>
          </a:p>
        </p:txBody>
      </p:sp>
      <p:sp>
        <p:nvSpPr>
          <p:cNvPr id="476" name="Google Shape;476;p41"/>
          <p:cNvSpPr/>
          <p:nvPr/>
        </p:nvSpPr>
        <p:spPr>
          <a:xfrm>
            <a:off x="8503920" y="1755648"/>
            <a:ext cx="2834640" cy="438912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4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שלב תרגול מעשי - 09</a:t>
            </a:r>
            <a:endParaRPr/>
          </a:p>
        </p:txBody>
      </p:sp>
      <p:sp>
        <p:nvSpPr>
          <p:cNvPr id="477" name="Google Shape;477;p41"/>
          <p:cNvSpPr/>
          <p:nvPr/>
        </p:nvSpPr>
        <p:spPr>
          <a:xfrm>
            <a:off x="4114800" y="2286000"/>
            <a:ext cx="7223760" cy="731520"/>
          </a:xfrm>
          <a:prstGeom prst="roundRect">
            <a:avLst>
              <a:gd fmla="val 15000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מתרגול 08: אזימוט רשת A→B ≈ 53°. בשולי המפה: סטייה 5° מזרחה. יוצאים בלילה</a:t>
            </a:r>
            <a:endParaRPr/>
          </a:p>
        </p:txBody>
      </p:sp>
      <p:sp>
        <p:nvSpPr>
          <p:cNvPr id="478" name="Google Shape;478;p41"/>
          <p:cNvSpPr/>
          <p:nvPr/>
        </p:nvSpPr>
        <p:spPr>
          <a:xfrm>
            <a:off x="10927080" y="3246120"/>
            <a:ext cx="411480" cy="41148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4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1</a:t>
            </a:r>
            <a:endParaRPr/>
          </a:p>
        </p:txBody>
      </p:sp>
      <p:sp>
        <p:nvSpPr>
          <p:cNvPr id="479" name="Google Shape;479;p41"/>
          <p:cNvSpPr txBox="1"/>
          <p:nvPr/>
        </p:nvSpPr>
        <p:spPr>
          <a:xfrm>
            <a:off x="6949440" y="3200400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מה האזימוט המגנטי?</a:t>
            </a:r>
            <a:endParaRPr/>
          </a:p>
        </p:txBody>
      </p:sp>
      <p:sp>
        <p:nvSpPr>
          <p:cNvPr id="480" name="Google Shape;480;p41"/>
          <p:cNvSpPr/>
          <p:nvPr/>
        </p:nvSpPr>
        <p:spPr>
          <a:xfrm>
            <a:off x="4114800" y="3200400"/>
            <a:ext cx="2743200" cy="530352"/>
          </a:xfrm>
          <a:prstGeom prst="roundRect">
            <a:avLst>
              <a:gd fmla="val 20689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53° − 5° = 48°</a:t>
            </a:r>
            <a:endParaRPr/>
          </a:p>
        </p:txBody>
      </p:sp>
      <p:sp>
        <p:nvSpPr>
          <p:cNvPr id="481" name="Google Shape;481;p41"/>
          <p:cNvSpPr/>
          <p:nvPr/>
        </p:nvSpPr>
        <p:spPr>
          <a:xfrm>
            <a:off x="10927080" y="3904487"/>
            <a:ext cx="411480" cy="41148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4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2</a:t>
            </a:r>
            <a:endParaRPr/>
          </a:p>
        </p:txBody>
      </p:sp>
      <p:sp>
        <p:nvSpPr>
          <p:cNvPr id="482" name="Google Shape;482;p41"/>
          <p:cNvSpPr txBox="1"/>
          <p:nvPr/>
        </p:nvSpPr>
        <p:spPr>
          <a:xfrm>
            <a:off x="6949440" y="3858768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כמה קליקים מכוונים בטבעת?</a:t>
            </a:r>
            <a:endParaRPr/>
          </a:p>
        </p:txBody>
      </p:sp>
      <p:sp>
        <p:nvSpPr>
          <p:cNvPr id="483" name="Google Shape;483;p41"/>
          <p:cNvSpPr/>
          <p:nvPr/>
        </p:nvSpPr>
        <p:spPr>
          <a:xfrm>
            <a:off x="4114800" y="3858768"/>
            <a:ext cx="2743200" cy="530352"/>
          </a:xfrm>
          <a:prstGeom prst="roundRect">
            <a:avLst>
              <a:gd fmla="val 20689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48 ÷ 3 = 16 קליקים</a:t>
            </a:r>
            <a:endParaRPr/>
          </a:p>
        </p:txBody>
      </p:sp>
      <p:sp>
        <p:nvSpPr>
          <p:cNvPr id="484" name="Google Shape;484;p41"/>
          <p:cNvSpPr/>
          <p:nvPr/>
        </p:nvSpPr>
        <p:spPr>
          <a:xfrm>
            <a:off x="10927080" y="4562855"/>
            <a:ext cx="411480" cy="41148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4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3</a:t>
            </a:r>
            <a:endParaRPr/>
          </a:p>
        </p:txBody>
      </p:sp>
      <p:sp>
        <p:nvSpPr>
          <p:cNvPr id="485" name="Google Shape;485;p41"/>
          <p:cNvSpPr txBox="1"/>
          <p:nvPr/>
        </p:nvSpPr>
        <p:spPr>
          <a:xfrm>
            <a:off x="6949440" y="4517136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אתם ליד ג׳יפ - מה עושים לפני המדידה?</a:t>
            </a:r>
            <a:endParaRPr/>
          </a:p>
        </p:txBody>
      </p:sp>
      <p:sp>
        <p:nvSpPr>
          <p:cNvPr id="486" name="Google Shape;486;p41"/>
          <p:cNvSpPr/>
          <p:nvPr/>
        </p:nvSpPr>
        <p:spPr>
          <a:xfrm>
            <a:off x="4114800" y="4517136"/>
            <a:ext cx="2743200" cy="530352"/>
          </a:xfrm>
          <a:prstGeom prst="roundRect">
            <a:avLst>
              <a:gd fmla="val 20689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מתרחקים לפחות 18 מטר</a:t>
            </a:r>
            <a:endParaRPr/>
          </a:p>
        </p:txBody>
      </p:sp>
      <p:pic>
        <p:nvPicPr>
          <p:cNvPr descr="clicks.png" id="487" name="Google Shape;48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2194560"/>
            <a:ext cx="310896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41"/>
          <p:cNvSpPr/>
          <p:nvPr/>
        </p:nvSpPr>
        <p:spPr>
          <a:xfrm>
            <a:off x="411480" y="5349240"/>
            <a:ext cx="10927080" cy="548640"/>
          </a:xfrm>
          <a:prstGeom prst="roundRect">
            <a:avLst>
              <a:gd fmla="val 20000" name="adj"/>
            </a:avLst>
          </a:prstGeom>
          <a:solidFill>
            <a:srgbClr val="FBE9E7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4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בלי תיקון הסטייה: על 3,000 מטר טעות צד של כ-260 מטר - מספיק כדי לפספס יעד בלילה</a:t>
            </a:r>
            <a:endParaRPr/>
          </a:p>
        </p:txBody>
      </p:sp>
      <p:pic>
        <p:nvPicPr>
          <p:cNvPr id="489" name="Google Shape;489;p41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8509307" y="5961855"/>
            <a:ext cx="1011326" cy="1011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42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מרחק אווירי מול מרחק בפועל</a:t>
            </a:r>
            <a:endParaRPr/>
          </a:p>
        </p:txBody>
      </p:sp>
      <p:pic>
        <p:nvPicPr>
          <p:cNvPr descr="merhak_aviri.png" id="496" name="Google Shape;496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103120"/>
            <a:ext cx="3657599" cy="2193904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42"/>
          <p:cNvSpPr/>
          <p:nvPr/>
        </p:nvSpPr>
        <p:spPr>
          <a:xfrm>
            <a:off x="7726679" y="1783080"/>
            <a:ext cx="3611880" cy="1691640"/>
          </a:xfrm>
          <a:prstGeom prst="roundRect">
            <a:avLst>
              <a:gd fmla="val 6486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מרחק אווירי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המרחק בין 2 נקודות במבט-על על המפה, בקו ישר - "כמו שהציפור עפה". הקצר ביותר האפשרי</a:t>
            </a:r>
            <a:endParaRPr/>
          </a:p>
        </p:txBody>
      </p:sp>
      <p:sp>
        <p:nvSpPr>
          <p:cNvPr id="498" name="Google Shape;498;p42"/>
          <p:cNvSpPr/>
          <p:nvPr/>
        </p:nvSpPr>
        <p:spPr>
          <a:xfrm>
            <a:off x="4023360" y="1783080"/>
            <a:ext cx="3566160" cy="1691640"/>
          </a:xfrm>
          <a:prstGeom prst="roundRect">
            <a:avLst>
              <a:gd fmla="val 6486" name="adj"/>
            </a:avLst>
          </a:prstGeom>
          <a:solidFill>
            <a:srgbClr val="FBE9E7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מרחק בפועל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אורך ציר התנועה בשטח - עם עיקולים, עקיפות ומכשולים. תמיד ארוך יותר מהאווירי באותה דרך</a:t>
            </a:r>
            <a:endParaRPr/>
          </a:p>
        </p:txBody>
      </p:sp>
      <p:sp>
        <p:nvSpPr>
          <p:cNvPr id="499" name="Google Shape;499;p42"/>
          <p:cNvSpPr/>
          <p:nvPr/>
        </p:nvSpPr>
        <p:spPr>
          <a:xfrm>
            <a:off x="4023360" y="3703320"/>
            <a:ext cx="7315200" cy="594360"/>
          </a:xfrm>
          <a:prstGeom prst="roundRect">
            <a:avLst>
              <a:gd fmla="val 50000" name="adj"/>
            </a:avLst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4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את האווירי מודדים כדי לדעת את המינימום, ואת הציר - כדי לתכנן זמנים</a:t>
            </a:r>
            <a:endParaRPr/>
          </a:p>
        </p:txBody>
      </p:sp>
      <p:pic>
        <p:nvPicPr>
          <p:cNvPr id="500" name="Google Shape;500;p42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8852373" y="4505269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43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קנה מידה ודרכים למדידה</a:t>
            </a:r>
            <a:endParaRPr/>
          </a:p>
        </p:txBody>
      </p:sp>
      <p:sp>
        <p:nvSpPr>
          <p:cNvPr id="507" name="Google Shape;507;p43"/>
          <p:cNvSpPr/>
          <p:nvPr/>
        </p:nvSpPr>
        <p:spPr>
          <a:xfrm>
            <a:off x="4114800" y="1755648"/>
            <a:ext cx="7223760" cy="685800"/>
          </a:xfrm>
          <a:prstGeom prst="roundRect">
            <a:avLst>
              <a:gd fmla="val 1600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קנה מידה 1:50,000 = </a:t>
            </a: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כל יחידה במפה שווה ל-50,000 יחידות כאלה בשטח (בשיעור 01: "הקטנה מבוקרת")</a:t>
            </a:r>
            <a:endParaRPr/>
          </a:p>
        </p:txBody>
      </p:sp>
      <p:sp>
        <p:nvSpPr>
          <p:cNvPr id="508" name="Google Shape;508;p43"/>
          <p:cNvSpPr/>
          <p:nvPr/>
        </p:nvSpPr>
        <p:spPr>
          <a:xfrm>
            <a:off x="9144000" y="2606040"/>
            <a:ext cx="2377440" cy="402336"/>
          </a:xfrm>
          <a:prstGeom prst="roundRect">
            <a:avLst>
              <a:gd fmla="val 27272" name="adj"/>
            </a:avLst>
          </a:prstGeom>
          <a:solidFill>
            <a:srgbClr val="2E5E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קנה מידה</a:t>
            </a:r>
            <a:endParaRPr/>
          </a:p>
        </p:txBody>
      </p:sp>
      <p:sp>
        <p:nvSpPr>
          <p:cNvPr id="509" name="Google Shape;509;p43"/>
          <p:cNvSpPr/>
          <p:nvPr/>
        </p:nvSpPr>
        <p:spPr>
          <a:xfrm>
            <a:off x="6629400" y="2606040"/>
            <a:ext cx="2377440" cy="402336"/>
          </a:xfrm>
          <a:prstGeom prst="roundRect">
            <a:avLst>
              <a:gd fmla="val 27272" name="adj"/>
            </a:avLst>
          </a:prstGeom>
          <a:solidFill>
            <a:srgbClr val="2E5E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1 ס״מ במפה</a:t>
            </a:r>
            <a:endParaRPr/>
          </a:p>
        </p:txBody>
      </p:sp>
      <p:sp>
        <p:nvSpPr>
          <p:cNvPr id="510" name="Google Shape;510;p43"/>
          <p:cNvSpPr/>
          <p:nvPr/>
        </p:nvSpPr>
        <p:spPr>
          <a:xfrm>
            <a:off x="4114800" y="2606040"/>
            <a:ext cx="2377440" cy="402336"/>
          </a:xfrm>
          <a:prstGeom prst="roundRect">
            <a:avLst>
              <a:gd fmla="val 27272" name="adj"/>
            </a:avLst>
          </a:prstGeom>
          <a:solidFill>
            <a:srgbClr val="2E5E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1 ק״מ בשטח</a:t>
            </a:r>
            <a:endParaRPr/>
          </a:p>
        </p:txBody>
      </p:sp>
      <p:sp>
        <p:nvSpPr>
          <p:cNvPr id="511" name="Google Shape;511;p43"/>
          <p:cNvSpPr/>
          <p:nvPr/>
        </p:nvSpPr>
        <p:spPr>
          <a:xfrm>
            <a:off x="9144000" y="3063240"/>
            <a:ext cx="2377440" cy="402336"/>
          </a:xfrm>
          <a:prstGeom prst="roundRect">
            <a:avLst>
              <a:gd fmla="val 27272" name="adj"/>
            </a:avLst>
          </a:prstGeom>
          <a:solidFill>
            <a:srgbClr val="EEF4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1:25,000</a:t>
            </a:r>
            <a:endParaRPr/>
          </a:p>
        </p:txBody>
      </p:sp>
      <p:sp>
        <p:nvSpPr>
          <p:cNvPr id="512" name="Google Shape;512;p43"/>
          <p:cNvSpPr/>
          <p:nvPr/>
        </p:nvSpPr>
        <p:spPr>
          <a:xfrm>
            <a:off x="6629400" y="3063240"/>
            <a:ext cx="2377440" cy="402336"/>
          </a:xfrm>
          <a:prstGeom prst="roundRect">
            <a:avLst>
              <a:gd fmla="val 27272" name="adj"/>
            </a:avLst>
          </a:prstGeom>
          <a:solidFill>
            <a:srgbClr val="EEF4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250 מ'</a:t>
            </a:r>
            <a:endParaRPr/>
          </a:p>
        </p:txBody>
      </p:sp>
      <p:sp>
        <p:nvSpPr>
          <p:cNvPr id="513" name="Google Shape;513;p43"/>
          <p:cNvSpPr/>
          <p:nvPr/>
        </p:nvSpPr>
        <p:spPr>
          <a:xfrm>
            <a:off x="4114800" y="3063240"/>
            <a:ext cx="2377440" cy="402336"/>
          </a:xfrm>
          <a:prstGeom prst="roundRect">
            <a:avLst>
              <a:gd fmla="val 27272" name="adj"/>
            </a:avLst>
          </a:prstGeom>
          <a:solidFill>
            <a:srgbClr val="EEF4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4 ס״מ</a:t>
            </a:r>
            <a:endParaRPr/>
          </a:p>
        </p:txBody>
      </p:sp>
      <p:sp>
        <p:nvSpPr>
          <p:cNvPr id="514" name="Google Shape;514;p43"/>
          <p:cNvSpPr/>
          <p:nvPr/>
        </p:nvSpPr>
        <p:spPr>
          <a:xfrm>
            <a:off x="9144000" y="3520440"/>
            <a:ext cx="2377440" cy="402336"/>
          </a:xfrm>
          <a:prstGeom prst="roundRect">
            <a:avLst>
              <a:gd fmla="val 27272" name="adj"/>
            </a:avLst>
          </a:prstGeom>
          <a:solidFill>
            <a:srgbClr val="C8D8B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1:50,000</a:t>
            </a:r>
            <a:endParaRPr/>
          </a:p>
        </p:txBody>
      </p:sp>
      <p:sp>
        <p:nvSpPr>
          <p:cNvPr id="515" name="Google Shape;515;p43"/>
          <p:cNvSpPr/>
          <p:nvPr/>
        </p:nvSpPr>
        <p:spPr>
          <a:xfrm>
            <a:off x="6629400" y="3520440"/>
            <a:ext cx="2377440" cy="402336"/>
          </a:xfrm>
          <a:prstGeom prst="roundRect">
            <a:avLst>
              <a:gd fmla="val 27272" name="adj"/>
            </a:avLst>
          </a:prstGeom>
          <a:solidFill>
            <a:srgbClr val="C8D8B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500 מ'</a:t>
            </a:r>
            <a:endParaRPr/>
          </a:p>
        </p:txBody>
      </p:sp>
      <p:sp>
        <p:nvSpPr>
          <p:cNvPr id="516" name="Google Shape;516;p43"/>
          <p:cNvSpPr/>
          <p:nvPr/>
        </p:nvSpPr>
        <p:spPr>
          <a:xfrm>
            <a:off x="4114800" y="3520440"/>
            <a:ext cx="2377440" cy="402336"/>
          </a:xfrm>
          <a:prstGeom prst="roundRect">
            <a:avLst>
              <a:gd fmla="val 27272" name="adj"/>
            </a:avLst>
          </a:prstGeom>
          <a:solidFill>
            <a:srgbClr val="C8D8B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2 ס״מ</a:t>
            </a:r>
            <a:endParaRPr/>
          </a:p>
        </p:txBody>
      </p:sp>
      <p:sp>
        <p:nvSpPr>
          <p:cNvPr id="517" name="Google Shape;517;p43"/>
          <p:cNvSpPr/>
          <p:nvPr/>
        </p:nvSpPr>
        <p:spPr>
          <a:xfrm>
            <a:off x="9144000" y="3977639"/>
            <a:ext cx="2377440" cy="402336"/>
          </a:xfrm>
          <a:prstGeom prst="roundRect">
            <a:avLst>
              <a:gd fmla="val 27272" name="adj"/>
            </a:avLst>
          </a:prstGeom>
          <a:solidFill>
            <a:srgbClr val="EEF4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1:100,000</a:t>
            </a:r>
            <a:endParaRPr/>
          </a:p>
        </p:txBody>
      </p:sp>
      <p:sp>
        <p:nvSpPr>
          <p:cNvPr id="518" name="Google Shape;518;p43"/>
          <p:cNvSpPr/>
          <p:nvPr/>
        </p:nvSpPr>
        <p:spPr>
          <a:xfrm>
            <a:off x="6629400" y="3977639"/>
            <a:ext cx="2377440" cy="402336"/>
          </a:xfrm>
          <a:prstGeom prst="roundRect">
            <a:avLst>
              <a:gd fmla="val 27272" name="adj"/>
            </a:avLst>
          </a:prstGeom>
          <a:solidFill>
            <a:srgbClr val="EEF4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1 ק״מ</a:t>
            </a:r>
            <a:endParaRPr/>
          </a:p>
        </p:txBody>
      </p:sp>
      <p:sp>
        <p:nvSpPr>
          <p:cNvPr id="519" name="Google Shape;519;p43"/>
          <p:cNvSpPr/>
          <p:nvPr/>
        </p:nvSpPr>
        <p:spPr>
          <a:xfrm>
            <a:off x="4114800" y="3977639"/>
            <a:ext cx="2377440" cy="402336"/>
          </a:xfrm>
          <a:prstGeom prst="roundRect">
            <a:avLst>
              <a:gd fmla="val 27272" name="adj"/>
            </a:avLst>
          </a:prstGeom>
          <a:solidFill>
            <a:srgbClr val="EEF4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1 ס״מ</a:t>
            </a:r>
            <a:endParaRPr/>
          </a:p>
        </p:txBody>
      </p:sp>
      <p:sp>
        <p:nvSpPr>
          <p:cNvPr id="520" name="Google Shape;520;p43"/>
          <p:cNvSpPr/>
          <p:nvPr/>
        </p:nvSpPr>
        <p:spPr>
          <a:xfrm>
            <a:off x="411480" y="1783080"/>
            <a:ext cx="342900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סרגל המד״קו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קריאה ישירה במטרים - השיטה העיקרית לקו ישר</a:t>
            </a:r>
            <a:endParaRPr/>
          </a:p>
        </p:txBody>
      </p:sp>
      <p:sp>
        <p:nvSpPr>
          <p:cNvPr id="521" name="Google Shape;521;p43"/>
          <p:cNvSpPr/>
          <p:nvPr/>
        </p:nvSpPr>
        <p:spPr>
          <a:xfrm>
            <a:off x="411480" y="2807208"/>
            <a:ext cx="342900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חוט / רצועת נייר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לציר מתפתל: קטע אחרי קטע, ואז קוראים על הסרגל</a:t>
            </a:r>
            <a:endParaRPr/>
          </a:p>
        </p:txBody>
      </p:sp>
      <p:sp>
        <p:nvSpPr>
          <p:cNvPr id="522" name="Google Shape;522;p43"/>
          <p:cNvSpPr/>
          <p:nvPr/>
        </p:nvSpPr>
        <p:spPr>
          <a:xfrm>
            <a:off x="411480" y="3831336"/>
            <a:ext cx="3429000" cy="914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ספירת משבצות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כל צלע משבצת = 1 ק״מ (ברשת של 1 ק״מ). הערכה מהירה לבדיקת שפיות</a:t>
            </a:r>
            <a:endParaRPr/>
          </a:p>
        </p:txBody>
      </p:sp>
      <p:sp>
        <p:nvSpPr>
          <p:cNvPr id="523" name="Google Shape;523;p43"/>
          <p:cNvSpPr/>
          <p:nvPr/>
        </p:nvSpPr>
        <p:spPr>
          <a:xfrm>
            <a:off x="4114800" y="4572000"/>
            <a:ext cx="7223760" cy="548640"/>
          </a:xfrm>
          <a:prstGeom prst="roundRect">
            <a:avLst>
              <a:gd fmla="val 50000" name="adj"/>
            </a:avLst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4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הרגל טוב: מודדים בסרגל, ובודקים בספירת משבצות. תוצאות רחוקות = יש טעות</a:t>
            </a:r>
            <a:endParaRPr/>
          </a:p>
        </p:txBody>
      </p:sp>
      <p:pic>
        <p:nvPicPr>
          <p:cNvPr id="524" name="Google Shape;524;p43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8895767" y="5164853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529;p44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44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8843694" y="5199568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מדידת מרחק אווירי</a:t>
            </a:r>
            <a:endParaRPr/>
          </a:p>
        </p:txBody>
      </p:sp>
      <p:sp>
        <p:nvSpPr>
          <p:cNvPr id="532" name="Google Shape;532;p44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800"/>
              <a:t>איך נמדוד מרחק אווירי?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800"/>
              <a:t>מד״קו!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800"/>
              <a:t>בצד המד״קו יש סרגל למפות בקנה מידה 1:50,000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800"/>
              <a:t>נמקם את הסרגל בין שתי הנקודות ונקרא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800"/>
              <a:t>יצא שהמרחק האווירי הוא 1.9 ק״מ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800"/>
              <a:t>חשוב: ה-0 בדיוק על נקודת המוצא. מרחק ארוך מהסרגל? מודדים בקטעים ומחברים</a:t>
            </a:r>
            <a:endParaRPr sz="1800"/>
          </a:p>
        </p:txBody>
      </p:sp>
      <p:pic>
        <p:nvPicPr>
          <p:cNvPr descr="merhak_madad.png" id="533" name="Google Shape;533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2102140"/>
            <a:ext cx="3794760" cy="3705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p45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45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8982120" y="4574699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מדידת מרחק אווירי של מסלול</a:t>
            </a:r>
            <a:endParaRPr/>
          </a:p>
        </p:txBody>
      </p:sp>
      <p:sp>
        <p:nvSpPr>
          <p:cNvPr id="541" name="Google Shape;541;p45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איך נמדוד מרחק אווירי של מסלול שלם?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כרגיל - מד״קו (בערך)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אפשר לעשות כמה מדידות עם הסרגל, אבל לא נוח</a:t>
            </a:r>
            <a:endParaRPr sz="220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iw-IL" sz="2200"/>
              <a:t>ניקח את החוט שמחובר למד״קו, נעביר אותו על המסלול, ונמדוד את אורכו בעזרת המד״קו או רשת הקואורדינטות</a:t>
            </a:r>
            <a:endParaRPr sz="2200"/>
          </a:p>
        </p:txBody>
      </p:sp>
      <p:pic>
        <p:nvPicPr>
          <p:cNvPr descr="merhak_maslul.png" id="542" name="Google Shape;542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2102140"/>
            <a:ext cx="3794760" cy="3705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46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מהמספר במפה לתכנון בשטח</a:t>
            </a:r>
            <a:endParaRPr/>
          </a:p>
        </p:txBody>
      </p:sp>
      <p:sp>
        <p:nvSpPr>
          <p:cNvPr id="549" name="Google Shape;549;p46"/>
          <p:cNvSpPr/>
          <p:nvPr/>
        </p:nvSpPr>
        <p:spPr>
          <a:xfrm>
            <a:off x="4114800" y="1783080"/>
            <a:ext cx="7223760" cy="1234440"/>
          </a:xfrm>
          <a:prstGeom prst="roundRect">
            <a:avLst>
              <a:gd fmla="val 8888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זמן = מרחק ÷ קצב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לדוגמה, בהנחת קצב של 4 קמ״ש: 3 ק״מ ≈ 45 דקות  [הקצב בפועל - לפי נוהלי היחידה, משקל, לילה ושטח]</a:t>
            </a:r>
            <a:endParaRPr/>
          </a:p>
        </p:txBody>
      </p:sp>
      <p:sp>
        <p:nvSpPr>
          <p:cNvPr id="550" name="Google Shape;550;p46"/>
          <p:cNvSpPr/>
          <p:nvPr/>
        </p:nvSpPr>
        <p:spPr>
          <a:xfrm>
            <a:off x="7772400" y="3200400"/>
            <a:ext cx="3566160" cy="1371600"/>
          </a:xfrm>
          <a:prstGeom prst="roundRect">
            <a:avLst>
              <a:gd fmla="val 800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העיקולים מאריכים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ציר שעוקף גיא או צמוד לשביל ארוך מהקו הישר - מודדים את הציר עצמו</a:t>
            </a:r>
            <a:endParaRPr/>
          </a:p>
        </p:txBody>
      </p:sp>
      <p:sp>
        <p:nvSpPr>
          <p:cNvPr id="551" name="Google Shape;551;p46"/>
          <p:cNvSpPr/>
          <p:nvPr/>
        </p:nvSpPr>
        <p:spPr>
          <a:xfrm>
            <a:off x="4114800" y="3200400"/>
            <a:ext cx="3520440" cy="1371600"/>
          </a:xfrm>
          <a:prstGeom prst="roundRect">
            <a:avLst>
              <a:gd fmla="val 8000" name="adj"/>
            </a:avLst>
          </a:prstGeom>
          <a:solidFill>
            <a:srgbClr val="FBE9E7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השיפוע = מאמץ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עלייה כמעט לא מוסיפה מרחק, אבל מאטה מאוד את הכוח ומעייפת אותו</a:t>
            </a:r>
            <a:endParaRPr/>
          </a:p>
        </p:txBody>
      </p:sp>
      <p:sp>
        <p:nvSpPr>
          <p:cNvPr id="552" name="Google Shape;552;p46"/>
          <p:cNvSpPr/>
          <p:nvPr/>
        </p:nvSpPr>
        <p:spPr>
          <a:xfrm>
            <a:off x="4114800" y="4754880"/>
            <a:ext cx="7223760" cy="548640"/>
          </a:xfrm>
          <a:prstGeom prst="roundRect">
            <a:avLst>
              <a:gd fmla="val 50000" name="adj"/>
            </a:avLst>
          </a:prstGeom>
          <a:solidFill>
            <a:srgbClr val="8B5A2B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4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כמו בשיעור 01: צפיפות קווי הגובה קובעת את הקצב - צפוף = איטי ומתיש</a:t>
            </a:r>
            <a:endParaRPr/>
          </a:p>
        </p:txBody>
      </p:sp>
      <p:pic>
        <p:nvPicPr>
          <p:cNvPr descr="ic_terrain.png" id="553" name="Google Shape;553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2103120"/>
            <a:ext cx="2926080" cy="2926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46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8578993" y="5373142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p47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כמה רחוק B מ-A?</a:t>
            </a:r>
            <a:endParaRPr/>
          </a:p>
        </p:txBody>
      </p:sp>
      <p:pic>
        <p:nvPicPr>
          <p:cNvPr descr="m_p08q.png" id="561" name="Google Shape;561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" y="1876208"/>
            <a:ext cx="4937760" cy="29227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_p07a.png" id="562" name="Google Shape;562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1876208"/>
            <a:ext cx="4937760" cy="2922702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47"/>
          <p:cNvSpPr/>
          <p:nvPr/>
        </p:nvSpPr>
        <p:spPr>
          <a:xfrm>
            <a:off x="8503920" y="1755648"/>
            <a:ext cx="2834640" cy="438912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4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שלב תרגול מעשי - 07</a:t>
            </a:r>
            <a:endParaRPr/>
          </a:p>
        </p:txBody>
      </p:sp>
      <p:sp>
        <p:nvSpPr>
          <p:cNvPr id="564" name="Google Shape;564;p47"/>
          <p:cNvSpPr/>
          <p:nvPr/>
        </p:nvSpPr>
        <p:spPr>
          <a:xfrm>
            <a:off x="5486400" y="2286000"/>
            <a:ext cx="5852160" cy="731520"/>
          </a:xfrm>
          <a:prstGeom prst="roundRect">
            <a:avLst>
              <a:gd fmla="val 15000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כמה רחוק B מ-A?</a:t>
            </a:r>
            <a:endParaRPr/>
          </a:p>
        </p:txBody>
      </p:sp>
      <p:sp>
        <p:nvSpPr>
          <p:cNvPr id="565" name="Google Shape;565;p47"/>
          <p:cNvSpPr/>
          <p:nvPr/>
        </p:nvSpPr>
        <p:spPr>
          <a:xfrm>
            <a:off x="5486400" y="1755648"/>
            <a:ext cx="2880360" cy="457200"/>
          </a:xfrm>
          <a:prstGeom prst="roundRect">
            <a:avLst>
              <a:gd fmla="val 24000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1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החלק במד״קו: </a:t>
            </a:r>
            <a:r>
              <a:rPr b="0" i="0" lang="iw-IL" sz="11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2. סרגל המרחק</a:t>
            </a:r>
            <a:endParaRPr/>
          </a:p>
        </p:txBody>
      </p:sp>
      <p:sp>
        <p:nvSpPr>
          <p:cNvPr id="566" name="Google Shape;566;p47"/>
          <p:cNvSpPr/>
          <p:nvPr/>
        </p:nvSpPr>
        <p:spPr>
          <a:xfrm>
            <a:off x="10972800" y="3154680"/>
            <a:ext cx="365760" cy="36576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1</a:t>
            </a:r>
            <a:endParaRPr/>
          </a:p>
        </p:txBody>
      </p:sp>
      <p:sp>
        <p:nvSpPr>
          <p:cNvPr id="567" name="Google Shape;567;p47"/>
          <p:cNvSpPr txBox="1"/>
          <p:nvPr/>
        </p:nvSpPr>
        <p:spPr>
          <a:xfrm>
            <a:off x="5486400" y="3136392"/>
            <a:ext cx="5376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בחרו בסרגל 1:50,000</a:t>
            </a:r>
            <a:endParaRPr/>
          </a:p>
        </p:txBody>
      </p:sp>
      <p:sp>
        <p:nvSpPr>
          <p:cNvPr id="568" name="Google Shape;568;p47"/>
          <p:cNvSpPr/>
          <p:nvPr/>
        </p:nvSpPr>
        <p:spPr>
          <a:xfrm>
            <a:off x="10972800" y="3611880"/>
            <a:ext cx="365760" cy="36576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2</a:t>
            </a:r>
            <a:endParaRPr/>
          </a:p>
        </p:txBody>
      </p:sp>
      <p:sp>
        <p:nvSpPr>
          <p:cNvPr id="569" name="Google Shape;569;p47"/>
          <p:cNvSpPr txBox="1"/>
          <p:nvPr/>
        </p:nvSpPr>
        <p:spPr>
          <a:xfrm>
            <a:off x="5486400" y="3593592"/>
            <a:ext cx="5376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0 על A, שפת הסרגל על הקו אל B</a:t>
            </a:r>
            <a:endParaRPr/>
          </a:p>
        </p:txBody>
      </p:sp>
      <p:sp>
        <p:nvSpPr>
          <p:cNvPr id="570" name="Google Shape;570;p47"/>
          <p:cNvSpPr/>
          <p:nvPr/>
        </p:nvSpPr>
        <p:spPr>
          <a:xfrm>
            <a:off x="10972800" y="4069080"/>
            <a:ext cx="365760" cy="36576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3</a:t>
            </a:r>
            <a:endParaRPr/>
          </a:p>
        </p:txBody>
      </p:sp>
      <p:sp>
        <p:nvSpPr>
          <p:cNvPr id="571" name="Google Shape;571;p47"/>
          <p:cNvSpPr txBox="1"/>
          <p:nvPr/>
        </p:nvSpPr>
        <p:spPr>
          <a:xfrm>
            <a:off x="5486400" y="4050792"/>
            <a:ext cx="5376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קראו את המספר מול B</a:t>
            </a:r>
            <a:endParaRPr/>
          </a:p>
        </p:txBody>
      </p:sp>
      <p:sp>
        <p:nvSpPr>
          <p:cNvPr id="572" name="Google Shape;572;p47"/>
          <p:cNvSpPr/>
          <p:nvPr/>
        </p:nvSpPr>
        <p:spPr>
          <a:xfrm>
            <a:off x="10972800" y="4526280"/>
            <a:ext cx="365760" cy="36576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4</a:t>
            </a:r>
            <a:endParaRPr/>
          </a:p>
        </p:txBody>
      </p:sp>
      <p:sp>
        <p:nvSpPr>
          <p:cNvPr id="573" name="Google Shape;573;p47"/>
          <p:cNvSpPr txBox="1"/>
          <p:nvPr/>
        </p:nvSpPr>
        <p:spPr>
          <a:xfrm>
            <a:off x="5486400" y="4507992"/>
            <a:ext cx="5376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בדיקה: ספרו משבצות בערך</a:t>
            </a:r>
            <a:endParaRPr/>
          </a:p>
        </p:txBody>
      </p:sp>
      <p:sp>
        <p:nvSpPr>
          <p:cNvPr id="574" name="Google Shape;574;p47"/>
          <p:cNvSpPr/>
          <p:nvPr/>
        </p:nvSpPr>
        <p:spPr>
          <a:xfrm>
            <a:off x="320040" y="4956048"/>
            <a:ext cx="4937760" cy="548640"/>
          </a:xfrm>
          <a:prstGeom prst="roundRect">
            <a:avLst>
              <a:gd fmla="val 20000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A → B = 3,000 מטר (6 ס״מ במפה)</a:t>
            </a:r>
            <a:endParaRPr/>
          </a:p>
        </p:txBody>
      </p:sp>
      <p:sp>
        <p:nvSpPr>
          <p:cNvPr id="575" name="Google Shape;575;p47"/>
          <p:cNvSpPr/>
          <p:nvPr/>
        </p:nvSpPr>
        <p:spPr>
          <a:xfrm>
            <a:off x="320040" y="5559552"/>
            <a:ext cx="4937760" cy="585216"/>
          </a:xfrm>
          <a:prstGeom prst="roundRect">
            <a:avLst>
              <a:gd fmla="val 1875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1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שפיות: ≈3 משבצות באלכסון · זמן ≈45 דק' (4 קמ״ש) · הקטע מוגדר במלואו: 3,000 מ' באזימוט 53°</a:t>
            </a:r>
            <a:endParaRPr/>
          </a:p>
        </p:txBody>
      </p:sp>
      <p:pic>
        <p:nvPicPr>
          <p:cNvPr id="576" name="Google Shape;576;p47"/>
          <p:cNvPicPr preferRelativeResize="0"/>
          <p:nvPr/>
        </p:nvPicPr>
        <p:blipFill rotWithShape="1">
          <a:blip r:embed="rId6">
            <a:alphaModFix amt="60000"/>
          </a:blip>
          <a:srcRect b="0" l="0" r="0" t="0"/>
          <a:stretch/>
        </p:blipFill>
        <p:spPr>
          <a:xfrm>
            <a:off x="9186504" y="4887133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מה למדנו עד עכשיו?</a:t>
            </a:r>
            <a:endParaRPr/>
          </a:p>
        </p:txBody>
      </p:sp>
      <p:sp>
        <p:nvSpPr>
          <p:cNvPr id="582" name="Google Shape;582;p48"/>
          <p:cNvSpPr txBox="1"/>
          <p:nvPr/>
        </p:nvSpPr>
        <p:spPr>
          <a:xfrm>
            <a:off x="6224849" y="3198167"/>
            <a:ext cx="550164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800" u="none" cap="none" strike="noStrike">
                <a:solidFill>
                  <a:srgbClr val="4E7A3F"/>
                </a:solidFill>
                <a:latin typeface="Assistant"/>
                <a:ea typeface="Assistant"/>
                <a:cs typeface="Assistant"/>
                <a:sym typeface="Assistant"/>
              </a:rPr>
              <a:t>מפה ומדידות</a:t>
            </a:r>
            <a:endParaRPr b="1" i="0" sz="2800" u="none" cap="none" strike="noStrike">
              <a:solidFill>
                <a:srgbClr val="4E7A3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583" name="Google Shape;583;p48"/>
          <p:cNvSpPr txBox="1"/>
          <p:nvPr/>
        </p:nvSpPr>
        <p:spPr>
          <a:xfrm>
            <a:off x="465513" y="3136612"/>
            <a:ext cx="55016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3200" u="none" cap="none" strike="noStrike">
                <a:solidFill>
                  <a:srgbClr val="4E7A3F"/>
                </a:solidFill>
                <a:latin typeface="Assistant"/>
                <a:ea typeface="Assistant"/>
                <a:cs typeface="Assistant"/>
                <a:sym typeface="Assistant"/>
              </a:rPr>
              <a:t>מצפן ומרחקים</a:t>
            </a:r>
            <a:endParaRPr b="1" i="0" sz="3200" u="none" cap="none" strike="noStrike">
              <a:solidFill>
                <a:srgbClr val="4E7A3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584" name="Google Shape;584;p48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48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8453151" y="3776256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9"/>
          <p:cNvSpPr txBox="1"/>
          <p:nvPr>
            <p:ph type="ctrTitle"/>
          </p:nvPr>
        </p:nvSpPr>
        <p:spPr>
          <a:xfrm>
            <a:off x="2563905" y="2633188"/>
            <a:ext cx="7064190" cy="9998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6000"/>
              <a:buNone/>
            </a:pPr>
            <a:r>
              <a:rPr b="0" lang="iw-IL"/>
              <a:t>אז על מה </a:t>
            </a:r>
            <a:r>
              <a:rPr lang="iw-IL"/>
              <a:t>נדבר</a:t>
            </a:r>
            <a:r>
              <a:rPr b="0" lang="iw-IL"/>
              <a:t> עכשיו?</a:t>
            </a:r>
            <a:endParaRPr b="0"/>
          </a:p>
        </p:txBody>
      </p:sp>
      <p:pic>
        <p:nvPicPr>
          <p:cNvPr id="591" name="Google Shape;59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58300" y="3714750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0"/>
          <p:cNvSpPr txBox="1"/>
          <p:nvPr>
            <p:ph type="ctrTitle"/>
          </p:nvPr>
        </p:nvSpPr>
        <p:spPr>
          <a:xfrm>
            <a:off x="701039" y="2303561"/>
            <a:ext cx="10789920" cy="11468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6000"/>
              <a:buNone/>
            </a:pPr>
            <a:r>
              <a:rPr lang="iw-IL"/>
              <a:t>נדב״ר - נוהל דיבור ברשת</a:t>
            </a:r>
            <a:endParaRPr/>
          </a:p>
        </p:txBody>
      </p:sp>
      <p:sp>
        <p:nvSpPr>
          <p:cNvPr id="598" name="Google Shape;598;p50"/>
          <p:cNvSpPr txBox="1"/>
          <p:nvPr>
            <p:ph idx="1" type="subTitle"/>
          </p:nvPr>
        </p:nvSpPr>
        <p:spPr>
          <a:xfrm>
            <a:off x="2438399" y="3496176"/>
            <a:ext cx="7315200" cy="648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406400" lvl="0" marL="457200" rtl="1"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108108"/>
              <a:buNone/>
            </a:pPr>
            <a:r>
              <a:rPr lang="iw-IL"/>
              <a:t>״חושב, לוחץ, מדבר.״</a:t>
            </a:r>
            <a:endParaRPr/>
          </a:p>
        </p:txBody>
      </p:sp>
      <p:pic>
        <p:nvPicPr>
          <p:cNvPr id="599" name="Google Shape;59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63640" y="3533251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605;p51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למה צריך נדב״ר?</a:t>
            </a:r>
            <a:endParaRPr/>
          </a:p>
        </p:txBody>
      </p:sp>
      <p:sp>
        <p:nvSpPr>
          <p:cNvPr id="607" name="Google Shape;607;p51"/>
          <p:cNvSpPr/>
          <p:nvPr/>
        </p:nvSpPr>
        <p:spPr>
          <a:xfrm>
            <a:off x="868680" y="1755648"/>
            <a:ext cx="10469880" cy="640080"/>
          </a:xfrm>
          <a:prstGeom prst="roundRect">
            <a:avLst>
              <a:gd fmla="val 17142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נוהל דיבור ברשת - </a:t>
            </a: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כללים ומילים קבועות לשיחה בקשר. כל מי שעל הרשת מדבר באותה שפה</a:t>
            </a:r>
            <a:endParaRPr/>
          </a:p>
        </p:txBody>
      </p:sp>
      <p:sp>
        <p:nvSpPr>
          <p:cNvPr id="608" name="Google Shape;608;p51"/>
          <p:cNvSpPr/>
          <p:nvPr/>
        </p:nvSpPr>
        <p:spPr>
          <a:xfrm>
            <a:off x="8001000" y="2606040"/>
            <a:ext cx="3337560" cy="1234440"/>
          </a:xfrm>
          <a:prstGeom prst="roundRect">
            <a:avLst>
              <a:gd fmla="val 8888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קצר וענייני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כדי לא לתפוס את הרשת - שיחה ארוכה חוסמת אחרים</a:t>
            </a:r>
            <a:endParaRPr/>
          </a:p>
        </p:txBody>
      </p:sp>
      <p:sp>
        <p:nvSpPr>
          <p:cNvPr id="609" name="Google Shape;609;p51"/>
          <p:cNvSpPr/>
          <p:nvPr/>
        </p:nvSpPr>
        <p:spPr>
          <a:xfrm>
            <a:off x="4434840" y="2606040"/>
            <a:ext cx="3337560" cy="1234440"/>
          </a:xfrm>
          <a:prstGeom prst="roundRect">
            <a:avLst>
              <a:gd fmla="val 8888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שפה משותפת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מניעת דו-משמעות. דיווח במבנה קבוע - אין צורך לנחש</a:t>
            </a:r>
            <a:endParaRPr/>
          </a:p>
        </p:txBody>
      </p:sp>
      <p:sp>
        <p:nvSpPr>
          <p:cNvPr id="610" name="Google Shape;610;p51"/>
          <p:cNvSpPr/>
          <p:nvPr/>
        </p:nvSpPr>
        <p:spPr>
          <a:xfrm>
            <a:off x="868680" y="2606040"/>
            <a:ext cx="3337560" cy="1234440"/>
          </a:xfrm>
          <a:prstGeom prst="roundRect">
            <a:avLst>
              <a:gd fmla="val 8888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זיהוי הגורמים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יודעים תמיד מי מדבר ואל מי</a:t>
            </a:r>
            <a:endParaRPr/>
          </a:p>
        </p:txBody>
      </p:sp>
      <p:sp>
        <p:nvSpPr>
          <p:cNvPr id="611" name="Google Shape;611;p51"/>
          <p:cNvSpPr/>
          <p:nvPr/>
        </p:nvSpPr>
        <p:spPr>
          <a:xfrm>
            <a:off x="6217920" y="4069080"/>
            <a:ext cx="5120640" cy="1234440"/>
          </a:xfrm>
          <a:prstGeom prst="roundRect">
            <a:avLst>
              <a:gd fmla="val 8888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ביטחון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לא חושפים מיקום, שמות ותוכניות</a:t>
            </a:r>
            <a:endParaRPr/>
          </a:p>
        </p:txBody>
      </p:sp>
      <p:sp>
        <p:nvSpPr>
          <p:cNvPr id="612" name="Google Shape;612;p51"/>
          <p:cNvSpPr/>
          <p:nvPr/>
        </p:nvSpPr>
        <p:spPr>
          <a:xfrm>
            <a:off x="868680" y="4069080"/>
            <a:ext cx="5120640" cy="1234440"/>
          </a:xfrm>
          <a:prstGeom prst="roundRect">
            <a:avLst>
              <a:gd fmla="val 8888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בהירות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מילים שלא מתבלבלות ברעש</a:t>
            </a:r>
            <a:endParaRPr/>
          </a:p>
        </p:txBody>
      </p:sp>
      <p:sp>
        <p:nvSpPr>
          <p:cNvPr id="613" name="Google Shape;613;p51"/>
          <p:cNvSpPr txBox="1"/>
          <p:nvPr/>
        </p:nvSpPr>
        <p:spPr>
          <a:xfrm>
            <a:off x="868680" y="54406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שמות הקוד - מאותה 'מפת שליטה וקוד' משיעור 01</a:t>
            </a:r>
            <a:endParaRPr/>
          </a:p>
        </p:txBody>
      </p:sp>
      <p:pic>
        <p:nvPicPr>
          <p:cNvPr id="614" name="Google Shape;614;p51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130092" y="5546717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מבנה ההודעה</a:t>
            </a:r>
            <a:endParaRPr/>
          </a:p>
        </p:txBody>
      </p:sp>
      <p:sp>
        <p:nvSpPr>
          <p:cNvPr id="620" name="Google Shape;620;p52"/>
          <p:cNvSpPr txBox="1"/>
          <p:nvPr/>
        </p:nvSpPr>
        <p:spPr>
          <a:xfrm>
            <a:off x="640080" y="1417320"/>
            <a:ext cx="1091184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200" u="none" cap="none" strike="noStrike">
                <a:solidFill>
                  <a:srgbClr val="2E3B2A"/>
                </a:solidFill>
                <a:latin typeface="Assistant"/>
                <a:ea typeface="Assistant"/>
                <a:cs typeface="Assistant"/>
                <a:sym typeface="Assistant"/>
              </a:rPr>
              <a:t>כדי לתפוס כמה שפחות זמן ברשת אך להעביר מסרים בצורה הברורה ביותר, נקבע מבנה אחיד להודעה:</a:t>
            </a:r>
            <a:endParaRPr/>
          </a:p>
        </p:txBody>
      </p:sp>
      <p:graphicFrame>
        <p:nvGraphicFramePr>
          <p:cNvPr id="621" name="Google Shape;621;p52"/>
          <p:cNvGraphicFramePr/>
          <p:nvPr/>
        </p:nvGraphicFramePr>
        <p:xfrm>
          <a:off x="2164080" y="2651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{1D97ADCB-E6CE-4AFA-8568-8848F474D579}</a:tableStyleId>
              </a:tblPr>
              <a:tblGrid>
                <a:gridCol w="4754875"/>
                <a:gridCol w="3108950"/>
              </a:tblGrid>
              <a:tr h="310900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דוגמה</a:t>
                      </a:r>
                      <a:endParaRPr b="1" sz="2200" u="none" cap="none" strike="noStrike">
                        <a:solidFill>
                          <a:srgbClr val="FFFFFF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18300" marB="18300" marR="54875" marL="54875" anchor="ctr">
                    <a:solidFill>
                      <a:srgbClr val="4E7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חלק בהודעה</a:t>
                      </a:r>
                      <a:endParaRPr b="1" sz="2200" u="none" cap="none" strike="noStrike">
                        <a:solidFill>
                          <a:srgbClr val="FFFFFF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18300" marB="18300" marR="54875" marL="54875" anchor="ctr">
                    <a:solidFill>
                      <a:srgbClr val="4E7A3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תפוז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פנייה / קריאה</a:t>
                      </a:r>
                      <a:endParaRPr b="0" sz="2200" u="none" cap="none" strike="noStrike">
                        <a:solidFill>
                          <a:srgbClr val="2E3B2A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כאן פטל</a:t>
                      </a:r>
                      <a:endParaRPr b="0" sz="2200" u="none" cap="none" strike="noStrike">
                        <a:solidFill>
                          <a:srgbClr val="2E3B2A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הזדהות</a:t>
                      </a:r>
                      <a:endParaRPr b="0" sz="2200" u="none" cap="none" strike="noStrike">
                        <a:solidFill>
                          <a:srgbClr val="2E3B2A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״לבדיקה, איך נשמע?״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תוכן ההודעה</a:t>
                      </a:r>
                      <a:endParaRPr b="0" sz="2200" u="none" cap="none" strike="noStrike">
                        <a:solidFill>
                          <a:srgbClr val="2E3B2A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עבור</a:t>
                      </a:r>
                      <a:endParaRPr b="0" sz="2200" u="none" cap="none" strike="noStrike">
                        <a:solidFill>
                          <a:srgbClr val="2E3B2A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סיום</a:t>
                      </a:r>
                      <a:endParaRPr b="0" sz="2200" u="none" cap="none" strike="noStrike">
                        <a:solidFill>
                          <a:srgbClr val="2E3B2A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22" name="Google Shape;622;p52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52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10325100" y="3333750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53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מבנה שיחה - דוגמה</a:t>
            </a:r>
            <a:endParaRPr/>
          </a:p>
        </p:txBody>
      </p:sp>
      <p:sp>
        <p:nvSpPr>
          <p:cNvPr id="630" name="Google Shape;630;p53"/>
          <p:cNvSpPr/>
          <p:nvPr/>
        </p:nvSpPr>
        <p:spPr>
          <a:xfrm>
            <a:off x="4480560" y="1783080"/>
            <a:ext cx="6035040" cy="777240"/>
          </a:xfrm>
          <a:prstGeom prst="roundRect">
            <a:avLst>
              <a:gd fmla="val 14117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תחנה 2 קוראת: </a:t>
            </a:r>
            <a:r>
              <a:rPr b="1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"קודקוד, כאן 2, עבור"</a:t>
            </a:r>
            <a:endParaRPr/>
          </a:p>
        </p:txBody>
      </p:sp>
      <p:sp>
        <p:nvSpPr>
          <p:cNvPr id="631" name="Google Shape;631;p53"/>
          <p:cNvSpPr/>
          <p:nvPr/>
        </p:nvSpPr>
        <p:spPr>
          <a:xfrm>
            <a:off x="868680" y="2697480"/>
            <a:ext cx="5120640" cy="777240"/>
          </a:xfrm>
          <a:prstGeom prst="roundRect">
            <a:avLst>
              <a:gd fmla="val 14117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קודקוד עונה: </a:t>
            </a:r>
            <a:r>
              <a:rPr b="1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"כאן קודקוד, עבור"</a:t>
            </a:r>
            <a:endParaRPr/>
          </a:p>
        </p:txBody>
      </p:sp>
      <p:sp>
        <p:nvSpPr>
          <p:cNvPr id="632" name="Google Shape;632;p53"/>
          <p:cNvSpPr/>
          <p:nvPr/>
        </p:nvSpPr>
        <p:spPr>
          <a:xfrm>
            <a:off x="2194560" y="3611880"/>
            <a:ext cx="8321040" cy="777240"/>
          </a:xfrm>
          <a:prstGeom prst="roundRect">
            <a:avLst>
              <a:gd fmla="val 14117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תחנה 2 מדווחת: </a:t>
            </a:r>
            <a:r>
              <a:rPr b="1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"כאן 2, הגעתי לסוף ציר ברבור, ממשיך ליעד כפפה, הגעה בעוד 20 קטנות, עבור"</a:t>
            </a:r>
            <a:endParaRPr/>
          </a:p>
        </p:txBody>
      </p:sp>
      <p:sp>
        <p:nvSpPr>
          <p:cNvPr id="633" name="Google Shape;633;p53"/>
          <p:cNvSpPr/>
          <p:nvPr/>
        </p:nvSpPr>
        <p:spPr>
          <a:xfrm>
            <a:off x="868680" y="4526280"/>
            <a:ext cx="5120640" cy="777240"/>
          </a:xfrm>
          <a:prstGeom prst="roundRect">
            <a:avLst>
              <a:gd fmla="val 14117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קודקוד מאשר: </a:t>
            </a:r>
            <a:r>
              <a:rPr b="1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"כאן קודקוד, רות, סוף"</a:t>
            </a:r>
            <a:endParaRPr/>
          </a:p>
        </p:txBody>
      </p:sp>
      <p:sp>
        <p:nvSpPr>
          <p:cNvPr id="634" name="Google Shape;634;p53"/>
          <p:cNvSpPr/>
          <p:nvPr/>
        </p:nvSpPr>
        <p:spPr>
          <a:xfrm>
            <a:off x="868680" y="5486400"/>
            <a:ext cx="8686800" cy="502920"/>
          </a:xfrm>
          <a:prstGeom prst="roundRect">
            <a:avLst>
              <a:gd fmla="val 50000" name="adj"/>
            </a:avLst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קריאה  ←  אישור קשר  ←  הודעה  ←  אישור וסיום</a:t>
            </a:r>
            <a:endParaRPr/>
          </a:p>
        </p:txBody>
      </p:sp>
      <p:pic>
        <p:nvPicPr>
          <p:cNvPr id="635" name="Google Shape;635;p53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10605477" y="2491803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0" name="Google Shape;640;p54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54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051764" y="4609414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סוגי סיומות</a:t>
            </a:r>
            <a:endParaRPr/>
          </a:p>
        </p:txBody>
      </p:sp>
      <p:sp>
        <p:nvSpPr>
          <p:cNvPr id="643" name="Google Shape;643;p5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1800"/>
              <a:t>עבור</a:t>
            </a:r>
            <a:r>
              <a:rPr lang="iw-IL" sz="1800"/>
              <a:t> - סיימתי את שידורי וממתין לתשובה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1800"/>
              <a:t>רות</a:t>
            </a:r>
            <a:r>
              <a:rPr lang="iw-IL" sz="1800"/>
              <a:t> - סיימתי את שידורי ואין צורך בתשובה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1800"/>
              <a:t>היישר</a:t>
            </a:r>
            <a:r>
              <a:rPr lang="iw-IL" sz="1800"/>
              <a:t> - קלטתי, הבנתי, ומבצע את הפקודה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1800"/>
              <a:t>סוף</a:t>
            </a:r>
            <a:r>
              <a:rPr lang="iw-IL" sz="1800"/>
              <a:t> - סיימתי את שידורי ואיני ממתין לתשובה</a:t>
            </a:r>
            <a:endParaRPr sz="180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iw-IL" sz="1800"/>
              <a:t>רק הדרג הבכיר רשאי להגיד ״סוף״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1800"/>
              <a:t>כאן - פותח שידור ומזהה את המשדר: "כאן 2"</a:t>
            </a:r>
            <a:endParaRPr sz="18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בעלי תפקידים בקשר</a:t>
            </a:r>
            <a:endParaRPr/>
          </a:p>
        </p:txBody>
      </p:sp>
      <p:sp>
        <p:nvSpPr>
          <p:cNvPr id="649" name="Google Shape;649;p55"/>
          <p:cNvSpPr txBox="1"/>
          <p:nvPr/>
        </p:nvSpPr>
        <p:spPr>
          <a:xfrm>
            <a:off x="6233160" y="1737360"/>
            <a:ext cx="5501640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800" u="none" cap="none" strike="noStrike">
                <a:solidFill>
                  <a:srgbClr val="4E7A3F"/>
                </a:solidFill>
                <a:latin typeface="Assistant"/>
                <a:ea typeface="Assistant"/>
                <a:cs typeface="Assistant"/>
                <a:sym typeface="Assistant"/>
              </a:rPr>
              <a:t>קודקוד - מפקד</a:t>
            </a:r>
            <a:endParaRPr b="1" i="0" sz="2800" u="none" cap="none" strike="noStrike">
              <a:solidFill>
                <a:srgbClr val="4E7A3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iw-IL" sz="2800" u="none" cap="none" strike="noStrike">
                <a:solidFill>
                  <a:srgbClr val="4E7A3F"/>
                </a:solidFill>
                <a:latin typeface="Assistant"/>
                <a:ea typeface="Assistant"/>
                <a:cs typeface="Assistant"/>
                <a:sym typeface="Assistant"/>
              </a:rPr>
              <a:t>משנה - סגן</a:t>
            </a:r>
            <a:endParaRPr b="1" i="0" sz="2800" u="none" cap="none" strike="noStrike">
              <a:solidFill>
                <a:srgbClr val="4E7A3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iw-IL" sz="2800" u="none" cap="none" strike="noStrike">
                <a:solidFill>
                  <a:srgbClr val="4E7A3F"/>
                </a:solidFill>
                <a:latin typeface="Assistant"/>
                <a:ea typeface="Assistant"/>
                <a:cs typeface="Assistant"/>
                <a:sym typeface="Assistant"/>
              </a:rPr>
              <a:t>גפרור - חייל</a:t>
            </a:r>
            <a:endParaRPr b="1" i="0" sz="2800" u="none" cap="none" strike="noStrike">
              <a:solidFill>
                <a:srgbClr val="4E7A3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iw-IL" sz="2800" u="none" cap="none" strike="noStrike">
                <a:solidFill>
                  <a:srgbClr val="4E7A3F"/>
                </a:solidFill>
                <a:latin typeface="Assistant"/>
                <a:ea typeface="Assistant"/>
                <a:cs typeface="Assistant"/>
                <a:sym typeface="Assistant"/>
              </a:rPr>
              <a:t>חצאית - חיילת</a:t>
            </a:r>
            <a:endParaRPr b="1" i="0" sz="2800" u="none" cap="none" strike="noStrike">
              <a:solidFill>
                <a:srgbClr val="4E7A3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iw-IL" sz="2800" u="none" cap="none" strike="noStrike">
                <a:solidFill>
                  <a:srgbClr val="4E7A3F"/>
                </a:solidFill>
                <a:latin typeface="Assistant"/>
                <a:ea typeface="Assistant"/>
                <a:cs typeface="Assistant"/>
                <a:sym typeface="Assistant"/>
              </a:rPr>
              <a:t>תורן - רופא</a:t>
            </a:r>
            <a:endParaRPr b="1" i="0" sz="2800" u="none" cap="none" strike="noStrike">
              <a:solidFill>
                <a:srgbClr val="4E7A3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650" name="Google Shape;650;p55"/>
          <p:cNvSpPr txBox="1"/>
          <p:nvPr/>
        </p:nvSpPr>
        <p:spPr>
          <a:xfrm>
            <a:off x="457200" y="1737360"/>
            <a:ext cx="5501640" cy="10310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800" u="none" cap="none" strike="noStrike">
                <a:solidFill>
                  <a:srgbClr val="4E7A3F"/>
                </a:solidFill>
                <a:latin typeface="Assistant"/>
                <a:ea typeface="Assistant"/>
                <a:cs typeface="Assistant"/>
                <a:sym typeface="Assistant"/>
              </a:rPr>
              <a:t>הרדוף - הרוג</a:t>
            </a:r>
            <a:endParaRPr b="1" i="0" sz="2800" u="none" cap="none" strike="noStrike">
              <a:solidFill>
                <a:srgbClr val="4E7A3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iw-IL" sz="2800" u="none" cap="none" strike="noStrike">
                <a:solidFill>
                  <a:srgbClr val="4E7A3F"/>
                </a:solidFill>
                <a:latin typeface="Assistant"/>
                <a:ea typeface="Assistant"/>
                <a:cs typeface="Assistant"/>
                <a:sym typeface="Assistant"/>
              </a:rPr>
              <a:t>פרח - פצוע</a:t>
            </a:r>
            <a:endParaRPr b="1" i="0" sz="2800" u="none" cap="none" strike="noStrike">
              <a:solidFill>
                <a:srgbClr val="4E7A3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651" name="Google Shape;651;p55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55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10325100" y="3333750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56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מילון לקשר</a:t>
            </a:r>
            <a:endParaRPr/>
          </a:p>
        </p:txBody>
      </p:sp>
      <p:sp>
        <p:nvSpPr>
          <p:cNvPr id="659" name="Google Shape;659;p56"/>
          <p:cNvSpPr/>
          <p:nvPr/>
        </p:nvSpPr>
        <p:spPr>
          <a:xfrm>
            <a:off x="8001000" y="1783080"/>
            <a:ext cx="3337560" cy="676656"/>
          </a:xfrm>
          <a:prstGeom prst="roundRect">
            <a:avLst>
              <a:gd fmla="val 16216" name="adj"/>
            </a:avLst>
          </a:prstGeom>
          <a:solidFill>
            <a:srgbClr val="EEF4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משני - </a:t>
            </a: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טלפון</a:t>
            </a:r>
            <a:endParaRPr/>
          </a:p>
        </p:txBody>
      </p:sp>
      <p:sp>
        <p:nvSpPr>
          <p:cNvPr id="660" name="Google Shape;660;p56"/>
          <p:cNvSpPr/>
          <p:nvPr/>
        </p:nvSpPr>
        <p:spPr>
          <a:xfrm>
            <a:off x="4434840" y="1783080"/>
            <a:ext cx="3337560" cy="676656"/>
          </a:xfrm>
          <a:prstGeom prst="roundRect">
            <a:avLst>
              <a:gd fmla="val 16216" name="adj"/>
            </a:avLst>
          </a:prstGeom>
          <a:solidFill>
            <a:srgbClr val="EEF4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חמים וטעים - </a:t>
            </a: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אוכל</a:t>
            </a:r>
            <a:endParaRPr/>
          </a:p>
        </p:txBody>
      </p:sp>
      <p:sp>
        <p:nvSpPr>
          <p:cNvPr id="661" name="Google Shape;661;p56"/>
          <p:cNvSpPr/>
          <p:nvPr/>
        </p:nvSpPr>
        <p:spPr>
          <a:xfrm>
            <a:off x="868680" y="1783080"/>
            <a:ext cx="3337560" cy="676656"/>
          </a:xfrm>
          <a:prstGeom prst="roundRect">
            <a:avLst>
              <a:gd fmla="val 16216" name="adj"/>
            </a:avLst>
          </a:prstGeom>
          <a:solidFill>
            <a:srgbClr val="EEF4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צל״ש - </a:t>
            </a: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ציר ללא שם</a:t>
            </a:r>
            <a:endParaRPr/>
          </a:p>
        </p:txBody>
      </p:sp>
      <p:sp>
        <p:nvSpPr>
          <p:cNvPr id="662" name="Google Shape;662;p56"/>
          <p:cNvSpPr/>
          <p:nvPr/>
        </p:nvSpPr>
        <p:spPr>
          <a:xfrm>
            <a:off x="8001000" y="2569464"/>
            <a:ext cx="3337560" cy="676656"/>
          </a:xfrm>
          <a:prstGeom prst="roundRect">
            <a:avLst>
              <a:gd fmla="val 16216" name="adj"/>
            </a:avLst>
          </a:prstGeom>
          <a:solidFill>
            <a:srgbClr val="EEF4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אנגליה - </a:t>
            </a: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התחלת תרגיל/מבצע</a:t>
            </a:r>
            <a:endParaRPr/>
          </a:p>
        </p:txBody>
      </p:sp>
      <p:sp>
        <p:nvSpPr>
          <p:cNvPr id="663" name="Google Shape;663;p56"/>
          <p:cNvSpPr/>
          <p:nvPr/>
        </p:nvSpPr>
        <p:spPr>
          <a:xfrm>
            <a:off x="4434840" y="2569464"/>
            <a:ext cx="3337560" cy="676656"/>
          </a:xfrm>
          <a:prstGeom prst="roundRect">
            <a:avLst>
              <a:gd fmla="val 16216" name="adj"/>
            </a:avLst>
          </a:prstGeom>
          <a:solidFill>
            <a:srgbClr val="EEF4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תאילנד - </a:t>
            </a: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סוף תרגיל/מבצע</a:t>
            </a:r>
            <a:endParaRPr/>
          </a:p>
        </p:txBody>
      </p:sp>
      <p:sp>
        <p:nvSpPr>
          <p:cNvPr id="664" name="Google Shape;664;p56"/>
          <p:cNvSpPr/>
          <p:nvPr/>
        </p:nvSpPr>
        <p:spPr>
          <a:xfrm>
            <a:off x="868680" y="2569464"/>
            <a:ext cx="3337560" cy="676656"/>
          </a:xfrm>
          <a:prstGeom prst="roundRect">
            <a:avLst>
              <a:gd fmla="val 16216" name="adj"/>
            </a:avLst>
          </a:prstGeom>
          <a:solidFill>
            <a:srgbClr val="EEF4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חיובי - </a:t>
            </a: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כן</a:t>
            </a:r>
            <a:endParaRPr/>
          </a:p>
        </p:txBody>
      </p:sp>
      <p:sp>
        <p:nvSpPr>
          <p:cNvPr id="665" name="Google Shape;665;p56"/>
          <p:cNvSpPr/>
          <p:nvPr/>
        </p:nvSpPr>
        <p:spPr>
          <a:xfrm>
            <a:off x="8001000" y="3355848"/>
            <a:ext cx="3337560" cy="676656"/>
          </a:xfrm>
          <a:prstGeom prst="roundRect">
            <a:avLst>
              <a:gd fmla="val 16216" name="adj"/>
            </a:avLst>
          </a:prstGeom>
          <a:solidFill>
            <a:srgbClr val="EEF4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שלילי - </a:t>
            </a: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לא</a:t>
            </a:r>
            <a:endParaRPr/>
          </a:p>
        </p:txBody>
      </p:sp>
      <p:sp>
        <p:nvSpPr>
          <p:cNvPr id="666" name="Google Shape;666;p56"/>
          <p:cNvSpPr/>
          <p:nvPr/>
        </p:nvSpPr>
        <p:spPr>
          <a:xfrm>
            <a:off x="4434840" y="3355848"/>
            <a:ext cx="3337560" cy="676656"/>
          </a:xfrm>
          <a:prstGeom prst="roundRect">
            <a:avLst>
              <a:gd fmla="val 16216" name="adj"/>
            </a:avLst>
          </a:prstGeom>
          <a:solidFill>
            <a:srgbClr val="EEF4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שמשות - </a:t>
            </a: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פנסים/אורות</a:t>
            </a:r>
            <a:endParaRPr/>
          </a:p>
        </p:txBody>
      </p:sp>
      <p:sp>
        <p:nvSpPr>
          <p:cNvPr id="667" name="Google Shape;667;p56"/>
          <p:cNvSpPr/>
          <p:nvPr/>
        </p:nvSpPr>
        <p:spPr>
          <a:xfrm>
            <a:off x="868680" y="3355848"/>
            <a:ext cx="3337560" cy="676656"/>
          </a:xfrm>
          <a:prstGeom prst="roundRect">
            <a:avLst>
              <a:gd fmla="val 16216" name="adj"/>
            </a:avLst>
          </a:prstGeom>
          <a:solidFill>
            <a:srgbClr val="EEF4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צעצוע - </a:t>
            </a: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מכשיר</a:t>
            </a:r>
            <a:endParaRPr/>
          </a:p>
        </p:txBody>
      </p:sp>
      <p:sp>
        <p:nvSpPr>
          <p:cNvPr id="668" name="Google Shape;668;p56"/>
          <p:cNvSpPr/>
          <p:nvPr/>
        </p:nvSpPr>
        <p:spPr>
          <a:xfrm>
            <a:off x="8001000" y="4142232"/>
            <a:ext cx="3337560" cy="676656"/>
          </a:xfrm>
          <a:prstGeom prst="roundRect">
            <a:avLst>
              <a:gd fmla="val 16216" name="adj"/>
            </a:avLst>
          </a:prstGeom>
          <a:solidFill>
            <a:srgbClr val="EEF4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נוכחי - </a:t>
            </a: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קשר</a:t>
            </a:r>
            <a:endParaRPr/>
          </a:p>
        </p:txBody>
      </p:sp>
      <p:sp>
        <p:nvSpPr>
          <p:cNvPr id="669" name="Google Shape;669;p56"/>
          <p:cNvSpPr/>
          <p:nvPr/>
        </p:nvSpPr>
        <p:spPr>
          <a:xfrm>
            <a:off x="4434840" y="4142232"/>
            <a:ext cx="3337560" cy="676656"/>
          </a:xfrm>
          <a:prstGeom prst="roundRect">
            <a:avLst>
              <a:gd fmla="val 16216" name="adj"/>
            </a:avLst>
          </a:prstGeom>
          <a:solidFill>
            <a:srgbClr val="C8D8B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קטנה - </a:t>
            </a: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דקה</a:t>
            </a:r>
            <a:endParaRPr/>
          </a:p>
        </p:txBody>
      </p:sp>
      <p:sp>
        <p:nvSpPr>
          <p:cNvPr id="670" name="Google Shape;670;p56"/>
          <p:cNvSpPr/>
          <p:nvPr/>
        </p:nvSpPr>
        <p:spPr>
          <a:xfrm>
            <a:off x="868680" y="4142232"/>
            <a:ext cx="3337560" cy="676656"/>
          </a:xfrm>
          <a:prstGeom prst="roundRect">
            <a:avLst>
              <a:gd fmla="val 16216" name="adj"/>
            </a:avLst>
          </a:prstGeom>
          <a:solidFill>
            <a:srgbClr val="C8D8B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ארוך - </a:t>
            </a: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קילומטר</a:t>
            </a:r>
            <a:endParaRPr/>
          </a:p>
        </p:txBody>
      </p:sp>
      <p:sp>
        <p:nvSpPr>
          <p:cNvPr id="671" name="Google Shape;671;p56"/>
          <p:cNvSpPr/>
          <p:nvPr/>
        </p:nvSpPr>
        <p:spPr>
          <a:xfrm>
            <a:off x="8001000" y="4928616"/>
            <a:ext cx="3337560" cy="676656"/>
          </a:xfrm>
          <a:prstGeom prst="roundRect">
            <a:avLst>
              <a:gd fmla="val 16216" name="adj"/>
            </a:avLst>
          </a:prstGeom>
          <a:solidFill>
            <a:srgbClr val="C8D8B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שחור - </a:t>
            </a: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כביש</a:t>
            </a:r>
            <a:endParaRPr/>
          </a:p>
        </p:txBody>
      </p:sp>
      <p:sp>
        <p:nvSpPr>
          <p:cNvPr id="672" name="Google Shape;672;p56"/>
          <p:cNvSpPr/>
          <p:nvPr/>
        </p:nvSpPr>
        <p:spPr>
          <a:xfrm>
            <a:off x="4434840" y="4928616"/>
            <a:ext cx="3337560" cy="676656"/>
          </a:xfrm>
          <a:prstGeom prst="roundRect">
            <a:avLst>
              <a:gd fmla="val 16216" name="adj"/>
            </a:avLst>
          </a:prstGeom>
          <a:solidFill>
            <a:srgbClr val="C8D8B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כחול - </a:t>
            </a: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ים</a:t>
            </a:r>
            <a:endParaRPr/>
          </a:p>
        </p:txBody>
      </p:sp>
      <p:sp>
        <p:nvSpPr>
          <p:cNvPr id="673" name="Google Shape;673;p56"/>
          <p:cNvSpPr/>
          <p:nvPr/>
        </p:nvSpPr>
        <p:spPr>
          <a:xfrm>
            <a:off x="868680" y="4928616"/>
            <a:ext cx="3337560" cy="676656"/>
          </a:xfrm>
          <a:prstGeom prst="roundRect">
            <a:avLst>
              <a:gd fmla="val 16216" name="adj"/>
            </a:avLst>
          </a:prstGeom>
          <a:solidFill>
            <a:srgbClr val="C8D8B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כאן - </a:t>
            </a: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פותח שידור ומזהה: "כאן 2"</a:t>
            </a:r>
            <a:endParaRPr/>
          </a:p>
        </p:txBody>
      </p:sp>
      <p:pic>
        <p:nvPicPr>
          <p:cNvPr id="674" name="Google Shape;674;p56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238449" y="5745142"/>
            <a:ext cx="1228039" cy="1228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" name="Google Shape;679;p57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p57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195183" y="4852418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נהלים בקשר – אמור \ אמור שנית</a:t>
            </a:r>
            <a:endParaRPr/>
          </a:p>
        </p:txBody>
      </p:sp>
      <p:sp>
        <p:nvSpPr>
          <p:cNvPr id="682" name="Google Shape;682;p5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כאשר תחנה קולטת לא הבינה את התחנה המשדרת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דוגמה:</a:t>
            </a:r>
            <a:endParaRPr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iw-IL" sz="2200"/>
              <a:t>״זרזיר, כאן 2, קורא בדאלי - באיזו שעה יגיע החמים והטעים? עבור״</a:t>
            </a:r>
            <a:endParaRPr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iw-IL" sz="2200"/>
              <a:t>״2, כאן זרזיר, אמור שנית, עבור״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לעולם לא נגיד ״חזור שנית/ חזור״ - המילים האלה עלולות להתפרש כחזרה על הפקודה ולא על ההודעה</a:t>
            </a:r>
            <a:endParaRPr sz="22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7" name="Google Shape;687;p58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58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156129" y="4713559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נהלים בקשר - הקרא / מקריא</a:t>
            </a:r>
            <a:endParaRPr/>
          </a:p>
        </p:txBody>
      </p:sp>
      <p:sp>
        <p:nvSpPr>
          <p:cNvPr id="690" name="Google Shape;690;p5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וידוא שהתחנה קלטה את מלוא ההודעה שהעברנו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ההבדל בין ״הקרא״ לבין ״אמור שנית״:</a:t>
            </a:r>
            <a:endParaRPr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iw-IL" sz="2200"/>
              <a:t>״הקרא״ - התחנה המשדרת מבקשת מהקולטת לחזור על ההודעה</a:t>
            </a:r>
            <a:endParaRPr b="1" sz="220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iw-IL" sz="2200"/>
              <a:t>״אמור שנית״ - התחנה הקולטת מבקשת מהמשדרת לחזור</a:t>
            </a:r>
            <a:endParaRPr b="1"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דוגמה:</a:t>
            </a:r>
            <a:endParaRPr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iw-IL" sz="2200"/>
              <a:t>״1, כאן קודקוד, קורא בדאלי, נוע למשימתך״ / ״1, כאן קודקוד, הקרא, עבור״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נהלים בקשר - קבל תיקון</a:t>
            </a:r>
            <a:endParaRPr/>
          </a:p>
        </p:txBody>
      </p:sp>
      <p:sp>
        <p:nvSpPr>
          <p:cNvPr id="696" name="Google Shape;696;p5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כאשר נעביר הודעה שגויה ונרצה לתקן אותה, נגיד ״קבל תיקון״ ואז את ההודעה הנכונה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דוגמה:</a:t>
            </a:r>
            <a:endParaRPr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iw-IL" sz="2200"/>
              <a:t>״2, כאן משנה, קורא בדאלי - זרזיר בדרך אליך, קבל תיקון, הוא בדרכו ל-1 ואז אליך, עבור״</a:t>
            </a:r>
            <a:endParaRPr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iw-IL" sz="2200"/>
              <a:t>״משנה, כאן 2, רות״</a:t>
            </a:r>
            <a:endParaRPr/>
          </a:p>
        </p:txBody>
      </p:sp>
      <p:pic>
        <p:nvPicPr>
          <p:cNvPr id="697" name="Google Shape;697;p59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59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051764" y="4609414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נהלים בקשר - איות</a:t>
            </a:r>
            <a:endParaRPr/>
          </a:p>
        </p:txBody>
      </p:sp>
      <p:sp>
        <p:nvSpPr>
          <p:cNvPr id="704" name="Google Shape;704;p6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כאשר שתי מילים נשמעות אותו דבר וההודעה לא ברורה, נאיית את המילה בא״ב פונטי - וכך נמנע בלבול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דוגמה:</a:t>
            </a:r>
            <a:endParaRPr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iw-IL" sz="2200"/>
              <a:t>״שלהבת - אני מאיית: שמיר, לאה, הגר, בועז, תלם - שלהבת״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       כך לא נשמע בטעות את המילה ״שלכת״</a:t>
            </a:r>
            <a:endParaRPr/>
          </a:p>
        </p:txBody>
      </p:sp>
      <p:pic>
        <p:nvPicPr>
          <p:cNvPr id="705" name="Google Shape;705;p60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60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051764" y="4609414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נהלים בקשר - איות (א–כ)</a:t>
            </a:r>
            <a:endParaRPr/>
          </a:p>
        </p:txBody>
      </p:sp>
      <p:graphicFrame>
        <p:nvGraphicFramePr>
          <p:cNvPr id="712" name="Google Shape;712;p61"/>
          <p:cNvGraphicFramePr/>
          <p:nvPr/>
        </p:nvGraphicFramePr>
        <p:xfrm>
          <a:off x="4404360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{1D97ADCB-E6CE-4AFA-8568-8848F474D579}</a:tableStyleId>
              </a:tblPr>
              <a:tblGrid>
                <a:gridCol w="2468875"/>
                <a:gridCol w="9144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אלפבית צלילי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4E7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אות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4E7A3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אלף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א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בועז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ב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גימל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ג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דוד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ד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הגר</a:t>
                      </a:r>
                      <a:endParaRPr b="0" sz="2200" u="none" cap="none" strike="noStrike">
                        <a:solidFill>
                          <a:srgbClr val="2E3B2A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ה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וו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ו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זאב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ז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חוה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ח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טיה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ט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יונה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י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כרמל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כ</a:t>
                      </a:r>
                      <a:endParaRPr b="1" sz="2200" u="none" cap="none" strike="noStrike">
                        <a:solidFill>
                          <a:srgbClr val="2E3B2A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</a:tr>
            </a:tbl>
          </a:graphicData>
        </a:graphic>
      </p:graphicFrame>
      <p:pic>
        <p:nvPicPr>
          <p:cNvPr id="713" name="Google Shape;713;p61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61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10629900" y="2628900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נהלים בקשר - איות (ל–ת)</a:t>
            </a:r>
            <a:endParaRPr/>
          </a:p>
        </p:txBody>
      </p:sp>
      <p:graphicFrame>
        <p:nvGraphicFramePr>
          <p:cNvPr id="720" name="Google Shape;720;p62"/>
          <p:cNvGraphicFramePr/>
          <p:nvPr/>
        </p:nvGraphicFramePr>
        <p:xfrm>
          <a:off x="4404360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{1D97ADCB-E6CE-4AFA-8568-8848F474D579}</a:tableStyleId>
              </a:tblPr>
              <a:tblGrid>
                <a:gridCol w="2468875"/>
                <a:gridCol w="9144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אלפבית צלילי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4E7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אות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4E7A3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לאה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ל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משה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מ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נשר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נ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סמך</a:t>
                      </a:r>
                      <a:endParaRPr b="0" sz="2200" u="none" cap="none" strike="noStrike">
                        <a:solidFill>
                          <a:srgbClr val="2E3B2A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ס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עין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ע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פסל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פ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ציפור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צ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קורח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ק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רות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ר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שמיר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ש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תלם</a:t>
                      </a:r>
                      <a:endParaRPr/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200" u="none" cap="none" strike="noStrike">
                          <a:solidFill>
                            <a:srgbClr val="2E3B2A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ת</a:t>
                      </a:r>
                      <a:endParaRPr b="1" sz="2200" u="none" cap="none" strike="noStrike">
                        <a:solidFill>
                          <a:srgbClr val="2E3B2A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18300" marB="18300" marR="54875" marL="54875" anchor="ctr">
                    <a:solidFill>
                      <a:srgbClr val="EAF3E6"/>
                    </a:solidFill>
                  </a:tcPr>
                </a:tc>
              </a:tr>
            </a:tbl>
          </a:graphicData>
        </a:graphic>
      </p:graphicFrame>
      <p:pic>
        <p:nvPicPr>
          <p:cNvPr id="721" name="Google Shape;721;p62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62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10629900" y="2628900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נהלים בקשר – חיובי \ שלילי</a:t>
            </a:r>
            <a:endParaRPr/>
          </a:p>
        </p:txBody>
      </p:sp>
      <p:sp>
        <p:nvSpPr>
          <p:cNvPr id="728" name="Google Shape;728;p6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המילים ״כן״ ו״לא״ בנות הברה אחת ונשמעות דומה למילים רבות - לכן נגיד ״חיובי״ או ״שלילי״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דוגמה:</a:t>
            </a:r>
            <a:endParaRPr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iw-IL" sz="2200"/>
              <a:t>״לא״ נשמע כמו: או, פה…</a:t>
            </a:r>
            <a:endParaRPr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iw-IL" sz="2200"/>
              <a:t>״כן״ נשמע כמו: הן, בן…</a:t>
            </a:r>
            <a:endParaRPr/>
          </a:p>
        </p:txBody>
      </p:sp>
      <p:pic>
        <p:nvPicPr>
          <p:cNvPr id="729" name="Google Shape;729;p63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63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051764" y="4609414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735;p64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6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איך מדווחים מיקום בקשר?</a:t>
            </a:r>
            <a:endParaRPr/>
          </a:p>
        </p:txBody>
      </p:sp>
      <p:sp>
        <p:nvSpPr>
          <p:cNvPr id="737" name="Google Shape;737;p64"/>
          <p:cNvSpPr/>
          <p:nvPr/>
        </p:nvSpPr>
        <p:spPr>
          <a:xfrm>
            <a:off x="4846320" y="1783080"/>
            <a:ext cx="6492240" cy="841248"/>
          </a:xfrm>
          <a:prstGeom prst="roundRect">
            <a:avLst>
              <a:gd fmla="val 13043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7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✓  "500 מטר דרום-מערבית ליעד כפפה"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מיקום יחסי - מרחק וכיוון מנקודת קוד</a:t>
            </a:r>
            <a:endParaRPr/>
          </a:p>
        </p:txBody>
      </p:sp>
      <p:sp>
        <p:nvSpPr>
          <p:cNvPr id="738" name="Google Shape;738;p64"/>
          <p:cNvSpPr/>
          <p:nvPr/>
        </p:nvSpPr>
        <p:spPr>
          <a:xfrm>
            <a:off x="4846320" y="2743200"/>
            <a:ext cx="6492240" cy="841248"/>
          </a:xfrm>
          <a:prstGeom prst="roundRect">
            <a:avLst>
              <a:gd fmla="val 13043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7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✓  "הגעתי ליעד כפפה"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נקודה מוגדרת במפת השליטה והקוד</a:t>
            </a:r>
            <a:endParaRPr/>
          </a:p>
        </p:txBody>
      </p:sp>
      <p:sp>
        <p:nvSpPr>
          <p:cNvPr id="739" name="Google Shape;739;p64"/>
          <p:cNvSpPr/>
          <p:nvPr/>
        </p:nvSpPr>
        <p:spPr>
          <a:xfrm>
            <a:off x="4846320" y="3703320"/>
            <a:ext cx="6492240" cy="841248"/>
          </a:xfrm>
          <a:prstGeom prst="roundRect">
            <a:avLst>
              <a:gd fmla="val 13043" name="adj"/>
            </a:avLst>
          </a:prstGeom>
          <a:solidFill>
            <a:srgbClr val="FBE9E7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7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✗  "אני בנ״צ 192200 / 741900"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נ״צ גלוי ברשת חושף את הכוח</a:t>
            </a:r>
            <a:endParaRPr/>
          </a:p>
        </p:txBody>
      </p:sp>
      <p:sp>
        <p:nvSpPr>
          <p:cNvPr id="740" name="Google Shape;740;p64"/>
          <p:cNvSpPr/>
          <p:nvPr/>
        </p:nvSpPr>
        <p:spPr>
          <a:xfrm>
            <a:off x="411480" y="1783080"/>
            <a:ext cx="4206240" cy="2788920"/>
          </a:xfrm>
          <a:prstGeom prst="roundRect">
            <a:avLst>
              <a:gd fmla="val 3934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t" bIns="45700" lIns="164575" spcFirstLastPara="1" rIns="1645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מיקום יחסי - מודדים במד״קו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1. מרכז מד הזווית על נקודת הקוד (לא עלינו!)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2. סרגל המרחק מנקודת הקוד אלינו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3. מתרגמים את הזווית לכיוון בשושנת הרוחות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2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החלק במד״קו: 2. סרגל המרחק + 3. מד הזווית</a:t>
            </a:r>
            <a:endParaRPr/>
          </a:p>
        </p:txBody>
      </p:sp>
      <p:pic>
        <p:nvPicPr>
          <p:cNvPr id="741" name="Google Shape;741;p64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051764" y="4609414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65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6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כללי הזהב בקשר</a:t>
            </a:r>
            <a:endParaRPr/>
          </a:p>
        </p:txBody>
      </p:sp>
      <p:sp>
        <p:nvSpPr>
          <p:cNvPr id="748" name="Google Shape;748;p65"/>
          <p:cNvSpPr/>
          <p:nvPr/>
        </p:nvSpPr>
        <p:spPr>
          <a:xfrm>
            <a:off x="8001000" y="2011680"/>
            <a:ext cx="3337560" cy="1463040"/>
          </a:xfrm>
          <a:prstGeom prst="roundRect">
            <a:avLst>
              <a:gd fmla="val 750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65"/>
          <p:cNvSpPr/>
          <p:nvPr/>
        </p:nvSpPr>
        <p:spPr>
          <a:xfrm>
            <a:off x="9372600" y="1783080"/>
            <a:ext cx="548640" cy="54864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1</a:t>
            </a:r>
            <a:endParaRPr/>
          </a:p>
        </p:txBody>
      </p:sp>
      <p:sp>
        <p:nvSpPr>
          <p:cNvPr id="750" name="Google Shape;750;p65"/>
          <p:cNvSpPr txBox="1"/>
          <p:nvPr/>
        </p:nvSpPr>
        <p:spPr>
          <a:xfrm>
            <a:off x="8110727" y="256032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חושבים לפני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מנסחים את ההודעה בראש לפני לחיצה על מתג הדיבור</a:t>
            </a:r>
            <a:endParaRPr/>
          </a:p>
        </p:txBody>
      </p:sp>
      <p:sp>
        <p:nvSpPr>
          <p:cNvPr id="751" name="Google Shape;751;p65"/>
          <p:cNvSpPr/>
          <p:nvPr/>
        </p:nvSpPr>
        <p:spPr>
          <a:xfrm>
            <a:off x="4434840" y="2011680"/>
            <a:ext cx="3337560" cy="1463040"/>
          </a:xfrm>
          <a:prstGeom prst="roundRect">
            <a:avLst>
              <a:gd fmla="val 750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65"/>
          <p:cNvSpPr/>
          <p:nvPr/>
        </p:nvSpPr>
        <p:spPr>
          <a:xfrm>
            <a:off x="5806440" y="1783080"/>
            <a:ext cx="548640" cy="54864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2</a:t>
            </a:r>
            <a:endParaRPr/>
          </a:p>
        </p:txBody>
      </p:sp>
      <p:sp>
        <p:nvSpPr>
          <p:cNvPr id="753" name="Google Shape;753;p65"/>
          <p:cNvSpPr txBox="1"/>
          <p:nvPr/>
        </p:nvSpPr>
        <p:spPr>
          <a:xfrm>
            <a:off x="4544568" y="256032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קצר וענייני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מה, איפה, מתי. בלי מילות נימוס ובלי סיפורים</a:t>
            </a:r>
            <a:endParaRPr/>
          </a:p>
        </p:txBody>
      </p:sp>
      <p:sp>
        <p:nvSpPr>
          <p:cNvPr id="754" name="Google Shape;754;p65"/>
          <p:cNvSpPr/>
          <p:nvPr/>
        </p:nvSpPr>
        <p:spPr>
          <a:xfrm>
            <a:off x="868680" y="2011680"/>
            <a:ext cx="3337560" cy="1463040"/>
          </a:xfrm>
          <a:prstGeom prst="roundRect">
            <a:avLst>
              <a:gd fmla="val 750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65"/>
          <p:cNvSpPr/>
          <p:nvPr/>
        </p:nvSpPr>
        <p:spPr>
          <a:xfrm>
            <a:off x="2240280" y="1783080"/>
            <a:ext cx="548640" cy="54864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3</a:t>
            </a:r>
            <a:endParaRPr/>
          </a:p>
        </p:txBody>
      </p:sp>
      <p:sp>
        <p:nvSpPr>
          <p:cNvPr id="756" name="Google Shape;756;p65"/>
          <p:cNvSpPr txBox="1"/>
          <p:nvPr/>
        </p:nvSpPr>
        <p:spPr>
          <a:xfrm>
            <a:off x="978407" y="256032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דיבור ברור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קצב אחיד, בלי צעקות, המכשיר קרוב לפה</a:t>
            </a:r>
            <a:endParaRPr/>
          </a:p>
        </p:txBody>
      </p:sp>
      <p:sp>
        <p:nvSpPr>
          <p:cNvPr id="757" name="Google Shape;757;p65"/>
          <p:cNvSpPr/>
          <p:nvPr/>
        </p:nvSpPr>
        <p:spPr>
          <a:xfrm>
            <a:off x="8001000" y="3840480"/>
            <a:ext cx="3337560" cy="1463040"/>
          </a:xfrm>
          <a:prstGeom prst="roundRect">
            <a:avLst>
              <a:gd fmla="val 750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65"/>
          <p:cNvSpPr/>
          <p:nvPr/>
        </p:nvSpPr>
        <p:spPr>
          <a:xfrm>
            <a:off x="9372600" y="3611880"/>
            <a:ext cx="548640" cy="54864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4</a:t>
            </a:r>
            <a:endParaRPr/>
          </a:p>
        </p:txBody>
      </p:sp>
      <p:sp>
        <p:nvSpPr>
          <p:cNvPr id="759" name="Google Shape;759;p65"/>
          <p:cNvSpPr txBox="1"/>
          <p:nvPr/>
        </p:nvSpPr>
        <p:spPr>
          <a:xfrm>
            <a:off x="8110727" y="438912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בלי שמות ומיקומים גלויים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אותות קריאה ושמות קוד בלבד</a:t>
            </a:r>
            <a:endParaRPr/>
          </a:p>
        </p:txBody>
      </p:sp>
      <p:sp>
        <p:nvSpPr>
          <p:cNvPr id="760" name="Google Shape;760;p65"/>
          <p:cNvSpPr/>
          <p:nvPr/>
        </p:nvSpPr>
        <p:spPr>
          <a:xfrm>
            <a:off x="4434840" y="3840480"/>
            <a:ext cx="3337560" cy="1463040"/>
          </a:xfrm>
          <a:prstGeom prst="roundRect">
            <a:avLst>
              <a:gd fmla="val 750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65"/>
          <p:cNvSpPr/>
          <p:nvPr/>
        </p:nvSpPr>
        <p:spPr>
          <a:xfrm>
            <a:off x="5806440" y="3611880"/>
            <a:ext cx="548640" cy="54864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5</a:t>
            </a:r>
            <a:endParaRPr/>
          </a:p>
        </p:txBody>
      </p:sp>
      <p:sp>
        <p:nvSpPr>
          <p:cNvPr id="762" name="Google Shape;762;p65"/>
          <p:cNvSpPr txBox="1"/>
          <p:nvPr/>
        </p:nvSpPr>
        <p:spPr>
          <a:xfrm>
            <a:off x="4544568" y="438912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תמיד מאשרים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הודעה בלי "רות" לא נחשבת כמתקבלת</a:t>
            </a:r>
            <a:endParaRPr/>
          </a:p>
        </p:txBody>
      </p:sp>
      <p:sp>
        <p:nvSpPr>
          <p:cNvPr id="763" name="Google Shape;763;p65"/>
          <p:cNvSpPr/>
          <p:nvPr/>
        </p:nvSpPr>
        <p:spPr>
          <a:xfrm>
            <a:off x="868680" y="3840480"/>
            <a:ext cx="3337560" cy="1463040"/>
          </a:xfrm>
          <a:prstGeom prst="roundRect">
            <a:avLst>
              <a:gd fmla="val 750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65"/>
          <p:cNvSpPr/>
          <p:nvPr/>
        </p:nvSpPr>
        <p:spPr>
          <a:xfrm>
            <a:off x="2240280" y="3611880"/>
            <a:ext cx="548640" cy="54864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6</a:t>
            </a:r>
            <a:endParaRPr/>
          </a:p>
        </p:txBody>
      </p:sp>
      <p:sp>
        <p:nvSpPr>
          <p:cNvPr id="765" name="Google Shape;765;p65"/>
          <p:cNvSpPr txBox="1"/>
          <p:nvPr/>
        </p:nvSpPr>
        <p:spPr>
          <a:xfrm>
            <a:off x="978407" y="438912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משמעת רשת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מקשיבים לפני שמשדרים. דחוף - לפי עדיפות</a:t>
            </a:r>
            <a:endParaRPr/>
          </a:p>
        </p:txBody>
      </p:sp>
      <p:pic>
        <p:nvPicPr>
          <p:cNvPr id="766" name="Google Shape;766;p65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130092" y="5546717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66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דווחו לקודקוד איפה אתם</a:t>
            </a:r>
            <a:endParaRPr/>
          </a:p>
        </p:txBody>
      </p:sp>
      <p:pic>
        <p:nvPicPr>
          <p:cNvPr descr="m_p10q.png" id="773" name="Google Shape;773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" y="1876208"/>
            <a:ext cx="4937760" cy="29227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_p10a.png" id="774" name="Google Shape;774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1876208"/>
            <a:ext cx="4937760" cy="2922702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66"/>
          <p:cNvSpPr/>
          <p:nvPr/>
        </p:nvSpPr>
        <p:spPr>
          <a:xfrm>
            <a:off x="8503920" y="1755648"/>
            <a:ext cx="2834640" cy="438912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4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שלב תרגול מעשי - 10</a:t>
            </a:r>
            <a:endParaRPr/>
          </a:p>
        </p:txBody>
      </p:sp>
      <p:sp>
        <p:nvSpPr>
          <p:cNvPr id="776" name="Google Shape;776;p66"/>
          <p:cNvSpPr/>
          <p:nvPr/>
        </p:nvSpPr>
        <p:spPr>
          <a:xfrm>
            <a:off x="5486400" y="2286000"/>
            <a:ext cx="5852160" cy="731520"/>
          </a:xfrm>
          <a:prstGeom prst="roundRect">
            <a:avLst>
              <a:gd fmla="val 15000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אתם בנקודה הכחולה. דווחו מיקום מ"יעד כפפה" (B)</a:t>
            </a:r>
            <a:endParaRPr/>
          </a:p>
        </p:txBody>
      </p:sp>
      <p:sp>
        <p:nvSpPr>
          <p:cNvPr id="777" name="Google Shape;777;p66"/>
          <p:cNvSpPr/>
          <p:nvPr/>
        </p:nvSpPr>
        <p:spPr>
          <a:xfrm>
            <a:off x="5486400" y="1755648"/>
            <a:ext cx="2880360" cy="457200"/>
          </a:xfrm>
          <a:prstGeom prst="roundRect">
            <a:avLst>
              <a:gd fmla="val 24000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1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החלק במד״קו: </a:t>
            </a:r>
            <a:r>
              <a:rPr b="0" i="0" lang="iw-IL" sz="11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2. סרגל המרחק + 3. מד הזווית</a:t>
            </a:r>
            <a:endParaRPr/>
          </a:p>
        </p:txBody>
      </p:sp>
      <p:sp>
        <p:nvSpPr>
          <p:cNvPr id="778" name="Google Shape;778;p66"/>
          <p:cNvSpPr/>
          <p:nvPr/>
        </p:nvSpPr>
        <p:spPr>
          <a:xfrm>
            <a:off x="10972800" y="3154680"/>
            <a:ext cx="365760" cy="36576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1</a:t>
            </a:r>
            <a:endParaRPr/>
          </a:p>
        </p:txBody>
      </p:sp>
      <p:sp>
        <p:nvSpPr>
          <p:cNvPr id="779" name="Google Shape;779;p66"/>
          <p:cNvSpPr txBox="1"/>
          <p:nvPr/>
        </p:nvSpPr>
        <p:spPr>
          <a:xfrm>
            <a:off x="5486400" y="3136392"/>
            <a:ext cx="5376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מדדו מרחק מיעד כפפה אליכם</a:t>
            </a:r>
            <a:endParaRPr/>
          </a:p>
        </p:txBody>
      </p:sp>
      <p:sp>
        <p:nvSpPr>
          <p:cNvPr id="780" name="Google Shape;780;p66"/>
          <p:cNvSpPr/>
          <p:nvPr/>
        </p:nvSpPr>
        <p:spPr>
          <a:xfrm>
            <a:off x="10972800" y="3611880"/>
            <a:ext cx="365760" cy="36576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2</a:t>
            </a:r>
            <a:endParaRPr/>
          </a:p>
        </p:txBody>
      </p:sp>
      <p:sp>
        <p:nvSpPr>
          <p:cNvPr id="781" name="Google Shape;781;p66"/>
          <p:cNvSpPr txBox="1"/>
          <p:nvPr/>
        </p:nvSpPr>
        <p:spPr>
          <a:xfrm>
            <a:off x="5486400" y="3593592"/>
            <a:ext cx="5376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מדדו כיוון מיעד כפפה אליכם</a:t>
            </a:r>
            <a:endParaRPr/>
          </a:p>
        </p:txBody>
      </p:sp>
      <p:sp>
        <p:nvSpPr>
          <p:cNvPr id="782" name="Google Shape;782;p66"/>
          <p:cNvSpPr/>
          <p:nvPr/>
        </p:nvSpPr>
        <p:spPr>
          <a:xfrm>
            <a:off x="10972800" y="4069080"/>
            <a:ext cx="365760" cy="36576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3</a:t>
            </a:r>
            <a:endParaRPr/>
          </a:p>
        </p:txBody>
      </p:sp>
      <p:sp>
        <p:nvSpPr>
          <p:cNvPr id="783" name="Google Shape;783;p66"/>
          <p:cNvSpPr txBox="1"/>
          <p:nvPr/>
        </p:nvSpPr>
        <p:spPr>
          <a:xfrm>
            <a:off x="5486400" y="4050792"/>
            <a:ext cx="5376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כתבו דיווח בנדב״ר - בלי נ״צ גלוי</a:t>
            </a:r>
            <a:endParaRPr/>
          </a:p>
        </p:txBody>
      </p:sp>
      <p:sp>
        <p:nvSpPr>
          <p:cNvPr id="784" name="Google Shape;784;p66"/>
          <p:cNvSpPr/>
          <p:nvPr/>
        </p:nvSpPr>
        <p:spPr>
          <a:xfrm>
            <a:off x="320040" y="4956048"/>
            <a:ext cx="4937760" cy="548640"/>
          </a:xfrm>
          <a:prstGeom prst="roundRect">
            <a:avLst>
              <a:gd fmla="val 20000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7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500 מטר דרום-מערבית ליעד כפפה (217°)</a:t>
            </a:r>
            <a:endParaRPr/>
          </a:p>
        </p:txBody>
      </p:sp>
      <p:sp>
        <p:nvSpPr>
          <p:cNvPr id="785" name="Google Shape;785;p66"/>
          <p:cNvSpPr/>
          <p:nvPr/>
        </p:nvSpPr>
        <p:spPr>
          <a:xfrm>
            <a:off x="320040" y="5559552"/>
            <a:ext cx="4937760" cy="585216"/>
          </a:xfrm>
          <a:prstGeom prst="roundRect">
            <a:avLst>
              <a:gd fmla="val 1875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1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"קודקוד, כאן 2, עבור" · "כאן 2, נמצא 500 מטר דרום-מערבית ליעד כפפה, עבור" · "כאן קודקוד, רות, סוף"</a:t>
            </a:r>
            <a:endParaRPr/>
          </a:p>
        </p:txBody>
      </p:sp>
      <p:pic>
        <p:nvPicPr>
          <p:cNvPr id="786" name="Google Shape;786;p66"/>
          <p:cNvPicPr preferRelativeResize="0"/>
          <p:nvPr/>
        </p:nvPicPr>
        <p:blipFill rotWithShape="1">
          <a:blip r:embed="rId6">
            <a:alphaModFix amt="60000"/>
          </a:blip>
          <a:srcRect b="0" l="0" r="0" t="0"/>
          <a:stretch/>
        </p:blipFill>
        <p:spPr>
          <a:xfrm>
            <a:off x="9051764" y="4609414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1" name="Google Shape;791;p67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6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רצף העבודה: מהמפה לשטח</a:t>
            </a:r>
            <a:endParaRPr/>
          </a:p>
        </p:txBody>
      </p:sp>
      <p:sp>
        <p:nvSpPr>
          <p:cNvPr id="793" name="Google Shape;793;p67"/>
          <p:cNvSpPr/>
          <p:nvPr/>
        </p:nvSpPr>
        <p:spPr>
          <a:xfrm rot="10800000">
            <a:off x="9555480" y="2103120"/>
            <a:ext cx="1783080" cy="1005840"/>
          </a:xfrm>
          <a:prstGeom prst="homePlate">
            <a:avLst>
              <a:gd fmla="val 50000" name="adj"/>
            </a:avLst>
          </a:prstGeom>
          <a:solidFill>
            <a:srgbClr val="2E5E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67"/>
          <p:cNvSpPr txBox="1"/>
          <p:nvPr/>
        </p:nvSpPr>
        <p:spPr>
          <a:xfrm>
            <a:off x="9784080" y="224028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2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01</a:t>
            </a:r>
            <a:endParaRPr/>
          </a:p>
        </p:txBody>
      </p:sp>
      <p:sp>
        <p:nvSpPr>
          <p:cNvPr id="795" name="Google Shape;795;p67"/>
          <p:cNvSpPr txBox="1"/>
          <p:nvPr/>
        </p:nvSpPr>
        <p:spPr>
          <a:xfrm>
            <a:off x="9555480" y="3200400"/>
            <a:ext cx="1783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מד״קו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נ״צ מדויק למוצא וליעד</a:t>
            </a:r>
            <a:endParaRPr/>
          </a:p>
        </p:txBody>
      </p:sp>
      <p:sp>
        <p:nvSpPr>
          <p:cNvPr id="796" name="Google Shape;796;p67"/>
          <p:cNvSpPr/>
          <p:nvPr/>
        </p:nvSpPr>
        <p:spPr>
          <a:xfrm rot="10800000">
            <a:off x="7744967" y="2103120"/>
            <a:ext cx="1783080" cy="1005840"/>
          </a:xfrm>
          <a:prstGeom prst="chevron">
            <a:avLst>
              <a:gd fmla="val 50000" name="adj"/>
            </a:avLst>
          </a:prstGeom>
          <a:solidFill>
            <a:srgbClr val="73985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67"/>
          <p:cNvSpPr txBox="1"/>
          <p:nvPr/>
        </p:nvSpPr>
        <p:spPr>
          <a:xfrm>
            <a:off x="7973567" y="224028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2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02</a:t>
            </a:r>
            <a:endParaRPr/>
          </a:p>
        </p:txBody>
      </p:sp>
      <p:sp>
        <p:nvSpPr>
          <p:cNvPr id="798" name="Google Shape;798;p67"/>
          <p:cNvSpPr txBox="1"/>
          <p:nvPr/>
        </p:nvSpPr>
        <p:spPr>
          <a:xfrm>
            <a:off x="7744967" y="3200400"/>
            <a:ext cx="1783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שושנת הרוחות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הכיוון הכללי - לבדיקת שפיות</a:t>
            </a:r>
            <a:endParaRPr/>
          </a:p>
        </p:txBody>
      </p:sp>
      <p:sp>
        <p:nvSpPr>
          <p:cNvPr id="799" name="Google Shape;799;p67"/>
          <p:cNvSpPr/>
          <p:nvPr/>
        </p:nvSpPr>
        <p:spPr>
          <a:xfrm rot="10800000">
            <a:off x="5934455" y="2103120"/>
            <a:ext cx="1783080" cy="1005840"/>
          </a:xfrm>
          <a:prstGeom prst="chevron">
            <a:avLst>
              <a:gd fmla="val 50000" name="adj"/>
            </a:avLst>
          </a:prstGeom>
          <a:solidFill>
            <a:srgbClr val="2E5E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67"/>
          <p:cNvSpPr txBox="1"/>
          <p:nvPr/>
        </p:nvSpPr>
        <p:spPr>
          <a:xfrm>
            <a:off x="6163055" y="224028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2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03</a:t>
            </a:r>
            <a:endParaRPr/>
          </a:p>
        </p:txBody>
      </p:sp>
      <p:sp>
        <p:nvSpPr>
          <p:cNvPr id="801" name="Google Shape;801;p67"/>
          <p:cNvSpPr txBox="1"/>
          <p:nvPr/>
        </p:nvSpPr>
        <p:spPr>
          <a:xfrm>
            <a:off x="5934455" y="3200400"/>
            <a:ext cx="1783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מרחק אווירי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כמה רחוק, וכמה זמן</a:t>
            </a:r>
            <a:endParaRPr/>
          </a:p>
        </p:txBody>
      </p:sp>
      <p:sp>
        <p:nvSpPr>
          <p:cNvPr id="802" name="Google Shape;802;p67"/>
          <p:cNvSpPr/>
          <p:nvPr/>
        </p:nvSpPr>
        <p:spPr>
          <a:xfrm rot="10800000">
            <a:off x="4123944" y="2103120"/>
            <a:ext cx="1783080" cy="1005840"/>
          </a:xfrm>
          <a:prstGeom prst="chevron">
            <a:avLst>
              <a:gd fmla="val 50000" name="adj"/>
            </a:avLst>
          </a:prstGeom>
          <a:solidFill>
            <a:srgbClr val="73985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67"/>
          <p:cNvSpPr txBox="1"/>
          <p:nvPr/>
        </p:nvSpPr>
        <p:spPr>
          <a:xfrm>
            <a:off x="4352544" y="224028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2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04</a:t>
            </a:r>
            <a:endParaRPr/>
          </a:p>
        </p:txBody>
      </p:sp>
      <p:sp>
        <p:nvSpPr>
          <p:cNvPr id="804" name="Google Shape;804;p67"/>
          <p:cNvSpPr txBox="1"/>
          <p:nvPr/>
        </p:nvSpPr>
        <p:spPr>
          <a:xfrm>
            <a:off x="4123944" y="3200400"/>
            <a:ext cx="1783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אזימוט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הכיוון המדויק במפה</a:t>
            </a:r>
            <a:endParaRPr/>
          </a:p>
        </p:txBody>
      </p:sp>
      <p:sp>
        <p:nvSpPr>
          <p:cNvPr id="805" name="Google Shape;805;p67"/>
          <p:cNvSpPr/>
          <p:nvPr/>
        </p:nvSpPr>
        <p:spPr>
          <a:xfrm rot="10800000">
            <a:off x="2313431" y="2103120"/>
            <a:ext cx="1783080" cy="1005840"/>
          </a:xfrm>
          <a:prstGeom prst="chevron">
            <a:avLst>
              <a:gd fmla="val 50000" name="adj"/>
            </a:avLst>
          </a:prstGeom>
          <a:solidFill>
            <a:srgbClr val="2E5E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67"/>
          <p:cNvSpPr txBox="1"/>
          <p:nvPr/>
        </p:nvSpPr>
        <p:spPr>
          <a:xfrm>
            <a:off x="2542031" y="224028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2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05</a:t>
            </a:r>
            <a:endParaRPr/>
          </a:p>
        </p:txBody>
      </p:sp>
      <p:sp>
        <p:nvSpPr>
          <p:cNvPr id="807" name="Google Shape;807;p67"/>
          <p:cNvSpPr txBox="1"/>
          <p:nvPr/>
        </p:nvSpPr>
        <p:spPr>
          <a:xfrm>
            <a:off x="2313431" y="3200400"/>
            <a:ext cx="1783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מצפן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תיקון סטייה, קליקים והליכה</a:t>
            </a:r>
            <a:endParaRPr/>
          </a:p>
        </p:txBody>
      </p:sp>
      <p:sp>
        <p:nvSpPr>
          <p:cNvPr id="808" name="Google Shape;808;p67"/>
          <p:cNvSpPr/>
          <p:nvPr/>
        </p:nvSpPr>
        <p:spPr>
          <a:xfrm rot="10800000">
            <a:off x="502919" y="2103120"/>
            <a:ext cx="1783080" cy="1005840"/>
          </a:xfrm>
          <a:prstGeom prst="chevron">
            <a:avLst>
              <a:gd fmla="val 50000" name="adj"/>
            </a:avLst>
          </a:prstGeom>
          <a:solidFill>
            <a:srgbClr val="73985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67"/>
          <p:cNvSpPr txBox="1"/>
          <p:nvPr/>
        </p:nvSpPr>
        <p:spPr>
          <a:xfrm>
            <a:off x="731519" y="224028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2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06</a:t>
            </a:r>
            <a:endParaRPr/>
          </a:p>
        </p:txBody>
      </p:sp>
      <p:sp>
        <p:nvSpPr>
          <p:cNvPr id="810" name="Google Shape;810;p67"/>
          <p:cNvSpPr txBox="1"/>
          <p:nvPr/>
        </p:nvSpPr>
        <p:spPr>
          <a:xfrm>
            <a:off x="502919" y="3200400"/>
            <a:ext cx="1783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נדב״ר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דיווח קצר ובטוח</a:t>
            </a:r>
            <a:endParaRPr/>
          </a:p>
        </p:txBody>
      </p:sp>
      <p:sp>
        <p:nvSpPr>
          <p:cNvPr id="811" name="Google Shape;811;p67"/>
          <p:cNvSpPr/>
          <p:nvPr/>
        </p:nvSpPr>
        <p:spPr>
          <a:xfrm>
            <a:off x="868680" y="4663440"/>
            <a:ext cx="8961120" cy="594360"/>
          </a:xfrm>
          <a:prstGeom prst="roundRect">
            <a:avLst>
              <a:gd fmla="val 50000" name="adj"/>
            </a:avLst>
          </a:prstGeom>
          <a:solidFill>
            <a:srgbClr val="8B5A2B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4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ובכל שלב - קריאת התבליט: הציר נבחר לפי שלוחות, אוכפים ותלילות, לא רק לפי קו ישר</a:t>
            </a:r>
            <a:endParaRPr/>
          </a:p>
        </p:txBody>
      </p:sp>
      <p:pic>
        <p:nvPicPr>
          <p:cNvPr id="812" name="Google Shape;812;p67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130092" y="5546717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68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6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תרגיל מסכם: מ-C אל A בלילה</a:t>
            </a:r>
            <a:endParaRPr/>
          </a:p>
        </p:txBody>
      </p:sp>
      <p:pic>
        <p:nvPicPr>
          <p:cNvPr descr="m_p11q.png" id="819" name="Google Shape;819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591" y="1783080"/>
            <a:ext cx="4480016" cy="26517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_p11a.png" id="820" name="Google Shape;820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591" y="1783080"/>
            <a:ext cx="4480016" cy="2651759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68"/>
          <p:cNvSpPr/>
          <p:nvPr/>
        </p:nvSpPr>
        <p:spPr>
          <a:xfrm>
            <a:off x="8503920" y="1755648"/>
            <a:ext cx="2834640" cy="438912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4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שלב תרגול מעשי - 11</a:t>
            </a:r>
            <a:endParaRPr/>
          </a:p>
        </p:txBody>
      </p:sp>
      <p:sp>
        <p:nvSpPr>
          <p:cNvPr id="822" name="Google Shape;822;p68"/>
          <p:cNvSpPr/>
          <p:nvPr/>
        </p:nvSpPr>
        <p:spPr>
          <a:xfrm>
            <a:off x="7863840" y="2331720"/>
            <a:ext cx="3474720" cy="420624"/>
          </a:xfrm>
          <a:prstGeom prst="roundRect">
            <a:avLst>
              <a:gd fmla="val 26086" name="adj"/>
            </a:avLst>
          </a:prstGeom>
          <a:solidFill>
            <a:srgbClr val="EEF4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נ״צ של C ושל A  </a:t>
            </a:r>
            <a:r>
              <a:rPr b="0" i="0" lang="iw-IL" sz="10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1. סרגל הקואורדינטות</a:t>
            </a:r>
            <a:endParaRPr/>
          </a:p>
        </p:txBody>
      </p:sp>
      <p:sp>
        <p:nvSpPr>
          <p:cNvPr id="823" name="Google Shape;823;p68"/>
          <p:cNvSpPr/>
          <p:nvPr/>
        </p:nvSpPr>
        <p:spPr>
          <a:xfrm>
            <a:off x="4983480" y="2331720"/>
            <a:ext cx="2788920" cy="420624"/>
          </a:xfrm>
          <a:prstGeom prst="roundRect">
            <a:avLst>
              <a:gd fmla="val 26086" name="adj"/>
            </a:avLst>
          </a:prstGeom>
          <a:solidFill>
            <a:srgbClr val="C8D8B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36575" spcFirstLastPara="1" rIns="3657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2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C = 193000/740900 · A = 189800/740100</a:t>
            </a:r>
            <a:endParaRPr/>
          </a:p>
        </p:txBody>
      </p:sp>
      <p:sp>
        <p:nvSpPr>
          <p:cNvPr id="824" name="Google Shape;824;p68"/>
          <p:cNvSpPr/>
          <p:nvPr/>
        </p:nvSpPr>
        <p:spPr>
          <a:xfrm>
            <a:off x="7863840" y="2807208"/>
            <a:ext cx="3474720" cy="420624"/>
          </a:xfrm>
          <a:prstGeom prst="roundRect">
            <a:avLst>
              <a:gd fmla="val 26086" name="adj"/>
            </a:avLst>
          </a:prstGeom>
          <a:solidFill>
            <a:srgbClr val="EEF4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כיוון כללי (8 כיוונים)  </a:t>
            </a:r>
            <a:r>
              <a:rPr b="0" i="0" lang="iw-IL" sz="10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3. מד הזווית</a:t>
            </a:r>
            <a:endParaRPr/>
          </a:p>
        </p:txBody>
      </p:sp>
      <p:sp>
        <p:nvSpPr>
          <p:cNvPr id="825" name="Google Shape;825;p68"/>
          <p:cNvSpPr/>
          <p:nvPr/>
        </p:nvSpPr>
        <p:spPr>
          <a:xfrm>
            <a:off x="4983480" y="2807208"/>
            <a:ext cx="2788920" cy="420624"/>
          </a:xfrm>
          <a:prstGeom prst="roundRect">
            <a:avLst>
              <a:gd fmla="val 26086" name="adj"/>
            </a:avLst>
          </a:prstGeom>
          <a:solidFill>
            <a:srgbClr val="C8D8B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36575" spcFirstLastPara="1" rIns="3657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2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מערב (קצת דרומה)</a:t>
            </a:r>
            <a:endParaRPr/>
          </a:p>
        </p:txBody>
      </p:sp>
      <p:sp>
        <p:nvSpPr>
          <p:cNvPr id="826" name="Google Shape;826;p68"/>
          <p:cNvSpPr/>
          <p:nvPr/>
        </p:nvSpPr>
        <p:spPr>
          <a:xfrm>
            <a:off x="7863840" y="3282696"/>
            <a:ext cx="3474720" cy="420624"/>
          </a:xfrm>
          <a:prstGeom prst="roundRect">
            <a:avLst>
              <a:gd fmla="val 26086" name="adj"/>
            </a:avLst>
          </a:prstGeom>
          <a:solidFill>
            <a:srgbClr val="EEF4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מרחק  </a:t>
            </a:r>
            <a:r>
              <a:rPr b="0" i="0" lang="iw-IL" sz="10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2. סרגל המרחק</a:t>
            </a:r>
            <a:endParaRPr/>
          </a:p>
        </p:txBody>
      </p:sp>
      <p:sp>
        <p:nvSpPr>
          <p:cNvPr id="827" name="Google Shape;827;p68"/>
          <p:cNvSpPr/>
          <p:nvPr/>
        </p:nvSpPr>
        <p:spPr>
          <a:xfrm>
            <a:off x="4983480" y="3282696"/>
            <a:ext cx="2788920" cy="420624"/>
          </a:xfrm>
          <a:prstGeom prst="roundRect">
            <a:avLst>
              <a:gd fmla="val 26086" name="adj"/>
            </a:avLst>
          </a:prstGeom>
          <a:solidFill>
            <a:srgbClr val="C8D8B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36575" spcFirstLastPara="1" rIns="3657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2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≈ 3,300 מ' · 6.6 ס״מ במפה</a:t>
            </a:r>
            <a:endParaRPr/>
          </a:p>
        </p:txBody>
      </p:sp>
      <p:sp>
        <p:nvSpPr>
          <p:cNvPr id="828" name="Google Shape;828;p68"/>
          <p:cNvSpPr/>
          <p:nvPr/>
        </p:nvSpPr>
        <p:spPr>
          <a:xfrm>
            <a:off x="7863840" y="3758183"/>
            <a:ext cx="3474720" cy="420624"/>
          </a:xfrm>
          <a:prstGeom prst="roundRect">
            <a:avLst>
              <a:gd fmla="val 26086" name="adj"/>
            </a:avLst>
          </a:prstGeom>
          <a:solidFill>
            <a:srgbClr val="EEF4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אזימוט רשת  </a:t>
            </a:r>
            <a:r>
              <a:rPr b="0" i="0" lang="iw-IL" sz="10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3+4. מד הזווית והחוט</a:t>
            </a:r>
            <a:endParaRPr/>
          </a:p>
        </p:txBody>
      </p:sp>
      <p:sp>
        <p:nvSpPr>
          <p:cNvPr id="829" name="Google Shape;829;p68"/>
          <p:cNvSpPr/>
          <p:nvPr/>
        </p:nvSpPr>
        <p:spPr>
          <a:xfrm>
            <a:off x="4983480" y="3758183"/>
            <a:ext cx="2788920" cy="420624"/>
          </a:xfrm>
          <a:prstGeom prst="roundRect">
            <a:avLst>
              <a:gd fmla="val 26086" name="adj"/>
            </a:avLst>
          </a:prstGeom>
          <a:solidFill>
            <a:srgbClr val="C8D8B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36575" spcFirstLastPara="1" rIns="3657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2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≈ 256° · חוזר 76°</a:t>
            </a:r>
            <a:endParaRPr/>
          </a:p>
        </p:txBody>
      </p:sp>
      <p:sp>
        <p:nvSpPr>
          <p:cNvPr id="830" name="Google Shape;830;p68"/>
          <p:cNvSpPr/>
          <p:nvPr/>
        </p:nvSpPr>
        <p:spPr>
          <a:xfrm>
            <a:off x="7863840" y="4233672"/>
            <a:ext cx="3474720" cy="420624"/>
          </a:xfrm>
          <a:prstGeom prst="roundRect">
            <a:avLst>
              <a:gd fmla="val 26086" name="adj"/>
            </a:avLst>
          </a:prstGeom>
          <a:solidFill>
            <a:srgbClr val="EEF4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מצפן (סטייה 5° מזרחה)  </a:t>
            </a:r>
            <a:r>
              <a:rPr b="0" i="0" lang="iw-IL" sz="10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מצפן</a:t>
            </a:r>
            <a:endParaRPr/>
          </a:p>
        </p:txBody>
      </p:sp>
      <p:sp>
        <p:nvSpPr>
          <p:cNvPr id="831" name="Google Shape;831;p68"/>
          <p:cNvSpPr/>
          <p:nvPr/>
        </p:nvSpPr>
        <p:spPr>
          <a:xfrm>
            <a:off x="4983480" y="4233672"/>
            <a:ext cx="2788920" cy="420624"/>
          </a:xfrm>
          <a:prstGeom prst="roundRect">
            <a:avLst>
              <a:gd fmla="val 26086" name="adj"/>
            </a:avLst>
          </a:prstGeom>
          <a:solidFill>
            <a:srgbClr val="C8D8B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36575" spcFirstLastPara="1" rIns="3657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2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251° ← 84 קליקים</a:t>
            </a:r>
            <a:endParaRPr/>
          </a:p>
        </p:txBody>
      </p:sp>
      <p:sp>
        <p:nvSpPr>
          <p:cNvPr id="832" name="Google Shape;832;p68"/>
          <p:cNvSpPr/>
          <p:nvPr/>
        </p:nvSpPr>
        <p:spPr>
          <a:xfrm>
            <a:off x="7863840" y="4709160"/>
            <a:ext cx="3474720" cy="420624"/>
          </a:xfrm>
          <a:prstGeom prst="roundRect">
            <a:avLst>
              <a:gd fmla="val 26086" name="adj"/>
            </a:avLst>
          </a:prstGeom>
          <a:solidFill>
            <a:srgbClr val="EEF4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זמן (קצב 4 קמ״ש)  </a:t>
            </a:r>
            <a:r>
              <a:rPr b="0" i="0" lang="iw-IL" sz="10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חישוב</a:t>
            </a:r>
            <a:endParaRPr/>
          </a:p>
        </p:txBody>
      </p:sp>
      <p:sp>
        <p:nvSpPr>
          <p:cNvPr id="833" name="Google Shape;833;p68"/>
          <p:cNvSpPr/>
          <p:nvPr/>
        </p:nvSpPr>
        <p:spPr>
          <a:xfrm>
            <a:off x="4983480" y="4709160"/>
            <a:ext cx="2788920" cy="420624"/>
          </a:xfrm>
          <a:prstGeom prst="roundRect">
            <a:avLst>
              <a:gd fmla="val 26086" name="adj"/>
            </a:avLst>
          </a:prstGeom>
          <a:solidFill>
            <a:srgbClr val="C8D8B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36575" spcFirstLastPara="1" rIns="3657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2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≈ 50 דקות</a:t>
            </a:r>
            <a:endParaRPr/>
          </a:p>
        </p:txBody>
      </p:sp>
      <p:sp>
        <p:nvSpPr>
          <p:cNvPr id="834" name="Google Shape;834;p68"/>
          <p:cNvSpPr/>
          <p:nvPr/>
        </p:nvSpPr>
        <p:spPr>
          <a:xfrm>
            <a:off x="274320" y="5257800"/>
            <a:ext cx="8503920" cy="658368"/>
          </a:xfrm>
          <a:prstGeom prst="roundRect">
            <a:avLst>
              <a:gd fmla="val 16666" name="adj"/>
            </a:avLst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"כאן 2, יוצא מנקודה C מערבה לנקודה A, 3.3 ארוך, הגעה בעוד 50 קטנות, עבור"</a:t>
            </a:r>
            <a:endParaRPr/>
          </a:p>
        </p:txBody>
      </p:sp>
      <p:pic>
        <p:nvPicPr>
          <p:cNvPr id="835" name="Google Shape;835;p68"/>
          <p:cNvPicPr preferRelativeResize="0"/>
          <p:nvPr/>
        </p:nvPicPr>
        <p:blipFill rotWithShape="1">
          <a:blip r:embed="rId6">
            <a:alphaModFix amt="60000"/>
          </a:blip>
          <a:srcRect b="0" l="0" r="0" t="0"/>
          <a:stretch/>
        </p:blipFill>
        <p:spPr>
          <a:xfrm>
            <a:off x="8843694" y="5199568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0" name="Google Shape;840;p69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6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מה למדנו היום?</a:t>
            </a:r>
            <a:endParaRPr/>
          </a:p>
        </p:txBody>
      </p:sp>
      <p:sp>
        <p:nvSpPr>
          <p:cNvPr id="842" name="Google Shape;842;p69"/>
          <p:cNvSpPr/>
          <p:nvPr/>
        </p:nvSpPr>
        <p:spPr>
          <a:xfrm>
            <a:off x="8001000" y="1783080"/>
            <a:ext cx="3337560" cy="2834640"/>
          </a:xfrm>
          <a:prstGeom prst="roundRect">
            <a:avLst>
              <a:gd fmla="val 387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69"/>
          <p:cNvSpPr/>
          <p:nvPr/>
        </p:nvSpPr>
        <p:spPr>
          <a:xfrm>
            <a:off x="8503920" y="1874519"/>
            <a:ext cx="2331720" cy="548640"/>
          </a:xfrm>
          <a:prstGeom prst="roundRect">
            <a:avLst>
              <a:gd fmla="val 50000" name="adj"/>
            </a:avLst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0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לתכנן</a:t>
            </a:r>
            <a:endParaRPr/>
          </a:p>
        </p:txBody>
      </p:sp>
      <p:sp>
        <p:nvSpPr>
          <p:cNvPr id="844" name="Google Shape;844;p69"/>
          <p:cNvSpPr txBox="1"/>
          <p:nvPr/>
        </p:nvSpPr>
        <p:spPr>
          <a:xfrm>
            <a:off x="8110727" y="2514600"/>
            <a:ext cx="310896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מפה ומדידות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מד״קו: נ״צ מדויק, מרחק ואזימוט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שושנת הרוחות: שפת כיוונים ובדיקת שפיות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מרחק אווירי: הבסיס לזמן</a:t>
            </a:r>
            <a:endParaRPr/>
          </a:p>
        </p:txBody>
      </p:sp>
      <p:sp>
        <p:nvSpPr>
          <p:cNvPr id="845" name="Google Shape;845;p69"/>
          <p:cNvSpPr/>
          <p:nvPr/>
        </p:nvSpPr>
        <p:spPr>
          <a:xfrm>
            <a:off x="4434840" y="1783080"/>
            <a:ext cx="3337560" cy="2834640"/>
          </a:xfrm>
          <a:prstGeom prst="roundRect">
            <a:avLst>
              <a:gd fmla="val 387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69"/>
          <p:cNvSpPr/>
          <p:nvPr/>
        </p:nvSpPr>
        <p:spPr>
          <a:xfrm>
            <a:off x="4937759" y="1874519"/>
            <a:ext cx="2331720" cy="548640"/>
          </a:xfrm>
          <a:prstGeom prst="roundRect">
            <a:avLst>
              <a:gd fmla="val 50000" name="adj"/>
            </a:avLst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0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לבצע</a:t>
            </a:r>
            <a:endParaRPr/>
          </a:p>
        </p:txBody>
      </p:sp>
      <p:sp>
        <p:nvSpPr>
          <p:cNvPr id="847" name="Google Shape;847;p69"/>
          <p:cNvSpPr txBox="1"/>
          <p:nvPr/>
        </p:nvSpPr>
        <p:spPr>
          <a:xfrm>
            <a:off x="4544568" y="2514600"/>
            <a:ext cx="310896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מצפן ומרחקים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תיקון סטייה: ממפה למצפן −5°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קליקים בלילה והצפנת מפה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מרחק מברזל לפני מדידה</a:t>
            </a:r>
            <a:endParaRPr/>
          </a:p>
        </p:txBody>
      </p:sp>
      <p:sp>
        <p:nvSpPr>
          <p:cNvPr id="848" name="Google Shape;848;p69"/>
          <p:cNvSpPr/>
          <p:nvPr/>
        </p:nvSpPr>
        <p:spPr>
          <a:xfrm>
            <a:off x="868680" y="1783080"/>
            <a:ext cx="3337560" cy="2834640"/>
          </a:xfrm>
          <a:prstGeom prst="roundRect">
            <a:avLst>
              <a:gd fmla="val 387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69"/>
          <p:cNvSpPr/>
          <p:nvPr/>
        </p:nvSpPr>
        <p:spPr>
          <a:xfrm>
            <a:off x="1371600" y="1874519"/>
            <a:ext cx="2331720" cy="548640"/>
          </a:xfrm>
          <a:prstGeom prst="roundRect">
            <a:avLst>
              <a:gd fmla="val 50000" name="adj"/>
            </a:avLst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0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לדווח</a:t>
            </a:r>
            <a:endParaRPr/>
          </a:p>
        </p:txBody>
      </p:sp>
      <p:sp>
        <p:nvSpPr>
          <p:cNvPr id="850" name="Google Shape;850;p69"/>
          <p:cNvSpPr txBox="1"/>
          <p:nvPr/>
        </p:nvSpPr>
        <p:spPr>
          <a:xfrm>
            <a:off x="978407" y="2514600"/>
            <a:ext cx="310896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נדב״ר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קצר, ברור, בטוח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כאן, עבור, רות, סוף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בלי נ״צ גלוי - מיקום יחסי לנקודת קוד</a:t>
            </a:r>
            <a:endParaRPr/>
          </a:p>
        </p:txBody>
      </p:sp>
      <p:sp>
        <p:nvSpPr>
          <p:cNvPr id="851" name="Google Shape;851;p69"/>
          <p:cNvSpPr/>
          <p:nvPr/>
        </p:nvSpPr>
        <p:spPr>
          <a:xfrm>
            <a:off x="868680" y="4800600"/>
            <a:ext cx="10469880" cy="594360"/>
          </a:xfrm>
          <a:prstGeom prst="roundRect">
            <a:avLst>
              <a:gd fmla="val 18461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הקצין שמחבר את שלושתם מוביל את הכוח בבטחה, בחשאיות ובזמן - ומגיע ליעד כשיר למשימה</a:t>
            </a:r>
            <a:endParaRPr/>
          </a:p>
        </p:txBody>
      </p:sp>
      <p:sp>
        <p:nvSpPr>
          <p:cNvPr id="852" name="Google Shape;852;p69"/>
          <p:cNvSpPr txBox="1"/>
          <p:nvPr/>
        </p:nvSpPr>
        <p:spPr>
          <a:xfrm>
            <a:off x="868680" y="54406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שאלות? </a:t>
            </a:r>
            <a:r>
              <a:rPr b="0" i="0" lang="iw-IL" sz="14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השיעור הבא: בונים ציר ניווט · תודה רבה</a:t>
            </a:r>
            <a:endParaRPr/>
          </a:p>
        </p:txBody>
      </p:sp>
      <p:pic>
        <p:nvPicPr>
          <p:cNvPr id="853" name="Google Shape;853;p69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130092" y="5546717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70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7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מקורות</a:t>
            </a:r>
            <a:endParaRPr/>
          </a:p>
        </p:txBody>
      </p:sp>
      <p:sp>
        <p:nvSpPr>
          <p:cNvPr id="860" name="Google Shape;860;p70"/>
          <p:cNvSpPr/>
          <p:nvPr/>
        </p:nvSpPr>
        <p:spPr>
          <a:xfrm>
            <a:off x="868680" y="1783080"/>
            <a:ext cx="10469880" cy="3017520"/>
          </a:xfrm>
          <a:prstGeom prst="roundRect">
            <a:avLst>
              <a:gd fmla="val 3636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t" bIns="45700" lIns="228600" spcFirstLastPara="1" rIns="22860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מפת התרגול (נקודות A–D) ושרטוטי השיעור - נוצרו לשיעור זה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סטייה מגנטית בישראל (~5° מזרחה) - magnetic-declination.com, לפי WMM2025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מרחקי בטיחות מהפרעות למצפן - FM 3-25.26, Map Reading and Land Navigation (U.S. Army)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נדב״ר - רוביק רוזנטל, "הקודקוד יגיע עוד חמש קטנות", בלוג רב-מילים (2015)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עבודה עם מד״קו - hbasade.com</a:t>
            </a:r>
            <a:endParaRPr/>
          </a:p>
        </p:txBody>
      </p:sp>
      <p:sp>
        <p:nvSpPr>
          <p:cNvPr id="861" name="Google Shape;861;p70"/>
          <p:cNvSpPr/>
          <p:nvPr/>
        </p:nvSpPr>
        <p:spPr>
          <a:xfrm>
            <a:off x="868680" y="4983480"/>
            <a:ext cx="10469880" cy="50292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יש לאמת ערכים מקומיים (סטייה מגנטית, אותות קריאה, קצב תנועה) מול המפה ונוהלי היחידה</a:t>
            </a:r>
            <a:endParaRPr/>
          </a:p>
        </p:txBody>
      </p:sp>
      <p:pic>
        <p:nvPicPr>
          <p:cNvPr id="862" name="Google Shape;862;p70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130092" y="5546717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קקס יום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