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6858000" cy="9144000"/>
  <p:embeddedFontLst>
    <p:embeddedFont>
      <p:font typeface="Assistant"/>
      <p:regular r:id="rId39"/>
      <p:bold r:id="rId40"/>
    </p:embeddedFont>
    <p:embeddedFont>
      <p:font typeface="Heebo ExtraBold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DE0D12-6C02-4672-813E-AD2D68DF2B6B}">
  <a:tblStyle styleId="{99DE0D12-6C02-4672-813E-AD2D68DF2B6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ssistant-bold.fntdata"/><Relationship Id="rId20" Type="http://schemas.openxmlformats.org/officeDocument/2006/relationships/slide" Target="slides/slide15.xml"/><Relationship Id="rId41" Type="http://schemas.openxmlformats.org/officeDocument/2006/relationships/font" Target="fonts/HeeboExtraBold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Assistant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פתיחה — השיעור האחרון בסדרה (לבינתיים). היום סוגרים מעגל: מהמפה (שיעור 01) והכלים (שיעור 02) אל ציר מוכן לשטח.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לעבור מהר. היום שיעור בנייה — בסופו הצוערים יודעים להכין ציר מלא בעצמם.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מטרת הביניים השלישית מחברת ישירות לכלים משיעור 02: מד״קו, תיקון סטייה וקליקים.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מפת הדרכים של הקורס: מבוא (שיעור 01), פרקטיקה (שיעור 02), והיום — השלב האחרון: מדריך לבניית צירים וסיפור דרך.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ריענון מהשיעור הקודם. לשאול לפני שמראים: מה ההבדל בין אזימוט רשת לאזימוט מגנטי? כמה קליקים ל-108°? (36)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היום מחברים את כל הכלים האלה לציר אחד — מהנתונים ועד שקף הבטיחות.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שלושת השלבים: תכנון, לימוד, דגשים ובטיחות. בין כל שלב — אישור מפקד. לא מדלגים.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כל שלב נסגר בתרגול מעשי. מספור התרגולים ממשיך משיעור 02 (שם עצרנו בתרגול 11).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ידידנו מהשיעורים הקודמים — הפעם לקראת פרידה. רגע קליל לפני שנכנסים לבנייה: זה השיעור האחרון בסדרה (לבינתיים).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פתיחת שלב א׳.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רשימת הנתונים שמקבלים לפני ניווט. לוודא שמכירים את הקיצורים: נ.ה, נ.ס, נת״ב.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חמשת השיקולים. לשאול לפני שמראים: מה הייתם שוקלים כשאתם בוחרים מסלול?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למיין את התשובות שלהם לתוך: בטיחות, עבירות, אורך, תכסית, תוואי.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ג״ג = גבול גזרה (משיעור 01: מפת שליטה וקוד). קישור לשיעור 01: שלוחה — ציר תנועה מועדף; גיא — מוסתר וסבוך; קווים צפופים = תלול.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מטילים נ.ה ונ.ס ואת הנ.צ. לדקירה — בדיוק כמו בתרגול 05 בשיעור 02. משבצת במפה = 1 ק״מ.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להראות על מפה אמיתית מוקרנת אם אפשר.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נת״בים: שטחי אש, בורות, מצוקים. אלה קווים אדומים — לא עוברים שם. קודם מסמנים, אחר כך מתכננים.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בזוגות, 3–4 דקות. לעבור בין הזוגות ולשאול: למה לא הקו הישר? מה המחיר של הציר שלכם באורך?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תשובה לתרגול 12. לנמק לפי השיקולים: בטיחות (שטח אש), עבירות (המדרון התלול של 480), תוואי.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אורך: כ-400 מ׳ יותר מהקו הישר — לא חורג משמעותית. מכאן ממשיכים עם חלופה ג׳ עד שקף הבטיחות.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שלב ב׳ — לימוד הציר.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שלושת הרכיבים: מקטעים, סיפור דרך, שינון.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מקטעים: נקודות ברורות בשטח כל 0.5-1 ק״מ. קצר מדי — אי אפשר ללמוד; ארוך מדי — מאבדים אומדן.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לשאול: אילו נקודות טובות למקטע? (כיפה, אוכף, פיצול...)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טבלת סיפור הדרך — לעבור עמודה-עמודה על הדוגמה. זה הפורמט שהם ימלאו בעצמם בתרגול 14.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האימות והגבול הברור זהים לשקף "בפועל יראה כך". בעמודת האזימוט: רשת, ובסוגריים המגנטי למצפן.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חשוב לחבר לשיעור 02, שם אמרנו ש"עלייה כמעט לא מוסיפה מרחק, אבל מאטה מאוד את הכוח" — זה עדיין נכון: 600 מ׳ עם 70 מ׳ עלייה הם גאומטרית כ-604 מ׳.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התוספת של 10 מ׳ לקו היא נוהל תכנון שמפצה על המאמץ ועל קיצור הצעד בעלייה, כדי שאומדן המרחק בשטח יתאים. ערכי התוספת — לפי נוהלי היחידה.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דקה-שתיים, לבד. הטעות הנפוצה: להוסיף גם על הקווים בירידה.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הזמן מחושב כמו בשיעור 02: זמן = מרחק ÷ קצב. 0.64 ק״מ ÷ 4 קמ״ש ≈ 0.16 שעה ≈ 10 דקות.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מרכיבי סיפור הדרך אחד-אחד. לעצור על נקודות אימות: 2 למקטע, 3 לנ.צ.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גבול ברור = ביטוח: הגעתם אליו — התברברתם. לרוב כביש; פועלים לפי נוהל ברבור.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לעבור על המפה ערך-ערך ולתת לכיתה לחלץ כל נתון לפני שחושפים את הבוליט.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להראות פיזית את ספירת קווי הגובה בעלייה (7) — זה החישוב מהשקופית הקודמת.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להראות איך כל הנתונים מתקפלים לשורה אחת בטבלה — אותה שורה בדיוק כמו בשקף טבלת סיפור הדרך.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להדגיש: סיפור טוב = אפשר ללכת אותו בראש בעיניים עצומות. אימות זה מה שרואים, לא מה שמקווים לראות.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עבודה בזוגות, 3–4 דקות, ואז סבב תשובות. הפתרון בשקף הבא.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פתרון: מרחק כ-280 מ׳ (ירידה — בלי תוספת). אזימוט רשת כ-090 → מגנטי 085 → 085 ÷ 3 = 28.3, מעגלים ל-28 קליקים (084).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שימו לב: כיפה סמויה (שיעור 01) לא מופיעה במפה — ולכן אסור לתכנן אותה כנקודת אימות.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שלב ג׳ — דגשים ובטיחות.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מה כולל שקף הבטיחות — רשימה. הדגש: זה מה שמציג מפקד רואה לפני שהוא מאשר יציאה.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איך בונים: עיגון ב-2 נ.צ. על הצירים, ואז מסרטטים. בלי עיגון נכון — כל השקף זז.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דוגמה חיה של שקף על מפה — אותו ציר (חלופה ג׳) מתחילת השיעור. לעבור על הסימונים עם הכיתה: איפה הנת״בים, איפה ג״ג, איפה הציר.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קוד הצבעים — לשנן: שחור ג״ג ונ.צ, אדום אסור, כחול נ.צ, ירוק נתיב.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בוחן קצר: אני מצביע על סימון — אתם אומרים צבע.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סיכום בשאלות — לתת לכיתה לענות לפני חשיפה. כל תשובה חסרה = לחזור לשקופית הרלוונטית.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מכאן: בשיעור הבא בונים ציר אמיתי בעצמכם.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סיום. זמן לשאלות. בשיעור הבא כל צוער בונה ציר אמיתי בעצמו, ומשם — לניווט בשטח.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יש לאמת ערכים מקומיים (סטייה מגנטית, קצב תנועה, נוהלי בטיחות) מול המפה ונוהלי היחידה.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ראשית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>
  <p:cSld name="כותרת ותוכן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פרק מימין">
  <p:cSld name="כותרת פרק מימין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 txBox="1"/>
          <p:nvPr>
            <p:ph type="ctrTitle"/>
          </p:nvPr>
        </p:nvSpPr>
        <p:spPr>
          <a:xfrm>
            <a:off x="4885188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b="1"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4885188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491588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פרק משמאל">
  <p:cSld name="כותרת פרק משמאל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/>
          <p:nvPr>
            <p:ph type="ctrTitle"/>
          </p:nvPr>
        </p:nvSpPr>
        <p:spPr>
          <a:xfrm>
            <a:off x="266699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b="1"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266699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מימין">
  <p:cSld name="תוכן מימין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2">
            <a:alphaModFix amt="78000"/>
          </a:blip>
          <a:srcRect b="0" l="0" r="0" t="0"/>
          <a:stretch/>
        </p:blipFill>
        <p:spPr>
          <a:xfrm>
            <a:off x="83326" y="1915629"/>
            <a:ext cx="3791250" cy="37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משמאל">
  <p:cSld name="תוכן משמאל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53996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4" name="Google Shape;44;p7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6.xml"/><Relationship Id="rId9" Type="http://schemas.openxmlformats.org/officeDocument/2006/relationships/slideLayout" Target="../slideLayouts/slideLayout5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 amt="25000"/>
          </a:blip>
          <a:srcRect b="0" l="0" r="0" t="0"/>
          <a:stretch/>
        </p:blipFill>
        <p:spPr>
          <a:xfrm>
            <a:off x="3519241" y="1108898"/>
            <a:ext cx="5167838" cy="46402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1" y="-43772"/>
            <a:ext cx="12206318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" y="6336640"/>
            <a:ext cx="12191999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w-IL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						</a:t>
            </a:r>
            <a:endParaRPr b="0" i="0" sz="18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 i="0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AD3AF"/>
              </a:buClr>
              <a:buSzPts val="2800"/>
              <a:buFont typeface="Helvetica Neue"/>
              <a:buChar char="◊"/>
              <a:defRPr b="0" i="0" sz="2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2286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/>
        </p:nvSpPr>
        <p:spPr>
          <a:xfrm>
            <a:off x="5769962" y="76300"/>
            <a:ext cx="666396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w-IL" sz="1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בלמ"ס -</a:t>
            </a:r>
            <a:endParaRPr b="0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8610600" y="-29094"/>
            <a:ext cx="3342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"ממפה תראו וכך תנווטו" (לא משופטים ז', י"ז)</a:t>
            </a:r>
            <a:endParaRPr b="0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11569946" y="35961"/>
            <a:ext cx="420225" cy="59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120" y="166354"/>
            <a:ext cx="807777" cy="807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עיגול, צבעוני&#10;&#10;התיאור נוצר באופן אוטומטי" id="15" name="Google Shape;1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897" y="148645"/>
            <a:ext cx="1143356" cy="84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/>
        </p:nvSpPr>
        <p:spPr>
          <a:xfrm>
            <a:off x="442486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קורס קציני סייבר</a:t>
            </a:r>
            <a:endParaRPr b="1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01152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בלמ״ס -</a:t>
            </a:r>
            <a:endParaRPr b="1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-228014" y="6336640"/>
            <a:ext cx="2132428" cy="420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‹#›</a:t>
            </a:fld>
            <a:endParaRPr b="1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ctrTitle"/>
          </p:nvPr>
        </p:nvSpPr>
        <p:spPr>
          <a:xfrm>
            <a:off x="1069848" y="1874519"/>
            <a:ext cx="100584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ssistant"/>
              <a:buNone/>
            </a:pPr>
            <a:r>
              <a:rPr lang="iw-IL"/>
              <a:t>ניווטים בפעם האחרונה (לבינתיים)</a:t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1527048" y="3200400"/>
            <a:ext cx="9144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lang="iw-IL" sz="2000"/>
              <a:t>״מסע של אלף מילין מתחיל בצעד אחד״</a:t>
            </a:r>
            <a:endParaRPr sz="2000"/>
          </a:p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1" lang="iw-IL" sz="2000"/>
              <a:t>שיעור 03 · מדריך לבניית צירים וסיפור דרך</a:t>
            </a:r>
            <a:endParaRPr sz="2000"/>
          </a:p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lang="iw-IL" sz="1600"/>
              <a:t>תכנון ציר, חלוקה למקטעים, סיפור דרך ושקף בטיחות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מטרות השיעור</a:t>
            </a:r>
            <a:endParaRPr/>
          </a:p>
        </p:txBody>
      </p:sp>
      <p:grpSp>
        <p:nvGrpSpPr>
          <p:cNvPr id="56" name="Google Shape;56;p9"/>
          <p:cNvGrpSpPr/>
          <p:nvPr/>
        </p:nvGrpSpPr>
        <p:grpSpPr>
          <a:xfrm>
            <a:off x="1245184" y="1536792"/>
            <a:ext cx="10108615" cy="4422167"/>
            <a:chOff x="0" y="50891"/>
            <a:chExt cx="10108615" cy="4422167"/>
          </a:xfrm>
        </p:grpSpPr>
        <p:sp>
          <p:nvSpPr>
            <p:cNvPr id="57" name="Google Shape;57;p9"/>
            <p:cNvSpPr/>
            <p:nvPr/>
          </p:nvSpPr>
          <p:spPr>
            <a:xfrm>
              <a:off x="0" y="50891"/>
              <a:ext cx="10108615" cy="804960"/>
            </a:xfrm>
            <a:prstGeom prst="roundRect">
              <a:avLst>
                <a:gd fmla="val 16667" name="adj"/>
              </a:avLst>
            </a:prstGeom>
            <a:solidFill>
              <a:srgbClr val="166020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 txBox="1"/>
            <p:nvPr/>
          </p:nvSpPr>
          <p:spPr>
            <a:xfrm>
              <a:off x="39295" y="90186"/>
              <a:ext cx="10030025" cy="726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iw-IL" sz="2800" u="none" cap="none" strike="noStrike">
                  <a:solidFill>
                    <a:schemeClr val="lt1"/>
                  </a:solidFill>
                  <a:latin typeface="Heebo ExtraBold"/>
                  <a:ea typeface="Heebo ExtraBold"/>
                  <a:cs typeface="Heebo ExtraBold"/>
                  <a:sym typeface="Heebo ExtraBold"/>
                </a:rPr>
                <a:t>מטרת העל</a:t>
              </a:r>
              <a:endParaRPr b="1" i="0" sz="2800" u="none" cap="none" strike="noStrike">
                <a:solidFill>
                  <a:schemeClr val="lt1"/>
                </a:solidFill>
                <a:latin typeface="Heebo ExtraBold"/>
                <a:ea typeface="Heebo ExtraBold"/>
                <a:cs typeface="Heebo ExtraBold"/>
                <a:sym typeface="Heebo ExtraBold"/>
              </a:endParaRPr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0" y="829069"/>
              <a:ext cx="10108615" cy="712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 txBox="1"/>
            <p:nvPr/>
          </p:nvSpPr>
          <p:spPr>
            <a:xfrm>
              <a:off x="0" y="829069"/>
              <a:ext cx="10108615" cy="712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320925" spcFirstLastPara="1" rIns="142225" wrap="square" tIns="25400">
              <a:noAutofit/>
            </a:bodyPr>
            <a:lstStyle/>
            <a:p>
              <a:pPr indent="-342900" lvl="1" marL="457200" marR="0" rtl="1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יתכנן ציר ניווט שלם – מסלול, סיפור דרך ושקף בטיחות</a:t>
              </a:r>
              <a:endParaRPr b="0" i="0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>
              <a:off x="0" y="1371897"/>
              <a:ext cx="10108615" cy="804960"/>
            </a:xfrm>
            <a:prstGeom prst="roundRect">
              <a:avLst>
                <a:gd fmla="val 16667" name="adj"/>
              </a:avLst>
            </a:prstGeom>
            <a:solidFill>
              <a:srgbClr val="96A896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9"/>
            <p:cNvSpPr txBox="1"/>
            <p:nvPr/>
          </p:nvSpPr>
          <p:spPr>
            <a:xfrm>
              <a:off x="39295" y="1411192"/>
              <a:ext cx="10030025" cy="726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iw-IL" sz="2800" u="none" cap="none" strike="noStrike">
                  <a:solidFill>
                    <a:schemeClr val="lt1"/>
                  </a:solidFill>
                  <a:latin typeface="Heebo ExtraBold"/>
                  <a:ea typeface="Heebo ExtraBold"/>
                  <a:cs typeface="Heebo ExtraBold"/>
                  <a:sym typeface="Heebo ExtraBold"/>
                </a:rPr>
                <a:t>מטרות ביניים</a:t>
              </a:r>
              <a:endParaRPr b="1" i="0" sz="2800" u="none" cap="none" strike="noStrike">
                <a:solidFill>
                  <a:schemeClr val="lt1"/>
                </a:solidFill>
                <a:latin typeface="Heebo ExtraBold"/>
                <a:ea typeface="Heebo ExtraBold"/>
                <a:cs typeface="Heebo ExtraBold"/>
                <a:sym typeface="Heebo ExtraBold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>
              <a:off x="0" y="2247808"/>
              <a:ext cx="10108615" cy="222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9"/>
            <p:cNvSpPr txBox="1"/>
            <p:nvPr/>
          </p:nvSpPr>
          <p:spPr>
            <a:xfrm>
              <a:off x="0" y="2247808"/>
              <a:ext cx="10108615" cy="222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320925" spcFirstLastPara="1" rIns="142225" wrap="square" tIns="25400">
              <a:noAutofit/>
            </a:bodyPr>
            <a:lstStyle/>
            <a:p>
              <a:pPr indent="-342900" lvl="1" marL="457200" marR="0" rtl="1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יטיל נתוני ניווט על המפה ויבנה מסלול בטוח ועביר</a:t>
              </a:r>
              <a:endParaRPr b="0" i="0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-342900" lvl="1" marL="457200" marR="0" rtl="1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יחלק ציר למקטעים ויכתוב סיפור דרך מלא</a:t>
              </a:r>
              <a:endParaRPr/>
            </a:p>
            <a:p>
              <a:pPr indent="-342900" lvl="1" marL="457200" marR="0" rtl="1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יחשב לכל מקטע מרחק הליכה, אזימוט מגנטי וקליקים</a:t>
              </a:r>
              <a:endParaRPr/>
            </a:p>
            <a:p>
              <a:pPr indent="-342900" lvl="1" marL="457200" marR="0" rtl="1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יבנה שקף בטיחות ויבין את חשיבותו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b="1" i="0" lang="iw-IL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מה מצפה לנו?</a:t>
            </a:r>
            <a:endParaRPr b="1" i="0" sz="4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Story pin image" id="70" name="Google Shape;70;p10"/>
          <p:cNvPicPr preferRelativeResize="0"/>
          <p:nvPr/>
        </p:nvPicPr>
        <p:blipFill rotWithShape="1">
          <a:blip r:embed="rId3">
            <a:alphaModFix/>
          </a:blip>
          <a:srcRect b="21148" l="0" r="0" t="21885"/>
          <a:stretch/>
        </p:blipFill>
        <p:spPr>
          <a:xfrm>
            <a:off x="303213" y="1854199"/>
            <a:ext cx="6119096" cy="348589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5861138" y="1690825"/>
            <a:ext cx="4603750" cy="3220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מבוא</a:t>
            </a:r>
            <a:endParaRPr/>
          </a:p>
          <a:p>
            <a:pPr indent="0" lvl="0" marL="0" marR="0" rtl="1" algn="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פרקטיקה</a:t>
            </a:r>
            <a:endParaRPr/>
          </a:p>
          <a:p>
            <a:pPr indent="0" lvl="0" marL="0" marR="0" rtl="1" algn="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מדריך לבניית צירים וסיפור דרך</a:t>
            </a:r>
            <a:endParaRPr b="0" i="0" sz="2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Red Location, Map Pin Icon PNG Transparent Background, Free Download #4226  - FreeIconsPNG" id="72" name="Google Shape;7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4888" y="1854199"/>
            <a:ext cx="751605" cy="881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 Location, Map Pin Icon PNG Transparent Background, Free Download #4226  - FreeIconsPNG" id="73" name="Google Shape;7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4887" y="2988058"/>
            <a:ext cx="751605" cy="881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 Location, Map Pin Icon PNG Transparent Background, Free Download #4226  - FreeIconsPNG" id="74" name="Google Shape;7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4888" y="4121917"/>
            <a:ext cx="751605" cy="88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1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534924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iw-IL"/>
              <a:t>מה למדנו בשיעור הקודם?</a:t>
            </a:r>
            <a:endParaRPr/>
          </a:p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מד״קו</a:t>
            </a:r>
            <a:r>
              <a:rPr b="0" lang="iw-IL" sz="2000"/>
              <a:t> - נ.צ. מדויק, מרחק ואזימוט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שושנת הרוחות</a:t>
            </a:r>
            <a:r>
              <a:rPr b="0" lang="iw-IL" sz="2000"/>
              <a:t> - שפת כיוונים ובדיקת שפיות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אזימוט</a:t>
            </a:r>
            <a:r>
              <a:rPr b="0" lang="iw-IL" sz="2000"/>
              <a:t> - יוצא וחוזר, מעלות ואלפיות, שלושה סוגי צפון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מצפן צבאי</a:t>
            </a:r>
            <a:r>
              <a:rPr b="0" lang="iw-IL" sz="2000"/>
              <a:t> - תיקון סטייה (פחות 5°), קליקים והצפנת מפה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מרחק</a:t>
            </a:r>
            <a:r>
              <a:rPr b="0" lang="iw-IL" sz="2000"/>
              <a:t> - אווירי מול בפועל, וזמן = מרחק ÷ קצב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נדב״ר</a:t>
            </a:r>
            <a:r>
              <a:rPr b="0" lang="iw-IL" sz="2000"/>
              <a:t> - מבנה הודעה, סיומות ומילון קשר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השלבים בבניית הציר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217170" y="3395097"/>
            <a:ext cx="34832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4E7A3F"/>
                </a:solidFill>
                <a:latin typeface="Assistant"/>
                <a:ea typeface="Assistant"/>
                <a:cs typeface="Assistant"/>
                <a:sym typeface="Assistant"/>
              </a:rPr>
              <a:t>* בין כל שלב יש לקבל אישור מפקד</a:t>
            </a:r>
            <a:endParaRPr b="1" i="0" sz="2200" u="none" cap="none" strike="noStrike">
              <a:solidFill>
                <a:srgbClr val="4E7A3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89" name="Google Shape;89;p12"/>
          <p:cNvGrpSpPr/>
          <p:nvPr/>
        </p:nvGrpSpPr>
        <p:grpSpPr>
          <a:xfrm>
            <a:off x="5486401" y="1539773"/>
            <a:ext cx="6186485" cy="1325700"/>
            <a:chOff x="5486401" y="1539773"/>
            <a:chExt cx="6186485" cy="1325700"/>
          </a:xfrm>
        </p:grpSpPr>
        <p:sp>
          <p:nvSpPr>
            <p:cNvPr id="90" name="Google Shape;90;p12"/>
            <p:cNvSpPr/>
            <p:nvPr/>
          </p:nvSpPr>
          <p:spPr>
            <a:xfrm>
              <a:off x="5486401" y="1690825"/>
              <a:ext cx="5214938" cy="1036163"/>
            </a:xfrm>
            <a:prstGeom prst="roundRect">
              <a:avLst>
                <a:gd fmla="val 16667" name="adj"/>
              </a:avLst>
            </a:prstGeom>
            <a:solidFill>
              <a:srgbClr val="B3E5A0"/>
            </a:solidFill>
            <a:ln cap="flat" cmpd="sng" w="9525">
              <a:solidFill>
                <a:srgbClr val="4AA52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w-IL" sz="2800" u="none" cap="none" strike="noStrike">
                  <a:solidFill>
                    <a:srgbClr val="262626"/>
                  </a:solidFill>
                  <a:latin typeface="Assistant"/>
                  <a:ea typeface="Assistant"/>
                  <a:cs typeface="Assistant"/>
                  <a:sym typeface="Assistant"/>
                </a:rPr>
                <a:t>תכנון הציר</a:t>
              </a:r>
              <a:endParaRPr b="1" i="0" sz="4000" u="none" cap="none" strike="noStrike">
                <a:solidFill>
                  <a:srgbClr val="262626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10315574" y="1539773"/>
              <a:ext cx="1357312" cy="1325700"/>
            </a:xfrm>
            <a:prstGeom prst="ellipse">
              <a:avLst/>
            </a:prstGeom>
            <a:solidFill>
              <a:srgbClr val="D9F2D0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w-IL" sz="6600" u="none" cap="none" strike="noStrike">
                  <a:solidFill>
                    <a:srgbClr val="262626"/>
                  </a:solidFill>
                  <a:latin typeface="Assistant"/>
                  <a:ea typeface="Assistant"/>
                  <a:cs typeface="Assistant"/>
                  <a:sym typeface="Assistant"/>
                </a:rPr>
                <a:t>I</a:t>
              </a:r>
              <a:endParaRPr b="1" i="0" sz="6600" u="none" cap="none" strike="noStrike">
                <a:solidFill>
                  <a:srgbClr val="262626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92" name="Google Shape;92;p12"/>
          <p:cNvGrpSpPr/>
          <p:nvPr/>
        </p:nvGrpSpPr>
        <p:grpSpPr>
          <a:xfrm>
            <a:off x="5486400" y="3016525"/>
            <a:ext cx="6186485" cy="1325700"/>
            <a:chOff x="5486401" y="1539773"/>
            <a:chExt cx="6186485" cy="1325700"/>
          </a:xfrm>
        </p:grpSpPr>
        <p:sp>
          <p:nvSpPr>
            <p:cNvPr id="93" name="Google Shape;93;p12"/>
            <p:cNvSpPr/>
            <p:nvPr/>
          </p:nvSpPr>
          <p:spPr>
            <a:xfrm>
              <a:off x="5486401" y="1690825"/>
              <a:ext cx="5214938" cy="1036163"/>
            </a:xfrm>
            <a:prstGeom prst="roundRect">
              <a:avLst>
                <a:gd fmla="val 16667" name="adj"/>
              </a:avLst>
            </a:prstGeom>
            <a:solidFill>
              <a:srgbClr val="B3E5A0"/>
            </a:solidFill>
            <a:ln cap="flat" cmpd="sng" w="9525">
              <a:solidFill>
                <a:srgbClr val="4AA52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w-IL" sz="2800" u="none" cap="none" strike="noStrike">
                  <a:solidFill>
                    <a:srgbClr val="262626"/>
                  </a:solidFill>
                  <a:latin typeface="Assistant"/>
                  <a:ea typeface="Assistant"/>
                  <a:cs typeface="Assistant"/>
                  <a:sym typeface="Assistant"/>
                </a:rPr>
                <a:t>לימוד הציר</a:t>
              </a:r>
              <a:endParaRPr b="1" i="0" sz="2800" u="none" cap="none" strike="noStrike">
                <a:solidFill>
                  <a:srgbClr val="262626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94" name="Google Shape;94;p12"/>
            <p:cNvSpPr/>
            <p:nvPr/>
          </p:nvSpPr>
          <p:spPr>
            <a:xfrm>
              <a:off x="10315574" y="1539773"/>
              <a:ext cx="1357312" cy="1325700"/>
            </a:xfrm>
            <a:prstGeom prst="ellipse">
              <a:avLst/>
            </a:prstGeom>
            <a:solidFill>
              <a:srgbClr val="D9F2D0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w-IL" sz="6600" u="none" cap="none" strike="noStrike">
                  <a:solidFill>
                    <a:srgbClr val="262626"/>
                  </a:solidFill>
                  <a:latin typeface="Assistant"/>
                  <a:ea typeface="Assistant"/>
                  <a:cs typeface="Assistant"/>
                  <a:sym typeface="Assistant"/>
                </a:rPr>
                <a:t>II</a:t>
              </a:r>
              <a:endParaRPr b="1" i="0" sz="6600" u="none" cap="none" strike="noStrike">
                <a:solidFill>
                  <a:srgbClr val="262626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95" name="Google Shape;95;p12"/>
          <p:cNvGrpSpPr/>
          <p:nvPr/>
        </p:nvGrpSpPr>
        <p:grpSpPr>
          <a:xfrm>
            <a:off x="5486400" y="4505844"/>
            <a:ext cx="6186485" cy="1325700"/>
            <a:chOff x="5486401" y="1539773"/>
            <a:chExt cx="6186485" cy="1325700"/>
          </a:xfrm>
        </p:grpSpPr>
        <p:sp>
          <p:nvSpPr>
            <p:cNvPr id="96" name="Google Shape;96;p12"/>
            <p:cNvSpPr/>
            <p:nvPr/>
          </p:nvSpPr>
          <p:spPr>
            <a:xfrm>
              <a:off x="5486401" y="1690825"/>
              <a:ext cx="5214938" cy="1036163"/>
            </a:xfrm>
            <a:prstGeom prst="roundRect">
              <a:avLst>
                <a:gd fmla="val 16667" name="adj"/>
              </a:avLst>
            </a:prstGeom>
            <a:solidFill>
              <a:srgbClr val="B3E5A0"/>
            </a:solidFill>
            <a:ln cap="flat" cmpd="sng" w="9525">
              <a:solidFill>
                <a:srgbClr val="4AA52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w-IL" sz="2800" u="none" cap="none" strike="noStrike">
                  <a:solidFill>
                    <a:srgbClr val="262626"/>
                  </a:solidFill>
                  <a:latin typeface="Assistant"/>
                  <a:ea typeface="Assistant"/>
                  <a:cs typeface="Assistant"/>
                  <a:sym typeface="Assistant"/>
                </a:rPr>
                <a:t>דגשים לניווט ובטיחות</a:t>
              </a:r>
              <a:endParaRPr b="1" i="0" sz="2800" u="none" cap="none" strike="noStrike">
                <a:solidFill>
                  <a:srgbClr val="262626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97" name="Google Shape;97;p12"/>
            <p:cNvSpPr/>
            <p:nvPr/>
          </p:nvSpPr>
          <p:spPr>
            <a:xfrm>
              <a:off x="10315574" y="1539773"/>
              <a:ext cx="1357312" cy="1325700"/>
            </a:xfrm>
            <a:prstGeom prst="ellipse">
              <a:avLst/>
            </a:prstGeom>
            <a:solidFill>
              <a:srgbClr val="D9F2D0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w-IL" sz="6600" u="none" cap="none" strike="noStrike">
                  <a:solidFill>
                    <a:srgbClr val="262626"/>
                  </a:solidFill>
                  <a:latin typeface="Assistant"/>
                  <a:ea typeface="Assistant"/>
                  <a:cs typeface="Assistant"/>
                  <a:sym typeface="Assistant"/>
                </a:rPr>
                <a:t>III</a:t>
              </a:r>
              <a:endParaRPr b="1" i="0" sz="6600" u="none" cap="none" strike="noStrike">
                <a:solidFill>
                  <a:srgbClr val="262626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457200" y="2770632"/>
            <a:ext cx="6035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b="1" i="0" lang="iw-IL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חבר יקר,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b="1" i="0" lang="iw-IL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לא יאמן שתכף נפרדים...</a:t>
            </a:r>
            <a:endParaRPr b="1" i="0" sz="4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4" name="Google Shape;10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125095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>
            <p:ph type="ctrTitle"/>
          </p:nvPr>
        </p:nvSpPr>
        <p:spPr>
          <a:xfrm>
            <a:off x="2548500" y="2769141"/>
            <a:ext cx="7094995" cy="9263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11111"/>
              <a:buNone/>
            </a:pPr>
            <a:r>
              <a:rPr lang="iw-IL"/>
              <a:t>שלב א׳ - תכנון הציר</a:t>
            </a:r>
            <a:endParaRPr/>
          </a:p>
        </p:txBody>
      </p:sp>
      <p:sp>
        <p:nvSpPr>
          <p:cNvPr id="111" name="Google Shape;111;p14"/>
          <p:cNvSpPr txBox="1"/>
          <p:nvPr>
            <p:ph idx="1" type="subTitle"/>
          </p:nvPr>
        </p:nvSpPr>
        <p:spPr>
          <a:xfrm>
            <a:off x="3659411" y="3429001"/>
            <a:ext cx="4873175" cy="92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iw-IL"/>
              <a:t>קבלת הנתונים ובניית המסלול</a:t>
            </a:r>
            <a:endParaRPr/>
          </a:p>
        </p:txBody>
      </p:sp>
      <p:pic>
        <p:nvPicPr>
          <p:cNvPr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5750" y="5514975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534924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תכנון הציר</a:t>
            </a:r>
            <a:endParaRPr/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200"/>
              <a:t>קבלת נתוני הניווט: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800"/>
              <a:t>חברי החוליה</a:t>
            </a:r>
            <a:endParaRPr sz="18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800"/>
              <a:t>נקודת התחלה (נ.ה)</a:t>
            </a:r>
            <a:endParaRPr sz="18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800"/>
              <a:t>נקודת סוף (נ.ס)</a:t>
            </a:r>
            <a:endParaRPr sz="18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800"/>
              <a:t>אורך הציר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200"/>
              <a:t>הטלת הנתונים על גבי המפה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200"/>
              <a:t>בניית ציר ההליכה האולטימטיבי</a:t>
            </a:r>
            <a:endParaRPr sz="2200"/>
          </a:p>
        </p:txBody>
      </p:sp>
      <p:sp>
        <p:nvSpPr>
          <p:cNvPr id="121" name="Google Shape;121;p15"/>
          <p:cNvSpPr txBox="1"/>
          <p:nvPr/>
        </p:nvSpPr>
        <p:spPr>
          <a:xfrm>
            <a:off x="822960" y="2267712"/>
            <a:ext cx="6583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סוג ניווט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iw-I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נ.צ. לדקירה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iw-I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נת״בים (נקודות תורפה בטיחותיות) - שטחי אש, שד״מים, בורות ומאגרי מים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534924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מהם השיקולים לבניית ציר ניווט?</a:t>
            </a:r>
            <a:endParaRPr/>
          </a:p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בטיחות - בטוח להליכה; נת״בים ושד״מים; היכרות עם הג״ג; לא נעבור בשטח בנוי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עבירות - האם ניתן ללכת בתוואי מבחינת שיפועים, מצוקים וערוצים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אורך - אורך הציר לא יחרוג משמעותית מהאורך שהוגדר לניווט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תכסית - עדיף לא ללכת בשטח מיוער או היכן שקשה לראות את תוואי השטח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תוואי - תמיד נלך בתוואי ברור: שלוחה, ציר ראשי וכו׳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תכנון הציר - הטלת הנתונים על המפה</a:t>
            </a:r>
            <a:endParaRPr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5394960" y="1819656"/>
            <a:ext cx="5961888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מטילים על המפה את נקודת ההתחלה (נ.ה) ואת נקודת הסוף (נ.ס) - בעזרת סרגל הקואורדינטות במד״קו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מסמנים את הנ.צ. לדקירה שקיבלנו בנתוני הניווט (1, 2)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מודדים בסרגל המד״קו את הקו הישר בין נ.ה לנ.ס - זה המינימום (כאן: כ-4.1 ק״מ)</a:t>
            </a:r>
            <a:endParaRPr sz="2000"/>
          </a:p>
        </p:txBody>
      </p:sp>
      <p:pic>
        <p:nvPicPr>
          <p:cNvPr descr="l3_points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25" y="2586429"/>
            <a:ext cx="4629032" cy="3499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11448288" y="5349240"/>
            <a:ext cx="713232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תכנון הציר - סימון נקודות תורפה</a:t>
            </a:r>
            <a:endParaRPr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4983480" y="1819656"/>
            <a:ext cx="6373368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מסמנים את כל נקודות התורפה הבטיחותיות (נת״בים): שטח אש, בורות, באר, מצוקים וכו׳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מסמנים את גבול הגזרה (ג״ג) ושטחים בנויים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אלה אזורים שנרצה להימנע מהם - קודם מסמנים, אחר כך מתכננים</a:t>
            </a:r>
            <a:endParaRPr sz="2000"/>
          </a:p>
        </p:txBody>
      </p:sp>
      <p:pic>
        <p:nvPicPr>
          <p:cNvPr descr="l3_hazards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187" y="2131957"/>
            <a:ext cx="4534764" cy="342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11448288" y="5349240"/>
            <a:ext cx="713232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iw-IL"/>
              <a:t>תרגול - בחרו ציר מנ.ה לנ.ס</a:t>
            </a:r>
            <a:endParaRPr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4983480" y="1819656"/>
            <a:ext cx="6373368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שלב תרגול מעשי - 12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שרטטו לפחות שתי חלופות מסלול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בדקו כל חלופה מול חמשת השיקולים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פסלו כל חלופה שחוצה נת״ב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ודאו שהציר עובר בנ.צ. 1 ו-2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בחרו ציר ונמקו את הבחירה</a:t>
            </a:r>
            <a:endParaRPr sz="2000"/>
          </a:p>
        </p:txBody>
      </p:sp>
      <p:pic>
        <p:nvPicPr>
          <p:cNvPr descr="l3_hazards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187" y="2131957"/>
            <a:ext cx="4534764" cy="342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11448288" y="5349240"/>
            <a:ext cx="713232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תכנון הציר - בניית המסלול האולטימטיבי</a:t>
            </a:r>
            <a:endParaRPr/>
          </a:p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4983480" y="1819656"/>
            <a:ext cx="6373368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חלופה א׳ (הקו הישר) ✗</a:t>
            </a:r>
            <a:r>
              <a:rPr b="0" lang="iw-IL" sz="1800"/>
              <a:t> - עולה על הכיפה 480, יורדת במדרון התלול וחוצה את הרכס; לא עוברת בנ.צ.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חלופה ב׳ ✗</a:t>
            </a:r>
            <a:r>
              <a:rPr b="0" lang="iw-IL" sz="1800"/>
              <a:t> - חוצה את שטח האש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חלופה ג׳ ✓</a:t>
            </a:r>
            <a:r>
              <a:rPr b="0" lang="iw-IL" sz="1800"/>
              <a:t> - עוקפת מערבית לכיפה, עוברת בנ.צ. 1 ו-2 ומתרחקת משטח האש ומהבאר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המחיר: כ-4.5 ק״מ מול 4.1 בקו הישר - ארוך בקצת, בטוח ועביר הרבה יותר</a:t>
            </a:r>
            <a:endParaRPr sz="1800"/>
          </a:p>
        </p:txBody>
      </p:sp>
      <p:pic>
        <p:nvPicPr>
          <p:cNvPr descr="l3_routes.png" id="164" name="Google Shape;1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333" y="2039997"/>
            <a:ext cx="4553618" cy="3442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11448288" y="5349240"/>
            <a:ext cx="713232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>
            <p:ph type="ctrTitle"/>
          </p:nvPr>
        </p:nvSpPr>
        <p:spPr>
          <a:xfrm>
            <a:off x="2548502" y="2645704"/>
            <a:ext cx="7094995" cy="9873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11111"/>
              <a:buNone/>
            </a:pPr>
            <a:r>
              <a:rPr lang="iw-IL"/>
              <a:t>שלב ב׳ - לימוד הציר</a:t>
            </a:r>
            <a:endParaRPr/>
          </a:p>
        </p:txBody>
      </p:sp>
      <p:sp>
        <p:nvSpPr>
          <p:cNvPr id="172" name="Google Shape;172;p21"/>
          <p:cNvSpPr txBox="1"/>
          <p:nvPr>
            <p:ph idx="1" type="subTitle"/>
          </p:nvPr>
        </p:nvSpPr>
        <p:spPr>
          <a:xfrm>
            <a:off x="4072530" y="3295709"/>
            <a:ext cx="4046938" cy="80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iw-IL"/>
              <a:t>חלוקה למקטעים ובניית סיפור דרך</a:t>
            </a:r>
            <a:endParaRPr/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8572" y="410417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452628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לימוד הציר</a:t>
            </a:r>
            <a:endParaRPr/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חלוקה למקטעים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בניית סיפור דרך: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אזימוט הציר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מרחק הליכה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נקודות אימות </a:t>
            </a:r>
            <a:endParaRPr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גבול ברור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שינון סיפור הדרך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452628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חלוקה למקטעים</a:t>
            </a:r>
            <a:endParaRPr/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3986785" y="1816720"/>
            <a:ext cx="7367016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מקטעים הם נקודות על ציר הניווט, לצורך חישוב אומדן המרחק והזדהות עם השטח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לכל מקטע נבחר נקודה ברורה בשטח - כיפה, אוכף, פיצול גאיות וכו׳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בין מקטע למקטע: מרחק של כ-0.5–1 ק״מ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קיטועים קצרים מדי מקשים על לימוד הציר; ארוכים מדי - מאבדים את אומדן המרחק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בדוגמה: 4 מקטעים של 0.75–1.05 ק״מ; מקטעים 2 ו-4 הם הנ.צ. לדקירה</a:t>
            </a:r>
            <a:endParaRPr sz="1800"/>
          </a:p>
        </p:txBody>
      </p:sp>
      <p:pic>
        <p:nvPicPr>
          <p:cNvPr descr="l3_segments.png" id="190" name="Google Shape;19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833" y="2329388"/>
            <a:ext cx="3794760" cy="2868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534924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בניית סיפור דרך</a:t>
            </a: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640080" y="1500554"/>
            <a:ext cx="1091184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2E3B2A"/>
                </a:solidFill>
                <a:latin typeface="Assistant"/>
                <a:ea typeface="Assistant"/>
                <a:cs typeface="Assistant"/>
                <a:sym typeface="Assistant"/>
              </a:rPr>
              <a:t>כדי לזכור את הציר על בוריו נחבר סיפור דרך שמקצר את לימוד הציר - בין כל שני מקטעים נכתוב סיפור קצר על הדרך:</a:t>
            </a:r>
            <a:endParaRPr/>
          </a:p>
        </p:txBody>
      </p:sp>
      <p:graphicFrame>
        <p:nvGraphicFramePr>
          <p:cNvPr id="199" name="Google Shape;199;p24"/>
          <p:cNvGraphicFramePr/>
          <p:nvPr/>
        </p:nvGraphicFramePr>
        <p:xfrm>
          <a:off x="56388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{99DE0D12-6C02-4672-813E-AD2D68DF2B6B}</a:tableStyleId>
              </a:tblPr>
              <a:tblGrid>
                <a:gridCol w="2743200"/>
                <a:gridCol w="1234450"/>
                <a:gridCol w="2834650"/>
                <a:gridCol w="1051550"/>
                <a:gridCol w="1051550"/>
                <a:gridCol w="914400"/>
                <a:gridCol w="12344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סיפור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גבול ברור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אימות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תוואי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אזימוט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מרחק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מקטע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מהנ.ה עולים על השלוחה באזימוט 020, כ-670 מ׳, עד ראש הכיפה 273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תחילת ירידה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על גב השלוחה - הגיא מימין</a:t>
                      </a:r>
                      <a:endParaRPr sz="1600" u="none" cap="none" strike="noStrike"/>
                    </a:p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ראש הכיפה 273 - ירידה לכל הכיוונים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שלוחה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020</a:t>
                      </a:r>
                      <a:endParaRPr sz="1600" u="none" cap="none" strike="noStrike"/>
                    </a:p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(מגנטי 015)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670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נ.ה - מקטע 1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452628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חישוב מרחק ההליכה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5257800" y="1819656"/>
            <a:ext cx="6099048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מרחק אופקי</a:t>
            </a:r>
            <a:r>
              <a:rPr b="0" lang="iw-IL" sz="1800"/>
              <a:t> - מודדים בסרגל המד״קו, כמו בשיעור 02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עלייה</a:t>
            </a:r>
            <a:r>
              <a:rPr b="0" lang="iw-IL" sz="1800"/>
              <a:t> - על כל קו גובה שחוצים בעלייה מוסיפים 10 מ׳ (הרווח האנכי)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ירידה</a:t>
            </a:r>
            <a:r>
              <a:rPr b="0" lang="iw-IL" sz="1800"/>
              <a:t> - לא מוסיפים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מרחק הליכה מתוכנן = מרחק אופקי + 10 מ׳ × קווי גובה בעלייה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600"/>
              <a:t>זוכרים משיעור 02? העלייה כמעט לא מאריכה את הדרך - היא מאטה ומעייפת. התוספת היא כלל אצבע לתכנון, שמתאים את אומדן המרחק למאמץ</a:t>
            </a:r>
            <a:endParaRPr sz="1600"/>
          </a:p>
        </p:txBody>
      </p:sp>
      <p:pic>
        <p:nvPicPr>
          <p:cNvPr descr="l3_dist_rule.png" id="208" name="Google Shape;20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1" y="2124637"/>
            <a:ext cx="5029200" cy="2863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6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452628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iw-IL"/>
              <a:t>תרגול - כמה ללכת?</a:t>
            </a:r>
            <a:endParaRPr/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שלב תרגול מעשי - 13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מרחק אופקי בסרגל המד״קו: 600 מ׳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בדרך: 4 קווי גובה בעלייה, ואחריהם 3 קווי גובה בירידה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1. מה מרחק ההליכה המתוכנן?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2. בקצב 4 קמ״ש - כמה זמן בערך?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452628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iw-IL"/>
              <a:t>תשובה לתרגול 13</a:t>
            </a:r>
            <a:endParaRPr/>
          </a:p>
        </p:txBody>
      </p:sp>
      <p:sp>
        <p:nvSpPr>
          <p:cNvPr id="224" name="Google Shape;224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עלייה: 4 קווים × 10 מ׳ = 40 מ׳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ירידה: 3 קווים - לא מוסיפים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מרחק הליכה מתוכנן: 600 + 40 = 640 מ׳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זמן: 640 מ׳ בקצב 4 קמ״ש ≈ 10 דקות (הקצב בפועל - לפי נוהלי היחידה)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טעות נפוצה: 670 מ׳ - הוספה גם על הקווים בירידה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8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452628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מרכיבי סיפור הדרך</a:t>
            </a:r>
            <a:endParaRPr/>
          </a:p>
        </p:txBody>
      </p:sp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אזימוט</a:t>
            </a:r>
            <a:r>
              <a:rPr b="0" lang="iw-IL" sz="2000"/>
              <a:t> - האזימוט הכללי ממקטע למקטע (הוצאת אזימוטים מהמפה)</a:t>
            </a:r>
            <a:endParaRPr sz="20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600"/>
              <a:t>למצפן: פחות 5° סטייה, ומחלקים ב-3 לקליקים (שיעור 02)</a:t>
            </a:r>
            <a:endParaRPr sz="16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מרחק</a:t>
            </a:r>
            <a:r>
              <a:rPr b="0" lang="iw-IL" sz="2000"/>
              <a:t> - מרחק ההליכה המתוכנן בין המקטעים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תוואי</a:t>
            </a:r>
            <a:r>
              <a:rPr b="0" lang="iw-IL" sz="2000"/>
              <a:t> - צורת השטח שלאורכה נלך (שלוחה, גיא, ציר)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נקודות אימות</a:t>
            </a:r>
            <a:r>
              <a:rPr b="0" lang="iw-IL" sz="2000"/>
              <a:t> - לוודא שאנו במקום הנכון</a:t>
            </a:r>
            <a:endParaRPr sz="20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600"/>
              <a:t>2 נקודות אימות לכל מקטע; 3 נקודות אימות לכל נ.צ.</a:t>
            </a:r>
            <a:endParaRPr sz="16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גבול ברור</a:t>
            </a:r>
            <a:r>
              <a:rPr b="0" lang="iw-IL" sz="2000"/>
              <a:t> - נקודה שאם הגענו אליה, עברנו את המקטע (התברברנו!)</a:t>
            </a:r>
            <a:endParaRPr sz="20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600"/>
              <a:t>לרוב יהיה כביש; במקרה כזה נפעל לפי נוהל ברבור</a:t>
            </a:r>
            <a:endParaRPr sz="16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סיפור דרך</a:t>
            </a:r>
            <a:r>
              <a:rPr b="0" lang="iw-IL" sz="2000"/>
              <a:t> - תיאור סיפורי של הדרך שבה עוברים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452628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בונים סיפור דרך - דוגמה</a:t>
            </a:r>
            <a:endParaRPr/>
          </a:p>
        </p:txBody>
      </p:sp>
      <p:sp>
        <p:nvSpPr>
          <p:cNvPr id="240" name="Google Shape;240;p29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המשימה: מקטע 1 - מהנ.ה אל הכיפה 273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מרחק אופקי: כ-600 מ׳, 7 קווי גובה בעלייה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מרחק הליכה = 600 + 70, כלומר כ-670 מ׳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אזימוט כללי: 020 (למצפן: 015, כלומר 5 קליקים)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תוואי: במעלה ציר השלוחה</a:t>
            </a:r>
            <a:endParaRPr sz="2000"/>
          </a:p>
        </p:txBody>
      </p:sp>
      <p:pic>
        <p:nvPicPr>
          <p:cNvPr descr="route_story.png" id="241" name="Google Shape;24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131785"/>
            <a:ext cx="3794760" cy="3645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0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452628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בפועל יראה כך...</a:t>
            </a:r>
            <a:endParaRPr/>
          </a:p>
        </p:txBody>
      </p:sp>
      <p:sp>
        <p:nvSpPr>
          <p:cNvPr id="249" name="Google Shape;249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אימות: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על גב השלוחה - הגיא נשאר מימין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ראש הכיפה 273 - הקרקע יורדת לכל הכיוונים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גבול ברור: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תחילת ירידה מעבר לפסגה - אם ירדנו, עברנו את המקטע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000"/>
              <a:t>סיפור הדרך: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מהנ.ה עולים על ציר השלוחה באזימוט 020, כ-670 מ׳, עד ראש הכיפה 273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1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452628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iw-IL"/>
              <a:t>תרגול - סיפור דרך למקטע 2</a:t>
            </a:r>
            <a:endParaRPr/>
          </a:p>
        </p:txBody>
      </p:sp>
      <p:sp>
        <p:nvSpPr>
          <p:cNvPr id="257" name="Google Shape;257;p31"/>
          <p:cNvSpPr txBox="1"/>
          <p:nvPr>
            <p:ph idx="1" type="body"/>
          </p:nvPr>
        </p:nvSpPr>
        <p:spPr>
          <a:xfrm>
            <a:off x="4114801" y="1816720"/>
            <a:ext cx="7239000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שלב תרגול מעשי - 14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עכשיו אתם: מהכיפה 273 אל האוכף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מדדו מרחק אופקי וחשבו מרחק הליכה (רמז: בירידה לא מוסיפים)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הוציאו אזימוט כללי, ותרגמו למגנטי ולקליקים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קבעו תוואי, שתי נקודות אימות וגבול ברור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כתבו את השורה המלאה בטבלת סיפור הדרך</a:t>
            </a:r>
            <a:endParaRPr sz="1800"/>
          </a:p>
        </p:txBody>
      </p:sp>
      <p:pic>
        <p:nvPicPr>
          <p:cNvPr descr="route_story_ex.png" id="258" name="Google Shape;25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131785"/>
            <a:ext cx="3794760" cy="3645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2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534924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iw-IL"/>
              <a:t>תשובה לתרגול 14</a:t>
            </a:r>
            <a:endParaRPr/>
          </a:p>
        </p:txBody>
      </p:sp>
      <p:sp>
        <p:nvSpPr>
          <p:cNvPr id="266" name="Google Shape;266;p32"/>
          <p:cNvSpPr txBox="1"/>
          <p:nvPr/>
        </p:nvSpPr>
        <p:spPr>
          <a:xfrm>
            <a:off x="640080" y="1500554"/>
            <a:ext cx="1091184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מקטע 2 - מהכיפה 273 אל האוכף. טעות נפוצה: להוסיף 10 מ׳ גם על קווים בירידה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7" name="Google Shape;267;p32"/>
          <p:cNvGraphicFramePr/>
          <p:nvPr/>
        </p:nvGraphicFramePr>
        <p:xfrm>
          <a:off x="56388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{99DE0D12-6C02-4672-813E-AD2D68DF2B6B}</a:tableStyleId>
              </a:tblPr>
              <a:tblGrid>
                <a:gridCol w="2743200"/>
                <a:gridCol w="1234450"/>
                <a:gridCol w="2834650"/>
                <a:gridCol w="1051550"/>
                <a:gridCol w="1051550"/>
                <a:gridCol w="914400"/>
                <a:gridCol w="12344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סיפור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גבול ברור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אימות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תוואי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אזימוט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מרחק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-IL" sz="2400" u="none" cap="none" strike="noStrike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מקטע</a:t>
                      </a:r>
                      <a:endParaRPr/>
                    </a:p>
                  </a:txBody>
                  <a:tcPr marT="27425" marB="27425" marR="54875" marL="54875" anchor="ctr">
                    <a:solidFill>
                      <a:srgbClr val="4E7A3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מהכיפה 273 יורדים מזרחה לאורך הרכס באזימוט 090, כ-280 מ׳, עד האוכף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התחלתם לעלות - עברתם את האוכף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ירידה לאורך כל המקטע</a:t>
                      </a:r>
                      <a:endParaRPr sz="1600" u="none" cap="none" strike="noStrike"/>
                    </a:p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באוכף - מצפון ומדרום יורד, ממזרח עולה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קו הרכס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090</a:t>
                      </a:r>
                      <a:endParaRPr sz="1600" u="none" cap="none" strike="noStrike"/>
                    </a:p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(מגנטי 085,</a:t>
                      </a:r>
                      <a:endParaRPr sz="1600" u="none" cap="none" strike="noStrike"/>
                    </a:p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28 קליקים)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280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w-IL" sz="1600" u="none" cap="none" strike="noStrike">
                          <a:solidFill>
                            <a:srgbClr val="2E3B2A"/>
                          </a:solidFill>
                        </a:rPr>
                        <a:t>מקטע 1 - מקטע 2</a:t>
                      </a:r>
                      <a:endParaRPr sz="1600" u="none" cap="none" strike="noStrike"/>
                    </a:p>
                  </a:txBody>
                  <a:tcPr marT="27425" marB="27425" marR="54875" marL="54875" anchor="ctr">
                    <a:solidFill>
                      <a:srgbClr val="EAF3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3"/>
          <p:cNvSpPr txBox="1"/>
          <p:nvPr>
            <p:ph type="ctrTitle"/>
          </p:nvPr>
        </p:nvSpPr>
        <p:spPr>
          <a:xfrm>
            <a:off x="1898137" y="2222261"/>
            <a:ext cx="8395723" cy="18136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lang="iw-IL"/>
              <a:t>שלב ג׳ - דגשים ובטיחות</a:t>
            </a:r>
            <a:endParaRPr/>
          </a:p>
        </p:txBody>
      </p:sp>
      <p:sp>
        <p:nvSpPr>
          <p:cNvPr id="274" name="Google Shape;274;p33"/>
          <p:cNvSpPr txBox="1"/>
          <p:nvPr>
            <p:ph idx="1" type="subTitle"/>
          </p:nvPr>
        </p:nvSpPr>
        <p:spPr>
          <a:xfrm>
            <a:off x="3331937" y="3645693"/>
            <a:ext cx="5652524" cy="1014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iw-IL"/>
              <a:t>קבלת דגשים ובניית שקף בטיחות</a:t>
            </a:r>
            <a:endParaRPr/>
          </a:p>
        </p:txBody>
      </p:sp>
      <p:pic>
        <p:nvPicPr>
          <p:cNvPr id="275" name="Google Shape;27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55761" y="342900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4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370332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דגשים ובטיחות</a:t>
            </a:r>
            <a:endParaRPr/>
          </a:p>
        </p:txBody>
      </p:sp>
      <p:sp>
        <p:nvSpPr>
          <p:cNvPr id="283" name="Google Shape;28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200"/>
              <a:t>קבלת דגשים לניווט על ידי המפקד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200"/>
              <a:t>בניית שקף בטיחות הכולל: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800"/>
              <a:t>שמות ומספר חברי החוליה</a:t>
            </a:r>
            <a:endParaRPr sz="18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800"/>
              <a:t>מספרי טלפון ותאריך</a:t>
            </a:r>
            <a:endParaRPr sz="18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800"/>
              <a:t>אורך הציר</a:t>
            </a:r>
            <a:endParaRPr sz="18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800"/>
              <a:t>מסלול ההליכה</a:t>
            </a:r>
            <a:endParaRPr sz="18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800"/>
              <a:t>נת״בים וגבול הגזרה (ג״ג)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370332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איך נראה שקף בטיחות?</a:t>
            </a:r>
            <a:endParaRPr/>
          </a:p>
        </p:txBody>
      </p:sp>
      <p:sp>
        <p:nvSpPr>
          <p:cNvPr id="291" name="Google Shape;291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שקף שעליו מופיע כל המידע הרלוונטי כדי לדעת שאנחנו בטוחים ולתפעל בעת הצורך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מעגנים את השקף על המפה ב-2 נקודות עיגון - הצטלבויות של קווי הרשת (אנכי ואופקי), ואז משרטטים:</a:t>
            </a:r>
            <a:endParaRPr sz="18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600"/>
              <a:t>כל הנת״בים (שטח אש, בורות, צוק...) וגבול הגזרה (ג״ג)</a:t>
            </a:r>
            <a:endParaRPr sz="16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600"/>
              <a:t>הנ.צ. החשובים - נ.ה, נ.ס, נ.ב, ונ.צ. שצריך לעבור בהם</a:t>
            </a:r>
            <a:endParaRPr sz="16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0" lang="iw-IL" sz="1600"/>
              <a:t>ולבסוף - שרטוט ציר הניווט על השקף</a:t>
            </a:r>
            <a:endParaRPr sz="16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800"/>
              <a:t>בנוסף נרשום: שמות ומספר חברי החוליה, טלפונים, תאריך ואורך הציר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איך נראה בפועל השקף?</a:t>
            </a:r>
            <a:endParaRPr/>
          </a:p>
        </p:txBody>
      </p:sp>
      <p:sp>
        <p:nvSpPr>
          <p:cNvPr id="298" name="Google Shape;298;p36"/>
          <p:cNvSpPr txBox="1"/>
          <p:nvPr>
            <p:ph idx="1" type="body"/>
          </p:nvPr>
        </p:nvSpPr>
        <p:spPr>
          <a:xfrm>
            <a:off x="5303520" y="1819656"/>
            <a:ext cx="6053328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כך נראה שקף הבטיחות של הציר שבנינו, כשהוא מונח על המפה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מעוגן ב-2 נקודות עיגון (X אדום)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2000"/>
              <a:t>הנת״בים וגבול הגזרה מסומנים, והציר משורטט בירוק</a:t>
            </a:r>
            <a:endParaRPr sz="2000"/>
          </a:p>
        </p:txBody>
      </p:sp>
      <p:pic>
        <p:nvPicPr>
          <p:cNvPr descr="l3_safety.png" id="299" name="Google Shape;29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12" y="1934703"/>
            <a:ext cx="4937760" cy="3734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6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11448288" y="3703320"/>
            <a:ext cx="713232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7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370332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לכל צבע יש משמעות</a:t>
            </a:r>
            <a:endParaRPr/>
          </a:p>
        </p:txBody>
      </p:sp>
      <p:sp>
        <p:nvSpPr>
          <p:cNvPr id="308" name="Google Shape;308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000000"/>
                </a:solidFill>
              </a:rPr>
              <a:t>שחור</a:t>
            </a:r>
            <a:r>
              <a:rPr b="0" lang="iw-IL" sz="2200"/>
              <a:t> - ג״ג (גבול הגזרה) ודקירת נ.צ. של נ.ה, נ.ב, נ.ס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C00000"/>
                </a:solidFill>
              </a:rPr>
              <a:t>אדום</a:t>
            </a:r>
            <a:r>
              <a:rPr b="0" lang="iw-IL" sz="2200"/>
              <a:t> - אזורים אסורים, נת״בים, ו-2 נקודות העיגון (עם הנ.צ. שלהן)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0070C0"/>
                </a:solidFill>
              </a:rPr>
              <a:t>כחול</a:t>
            </a:r>
            <a:r>
              <a:rPr b="0" lang="iw-IL" sz="2200"/>
              <a:t> - נ.צ. ומספר סידורי של כל נ.צ.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00B050"/>
                </a:solidFill>
              </a:rPr>
              <a:t>ירוק</a:t>
            </a:r>
            <a:r>
              <a:rPr b="0" lang="iw-IL" sz="2200"/>
              <a:t> - שרטוט נתיב מדויק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600"/>
              <a:t>לא לבלבל עם צבעי המפה משיעור 01 (שם שחור = מבנים, אדום = כבישים) - זה קוד נפרד לשקף הבטיחות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8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534924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לסיכום</a:t>
            </a:r>
            <a:endParaRPr/>
          </a:p>
        </p:txBody>
      </p:sp>
      <p:sp>
        <p:nvSpPr>
          <p:cNvPr id="316" name="Google Shape;316;p38"/>
          <p:cNvSpPr/>
          <p:nvPr/>
        </p:nvSpPr>
        <p:spPr>
          <a:xfrm>
            <a:off x="8188960" y="1828800"/>
            <a:ext cx="3545840" cy="1554480"/>
          </a:xfrm>
          <a:prstGeom prst="roundRect">
            <a:avLst>
              <a:gd fmla="val 16667" name="adj"/>
            </a:avLst>
          </a:prstGeom>
          <a:solidFill>
            <a:srgbClr val="EAF3E6"/>
          </a:solidFill>
          <a:ln cap="flat" cmpd="sng" w="15875">
            <a:solidFill>
              <a:srgbClr val="4E7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200" u="none" cap="none" strike="noStrike">
                <a:solidFill>
                  <a:srgbClr val="2E3B2A"/>
                </a:solidFill>
                <a:latin typeface="Assistant"/>
                <a:ea typeface="Assistant"/>
                <a:cs typeface="Assistant"/>
                <a:sym typeface="Assistant"/>
              </a:rPr>
              <a:t>מהם שלושת השלבים לבניית ציר?</a:t>
            </a:r>
            <a:endParaRPr/>
          </a:p>
        </p:txBody>
      </p:sp>
      <p:sp>
        <p:nvSpPr>
          <p:cNvPr id="317" name="Google Shape;317;p38"/>
          <p:cNvSpPr/>
          <p:nvPr/>
        </p:nvSpPr>
        <p:spPr>
          <a:xfrm>
            <a:off x="4323080" y="1828800"/>
            <a:ext cx="3545840" cy="1554480"/>
          </a:xfrm>
          <a:prstGeom prst="roundRect">
            <a:avLst>
              <a:gd fmla="val 16667" name="adj"/>
            </a:avLst>
          </a:prstGeom>
          <a:solidFill>
            <a:srgbClr val="EAF3E6"/>
          </a:solidFill>
          <a:ln cap="flat" cmpd="sng" w="15875">
            <a:solidFill>
              <a:srgbClr val="4E7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200" u="none" cap="none" strike="noStrike">
                <a:solidFill>
                  <a:srgbClr val="2E3B2A"/>
                </a:solidFill>
                <a:latin typeface="Assistant"/>
                <a:ea typeface="Assistant"/>
                <a:cs typeface="Assistant"/>
                <a:sym typeface="Assistant"/>
              </a:rPr>
              <a:t>  מה כולל סיפור דרך?</a:t>
            </a:r>
            <a:endParaRPr/>
          </a:p>
        </p:txBody>
      </p:sp>
      <p:sp>
        <p:nvSpPr>
          <p:cNvPr id="318" name="Google Shape;318;p38"/>
          <p:cNvSpPr/>
          <p:nvPr/>
        </p:nvSpPr>
        <p:spPr>
          <a:xfrm>
            <a:off x="457200" y="1828800"/>
            <a:ext cx="3545840" cy="1554480"/>
          </a:xfrm>
          <a:prstGeom prst="roundRect">
            <a:avLst>
              <a:gd fmla="val 16667" name="adj"/>
            </a:avLst>
          </a:prstGeom>
          <a:solidFill>
            <a:srgbClr val="EAF3E6"/>
          </a:solidFill>
          <a:ln cap="flat" cmpd="sng" w="15875">
            <a:solidFill>
              <a:srgbClr val="4E7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200" u="none" cap="none" strike="noStrike">
                <a:solidFill>
                  <a:srgbClr val="2E3B2A"/>
                </a:solidFill>
                <a:latin typeface="Assistant"/>
                <a:ea typeface="Assistant"/>
                <a:cs typeface="Assistant"/>
                <a:sym typeface="Assistant"/>
              </a:rPr>
              <a:t> כמה נקודות אימות יהיו בכל מקטע?</a:t>
            </a:r>
            <a:endParaRPr/>
          </a:p>
        </p:txBody>
      </p:sp>
      <p:sp>
        <p:nvSpPr>
          <p:cNvPr id="319" name="Google Shape;319;p38"/>
          <p:cNvSpPr/>
          <p:nvPr/>
        </p:nvSpPr>
        <p:spPr>
          <a:xfrm>
            <a:off x="8188960" y="3703320"/>
            <a:ext cx="3545840" cy="1554480"/>
          </a:xfrm>
          <a:prstGeom prst="roundRect">
            <a:avLst>
              <a:gd fmla="val 16667" name="adj"/>
            </a:avLst>
          </a:prstGeom>
          <a:solidFill>
            <a:srgbClr val="EAF3E6"/>
          </a:solidFill>
          <a:ln cap="flat" cmpd="sng" w="15875">
            <a:solidFill>
              <a:srgbClr val="4E7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200" u="none" cap="none" strike="noStrike">
                <a:solidFill>
                  <a:srgbClr val="2E3B2A"/>
                </a:solidFill>
                <a:latin typeface="Assistant"/>
                <a:ea typeface="Assistant"/>
                <a:cs typeface="Assistant"/>
                <a:sym typeface="Assistant"/>
              </a:rPr>
              <a:t>איך נחשב מרחק הליכה?</a:t>
            </a:r>
            <a:endParaRPr/>
          </a:p>
        </p:txBody>
      </p:sp>
      <p:sp>
        <p:nvSpPr>
          <p:cNvPr id="320" name="Google Shape;320;p38"/>
          <p:cNvSpPr/>
          <p:nvPr/>
        </p:nvSpPr>
        <p:spPr>
          <a:xfrm>
            <a:off x="4323080" y="3703320"/>
            <a:ext cx="3545840" cy="1554480"/>
          </a:xfrm>
          <a:prstGeom prst="roundRect">
            <a:avLst>
              <a:gd fmla="val 16667" name="adj"/>
            </a:avLst>
          </a:prstGeom>
          <a:solidFill>
            <a:srgbClr val="EAF3E6"/>
          </a:solidFill>
          <a:ln cap="flat" cmpd="sng" w="15875">
            <a:solidFill>
              <a:srgbClr val="4E7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200" u="none" cap="none" strike="noStrike">
                <a:solidFill>
                  <a:srgbClr val="2E3B2A"/>
                </a:solidFill>
                <a:latin typeface="Assistant"/>
                <a:ea typeface="Assistant"/>
                <a:cs typeface="Assistant"/>
                <a:sym typeface="Assistant"/>
              </a:rPr>
              <a:t> מדוע כיפה סמויה אינה מסומנת במפה?</a:t>
            </a:r>
            <a:endParaRPr/>
          </a:p>
        </p:txBody>
      </p:sp>
      <p:sp>
        <p:nvSpPr>
          <p:cNvPr id="321" name="Google Shape;321;p38"/>
          <p:cNvSpPr/>
          <p:nvPr/>
        </p:nvSpPr>
        <p:spPr>
          <a:xfrm>
            <a:off x="457200" y="3703320"/>
            <a:ext cx="3545840" cy="1554480"/>
          </a:xfrm>
          <a:prstGeom prst="roundRect">
            <a:avLst>
              <a:gd fmla="val 16667" name="adj"/>
            </a:avLst>
          </a:prstGeom>
          <a:solidFill>
            <a:srgbClr val="EAF3E6"/>
          </a:solidFill>
          <a:ln cap="flat" cmpd="sng" w="15875">
            <a:solidFill>
              <a:srgbClr val="4E7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200" u="none" cap="none" strike="noStrike">
                <a:solidFill>
                  <a:srgbClr val="2E3B2A"/>
                </a:solidFill>
                <a:latin typeface="Assistant"/>
                <a:ea typeface="Assistant"/>
                <a:cs typeface="Assistant"/>
                <a:sym typeface="Assistant"/>
              </a:rPr>
              <a:t> מה כולל שקף בטיחות?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9"/>
          <p:cNvSpPr txBox="1"/>
          <p:nvPr>
            <p:ph type="ctrTitle"/>
          </p:nvPr>
        </p:nvSpPr>
        <p:spPr>
          <a:xfrm>
            <a:off x="211817" y="2761791"/>
            <a:ext cx="7094995" cy="9263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11111"/>
              <a:buNone/>
            </a:pPr>
            <a:r>
              <a:rPr lang="iw-IL"/>
              <a:t>דרך צלחה!</a:t>
            </a:r>
            <a:endParaRPr/>
          </a:p>
        </p:txBody>
      </p:sp>
      <p:pic>
        <p:nvPicPr>
          <p:cNvPr id="328" name="Google Shape;32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56022" y="2444375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9"/>
          <p:cNvSpPr txBox="1"/>
          <p:nvPr>
            <p:ph idx="1" type="subTitle"/>
          </p:nvPr>
        </p:nvSpPr>
        <p:spPr>
          <a:xfrm>
            <a:off x="210312" y="3703320"/>
            <a:ext cx="709574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lang="iw-IL" sz="2000"/>
              <a:t>שאלות?</a:t>
            </a:r>
            <a:endParaRPr sz="2000"/>
          </a:p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lang="iw-IL" sz="1600"/>
              <a:t>השלב הבא: בונים ציר מלא בעצמכם - ויוצאים לשטח</a:t>
            </a:r>
            <a:endParaRPr sz="1600"/>
          </a:p>
          <a:p>
            <a:pPr indent="-406400" lvl="0" marL="457200" rtl="1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b="0" lang="iw-IL" sz="1600"/>
              <a:t>תודה רבה</a:t>
            </a:r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4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0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448288" y="3703320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iw-IL"/>
              <a:t>מקורות</a:t>
            </a:r>
            <a:endParaRPr/>
          </a:p>
        </p:txBody>
      </p:sp>
      <p:sp>
        <p:nvSpPr>
          <p:cNvPr id="337" name="Google Shape;337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600"/>
              <a:t>מפות התרגול (נ.ה–נ.ס, נת״בים, חלופות, מקטעים ושקף בטיחות) - מפה סכמטית שנוצרה לשיעור זה; משבצת = 1 ק״מ, רווח אנכי 10 מ׳</a:t>
            </a:r>
            <a:endParaRPr sz="16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600"/>
              <a:t>מפת הדוגמה (הכיפה 273, מקטעים 1–2) - נוצרה לשיעור זה</a:t>
            </a:r>
            <a:endParaRPr sz="16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600"/>
              <a:t>סטייה מגנטית (~5° מזרחה) וקליקים של 3° - כפי שנלמדו בשיעור 02 (magnetic-declination.com, לפי WMM2025)</a:t>
            </a:r>
            <a:endParaRPr sz="16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600"/>
              <a:t>תוספת 10 מ׳ לקו גובה בעלייה, דגשי מפקד ונוהל ברבור - לפי נוהלי היחידה</a:t>
            </a:r>
            <a:endParaRPr sz="16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0" lang="iw-IL" sz="1600"/>
              <a:t>יש לאמת ערכים מקומיים (סטייה מגנטית, קצב תנועה, נוהלי בטיחות) מול המפה ונוהלי היחידה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קקס יום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